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INSERTAR_LINK_CASOS_DE_USO" TargetMode="External"/><Relationship Id="rId2" Type="http://schemas.openxmlformats.org/officeDocument/2006/relationships/hyperlink" Target="INSERTAR_LINK_REQUISITOS" TargetMode="External"/><Relationship Id="rId3" Type="http://schemas.openxmlformats.org/officeDocument/2006/relationships/hyperlink" Target="INSERTAR_LINK_ARQUITECTURA" TargetMode="External"/><Relationship Id="rId4" Type="http://schemas.openxmlformats.org/officeDocument/2006/relationships/hyperlink" Target="INSERTAR_LINK_GANTT" TargetMode="External"/><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C0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A7A3C"/>
          </a:solidFill>
          <a:ln w="12700">
            <a:solidFill>
              <a:srgbClr val="1A7A3C"/>
            </a:solidFill>
            <a:prstDash val="solid"/>
          </a:ln>
        </p:spPr>
      </p:sp>
      <p:sp>
        <p:nvSpPr>
          <p:cNvPr id="3" name="Shape 1"/>
          <p:cNvSpPr/>
          <p:nvPr/>
        </p:nvSpPr>
        <p:spPr>
          <a:xfrm>
            <a:off x="5943600" y="-1371600"/>
            <a:ext cx="4572000" cy="4572000"/>
          </a:xfrm>
          <a:prstGeom prst="ellipse">
            <a:avLst/>
          </a:prstGeom>
          <a:solidFill>
            <a:srgbClr val="1C1F26"/>
          </a:solidFill>
          <a:ln w="12700">
            <a:solidFill>
              <a:srgbClr val="2D3240"/>
            </a:solidFill>
            <a:prstDash val="solid"/>
          </a:ln>
        </p:spPr>
      </p:sp>
      <p:sp>
        <p:nvSpPr>
          <p:cNvPr id="4" name="Shape 2"/>
          <p:cNvSpPr/>
          <p:nvPr/>
        </p:nvSpPr>
        <p:spPr>
          <a:xfrm>
            <a:off x="6858000" y="-457200"/>
            <a:ext cx="2743200" cy="2743200"/>
          </a:xfrm>
          <a:prstGeom prst="ellipse">
            <a:avLst/>
          </a:prstGeom>
          <a:solidFill>
            <a:srgbClr val="2D3240"/>
          </a:solidFill>
          <a:ln w="12700">
            <a:solidFill>
              <a:srgbClr val="3A4055"/>
            </a:solidFill>
            <a:prstDash val="solid"/>
          </a:ln>
        </p:spPr>
      </p:sp>
      <p:sp>
        <p:nvSpPr>
          <p:cNvPr id="5" name="Shape 3"/>
          <p:cNvSpPr/>
          <p:nvPr/>
        </p:nvSpPr>
        <p:spPr>
          <a:xfrm>
            <a:off x="914400" y="1005840"/>
            <a:ext cx="1280160" cy="1280160"/>
          </a:xfrm>
          <a:prstGeom prst="ellipse">
            <a:avLst/>
          </a:prstGeom>
          <a:solidFill>
            <a:srgbClr val="1A7A3C"/>
          </a:solidFill>
          <a:ln w="12700">
            <a:solidFill>
              <a:srgbClr val="1A7A3C"/>
            </a:solidFill>
            <a:prstDash val="solid"/>
          </a:ln>
        </p:spPr>
      </p:sp>
      <p:pic>
        <p:nvPicPr>
          <p:cNvPr id="6" name="Image 0" descr="preencoded.png">    </p:cNvPr>
          <p:cNvPicPr>
            <a:picLocks noChangeAspect="1"/>
          </p:cNvPicPr>
          <p:nvPr/>
        </p:nvPicPr>
        <p:blipFill>
          <a:blip r:embed="rId1"/>
          <a:stretch>
            <a:fillRect/>
          </a:stretch>
        </p:blipFill>
        <p:spPr>
          <a:xfrm>
            <a:off x="1097280" y="1188720"/>
            <a:ext cx="914400" cy="914400"/>
          </a:xfrm>
          <a:prstGeom prst="rect">
            <a:avLst/>
          </a:prstGeom>
        </p:spPr>
      </p:pic>
      <p:sp>
        <p:nvSpPr>
          <p:cNvPr id="7" name="Text 4"/>
          <p:cNvSpPr/>
          <p:nvPr/>
        </p:nvSpPr>
        <p:spPr>
          <a:xfrm>
            <a:off x="2377440" y="914400"/>
            <a:ext cx="6400800" cy="822960"/>
          </a:xfrm>
          <a:prstGeom prst="rect">
            <a:avLst/>
          </a:prstGeom>
          <a:noFill/>
          <a:ln/>
        </p:spPr>
        <p:txBody>
          <a:bodyPr wrap="square" lIns="0" tIns="0" rIns="0" bIns="0" rtlCol="0" anchor="ctr"/>
          <a:lstStyle/>
          <a:p>
            <a:pPr indent="0" marL="0">
              <a:buNone/>
            </a:pPr>
            <a:r>
              <a:rPr lang="en-US" sz="6400" b="1" spc="600" kern="0" dirty="0">
                <a:solidFill>
                  <a:srgbClr val="FFFFFF"/>
                </a:solidFill>
                <a:latin typeface="Arial Black" pitchFamily="34" charset="0"/>
                <a:ea typeface="Arial Black" pitchFamily="34" charset="-122"/>
                <a:cs typeface="Arial Black" pitchFamily="34" charset="-120"/>
              </a:rPr>
              <a:t>APERT</a:t>
            </a:r>
            <a:endParaRPr lang="en-US" sz="6400" dirty="0"/>
          </a:p>
        </p:txBody>
      </p:sp>
      <p:sp>
        <p:nvSpPr>
          <p:cNvPr id="8" name="Text 5"/>
          <p:cNvSpPr/>
          <p:nvPr/>
        </p:nvSpPr>
        <p:spPr>
          <a:xfrm>
            <a:off x="2377440" y="1691640"/>
            <a:ext cx="6400800" cy="822960"/>
          </a:xfrm>
          <a:prstGeom prst="rect">
            <a:avLst/>
          </a:prstGeom>
          <a:noFill/>
          <a:ln/>
        </p:spPr>
        <p:txBody>
          <a:bodyPr wrap="square" lIns="0" tIns="0" rIns="0" bIns="0" rtlCol="0" anchor="ctr"/>
          <a:lstStyle/>
          <a:p>
            <a:pPr indent="0" marL="0">
              <a:buNone/>
            </a:pPr>
            <a:r>
              <a:rPr lang="en-US" sz="6400" b="1" spc="600" kern="0" dirty="0">
                <a:solidFill>
                  <a:srgbClr val="00E676"/>
                </a:solidFill>
                <a:latin typeface="Arial Black" pitchFamily="34" charset="0"/>
                <a:ea typeface="Arial Black" pitchFamily="34" charset="-122"/>
                <a:cs typeface="Arial Black" pitchFamily="34" charset="-120"/>
              </a:rPr>
              <a:t>VISION</a:t>
            </a:r>
            <a:endParaRPr lang="en-US" sz="6400" dirty="0"/>
          </a:p>
        </p:txBody>
      </p:sp>
      <p:sp>
        <p:nvSpPr>
          <p:cNvPr id="9" name="Text 6"/>
          <p:cNvSpPr/>
          <p:nvPr/>
        </p:nvSpPr>
        <p:spPr>
          <a:xfrm>
            <a:off x="2377440" y="2651760"/>
            <a:ext cx="6400800" cy="457200"/>
          </a:xfrm>
          <a:prstGeom prst="rect">
            <a:avLst/>
          </a:prstGeom>
          <a:noFill/>
          <a:ln/>
        </p:spPr>
        <p:txBody>
          <a:bodyPr wrap="square" lIns="0" tIns="0" rIns="0" bIns="0" rtlCol="0" anchor="ctr"/>
          <a:lstStyle/>
          <a:p>
            <a:pPr indent="0" marL="0">
              <a:buNone/>
            </a:pPr>
            <a:r>
              <a:rPr lang="en-US" sz="1700" dirty="0">
                <a:solidFill>
                  <a:srgbClr val="8A9BB0"/>
                </a:solidFill>
                <a:latin typeface="Calibri" pitchFamily="34" charset="0"/>
                <a:ea typeface="Calibri" pitchFamily="34" charset="-122"/>
                <a:cs typeface="Calibri" pitchFamily="34" charset="-120"/>
              </a:rPr>
              <a:t>Análisis de rugby con Inteligencia Artificial</a:t>
            </a:r>
            <a:endParaRPr lang="en-US" sz="1700" dirty="0"/>
          </a:p>
        </p:txBody>
      </p:sp>
      <p:sp>
        <p:nvSpPr>
          <p:cNvPr id="10" name="Shape 7"/>
          <p:cNvSpPr/>
          <p:nvPr/>
        </p:nvSpPr>
        <p:spPr>
          <a:xfrm>
            <a:off x="2377440" y="3291840"/>
            <a:ext cx="1417320" cy="292608"/>
          </a:xfrm>
          <a:prstGeom prst="rect">
            <a:avLst>
              <a:gd name="adj" fmla="val 18750"/>
            </a:avLst>
          </a:prstGeom>
          <a:solidFill>
            <a:srgbClr val="2D3240"/>
          </a:solidFill>
          <a:ln w="6350">
            <a:solidFill>
              <a:srgbClr val="1A7A3C"/>
            </a:solidFill>
            <a:prstDash val="solid"/>
          </a:ln>
        </p:spPr>
      </p:sp>
      <p:sp>
        <p:nvSpPr>
          <p:cNvPr id="11" name="Text 8"/>
          <p:cNvSpPr/>
          <p:nvPr/>
        </p:nvSpPr>
        <p:spPr>
          <a:xfrm>
            <a:off x="2377440" y="3291840"/>
            <a:ext cx="1417320" cy="292608"/>
          </a:xfrm>
          <a:prstGeom prst="rect">
            <a:avLst/>
          </a:prstGeom>
          <a:noFill/>
          <a:ln/>
        </p:spPr>
        <p:txBody>
          <a:bodyPr wrap="square" lIns="0" tIns="0" rIns="0" bIns="0" rtlCol="0" anchor="ctr"/>
          <a:lstStyle/>
          <a:p>
            <a:pPr algn="ctr" indent="0" marL="0">
              <a:buNone/>
            </a:pPr>
            <a:r>
              <a:rPr lang="en-US" sz="1000" dirty="0">
                <a:solidFill>
                  <a:srgbClr val="00E676"/>
                </a:solidFill>
              </a:rPr>
              <a:t>Computer Vision</a:t>
            </a:r>
            <a:endParaRPr lang="en-US" sz="1000" dirty="0"/>
          </a:p>
        </p:txBody>
      </p:sp>
      <p:sp>
        <p:nvSpPr>
          <p:cNvPr id="12" name="Shape 9"/>
          <p:cNvSpPr/>
          <p:nvPr/>
        </p:nvSpPr>
        <p:spPr>
          <a:xfrm>
            <a:off x="3950208" y="3291840"/>
            <a:ext cx="1417320" cy="292608"/>
          </a:xfrm>
          <a:prstGeom prst="rect">
            <a:avLst>
              <a:gd name="adj" fmla="val 18750"/>
            </a:avLst>
          </a:prstGeom>
          <a:solidFill>
            <a:srgbClr val="2D3240"/>
          </a:solidFill>
          <a:ln w="6350">
            <a:solidFill>
              <a:srgbClr val="1A7A3C"/>
            </a:solidFill>
            <a:prstDash val="solid"/>
          </a:ln>
        </p:spPr>
      </p:sp>
      <p:sp>
        <p:nvSpPr>
          <p:cNvPr id="13" name="Text 10"/>
          <p:cNvSpPr/>
          <p:nvPr/>
        </p:nvSpPr>
        <p:spPr>
          <a:xfrm>
            <a:off x="3950208" y="3291840"/>
            <a:ext cx="1417320" cy="292608"/>
          </a:xfrm>
          <a:prstGeom prst="rect">
            <a:avLst/>
          </a:prstGeom>
          <a:noFill/>
          <a:ln/>
        </p:spPr>
        <p:txBody>
          <a:bodyPr wrap="square" lIns="0" tIns="0" rIns="0" bIns="0" rtlCol="0" anchor="ctr"/>
          <a:lstStyle/>
          <a:p>
            <a:pPr algn="ctr" indent="0" marL="0">
              <a:buNone/>
            </a:pPr>
            <a:r>
              <a:rPr lang="en-US" sz="1000" dirty="0">
                <a:solidFill>
                  <a:srgbClr val="00E676"/>
                </a:solidFill>
              </a:rPr>
              <a:t>YOLO</a:t>
            </a:r>
            <a:endParaRPr lang="en-US" sz="1000" dirty="0"/>
          </a:p>
        </p:txBody>
      </p:sp>
      <p:sp>
        <p:nvSpPr>
          <p:cNvPr id="14" name="Shape 11"/>
          <p:cNvSpPr/>
          <p:nvPr/>
        </p:nvSpPr>
        <p:spPr>
          <a:xfrm>
            <a:off x="5522976" y="3291840"/>
            <a:ext cx="1417320" cy="292608"/>
          </a:xfrm>
          <a:prstGeom prst="rect">
            <a:avLst>
              <a:gd name="adj" fmla="val 18750"/>
            </a:avLst>
          </a:prstGeom>
          <a:solidFill>
            <a:srgbClr val="2D3240"/>
          </a:solidFill>
          <a:ln w="6350">
            <a:solidFill>
              <a:srgbClr val="1A7A3C"/>
            </a:solidFill>
            <a:prstDash val="solid"/>
          </a:ln>
        </p:spPr>
      </p:sp>
      <p:sp>
        <p:nvSpPr>
          <p:cNvPr id="15" name="Text 12"/>
          <p:cNvSpPr/>
          <p:nvPr/>
        </p:nvSpPr>
        <p:spPr>
          <a:xfrm>
            <a:off x="5522976" y="3291840"/>
            <a:ext cx="1417320" cy="292608"/>
          </a:xfrm>
          <a:prstGeom prst="rect">
            <a:avLst/>
          </a:prstGeom>
          <a:noFill/>
          <a:ln/>
        </p:spPr>
        <p:txBody>
          <a:bodyPr wrap="square" lIns="0" tIns="0" rIns="0" bIns="0" rtlCol="0" anchor="ctr"/>
          <a:lstStyle/>
          <a:p>
            <a:pPr algn="ctr" indent="0" marL="0">
              <a:buNone/>
            </a:pPr>
            <a:r>
              <a:rPr lang="en-US" sz="1000" dirty="0">
                <a:solidFill>
                  <a:srgbClr val="00E676"/>
                </a:solidFill>
              </a:rPr>
              <a:t>OpenCV</a:t>
            </a:r>
            <a:endParaRPr lang="en-US" sz="1000" dirty="0"/>
          </a:p>
        </p:txBody>
      </p:sp>
      <p:sp>
        <p:nvSpPr>
          <p:cNvPr id="16" name="Shape 13"/>
          <p:cNvSpPr/>
          <p:nvPr/>
        </p:nvSpPr>
        <p:spPr>
          <a:xfrm>
            <a:off x="7095744" y="3291840"/>
            <a:ext cx="1417320" cy="292608"/>
          </a:xfrm>
          <a:prstGeom prst="rect">
            <a:avLst>
              <a:gd name="adj" fmla="val 18750"/>
            </a:avLst>
          </a:prstGeom>
          <a:solidFill>
            <a:srgbClr val="2D3240"/>
          </a:solidFill>
          <a:ln w="6350">
            <a:solidFill>
              <a:srgbClr val="1A7A3C"/>
            </a:solidFill>
            <a:prstDash val="solid"/>
          </a:ln>
        </p:spPr>
      </p:sp>
      <p:sp>
        <p:nvSpPr>
          <p:cNvPr id="17" name="Text 14"/>
          <p:cNvSpPr/>
          <p:nvPr/>
        </p:nvSpPr>
        <p:spPr>
          <a:xfrm>
            <a:off x="7095744" y="3291840"/>
            <a:ext cx="1417320" cy="292608"/>
          </a:xfrm>
          <a:prstGeom prst="rect">
            <a:avLst/>
          </a:prstGeom>
          <a:noFill/>
          <a:ln/>
        </p:spPr>
        <p:txBody>
          <a:bodyPr wrap="square" lIns="0" tIns="0" rIns="0" bIns="0" rtlCol="0" anchor="ctr"/>
          <a:lstStyle/>
          <a:p>
            <a:pPr algn="ctr" indent="0" marL="0">
              <a:buNone/>
            </a:pPr>
            <a:r>
              <a:rPr lang="en-US" sz="1000" dirty="0">
                <a:solidFill>
                  <a:srgbClr val="00E676"/>
                </a:solidFill>
              </a:rPr>
              <a:t>Python</a:t>
            </a:r>
            <a:endParaRPr lang="en-US" sz="1000" dirty="0"/>
          </a:p>
        </p:txBody>
      </p:sp>
      <p:sp>
        <p:nvSpPr>
          <p:cNvPr id="18" name="Text 15"/>
          <p:cNvSpPr/>
          <p:nvPr/>
        </p:nvSpPr>
        <p:spPr>
          <a:xfrm>
            <a:off x="365760" y="4663440"/>
            <a:ext cx="8412480" cy="274320"/>
          </a:xfrm>
          <a:prstGeom prst="rect">
            <a:avLst/>
          </a:prstGeom>
          <a:noFill/>
          <a:ln/>
        </p:spPr>
        <p:txBody>
          <a:bodyPr wrap="square" lIns="0" tIns="0" rIns="0" bIns="0" rtlCol="0" anchor="ctr"/>
          <a:lstStyle/>
          <a:p>
            <a:pPr indent="0" marL="0">
              <a:buNone/>
            </a:pPr>
            <a:r>
              <a:rPr lang="en-US" sz="1000" dirty="0">
                <a:solidFill>
                  <a:srgbClr val="8A9BB0"/>
                </a:solidFill>
                <a:latin typeface="Calibri" pitchFamily="34" charset="0"/>
                <a:ea typeface="Calibri" pitchFamily="34" charset="-122"/>
                <a:cs typeface="Calibri" pitchFamily="34" charset="-120"/>
              </a:rPr>
              <a:t>Gonzalo Saguati  ·  Analista de Sistemas  ·  Escuela Da Vinci  ·  2025</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365760" y="228600"/>
            <a:ext cx="1280160" cy="256032"/>
          </a:xfrm>
          <a:prstGeom prst="rect">
            <a:avLst>
              <a:gd name="adj" fmla="val 14286"/>
            </a:avLst>
          </a:prstGeom>
          <a:solidFill>
            <a:srgbClr val="1A7A3C"/>
          </a:solidFill>
          <a:ln w="12700">
            <a:solidFill>
              <a:srgbClr val="1A7A3C"/>
            </a:solidFill>
            <a:prstDash val="solid"/>
          </a:ln>
        </p:spPr>
      </p:sp>
      <p:sp>
        <p:nvSpPr>
          <p:cNvPr id="3" name="Text 1"/>
          <p:cNvSpPr/>
          <p:nvPr/>
        </p:nvSpPr>
        <p:spPr>
          <a:xfrm>
            <a:off x="365760" y="228600"/>
            <a:ext cx="1280160" cy="256032"/>
          </a:xfrm>
          <a:prstGeom prst="rect">
            <a:avLst/>
          </a:prstGeom>
          <a:noFill/>
          <a:ln/>
        </p:spPr>
        <p:txBody>
          <a:bodyPr wrap="square" lIns="0" tIns="0" rIns="0" bIns="0" rtlCol="0" anchor="ctr"/>
          <a:lstStyle/>
          <a:p>
            <a:pPr algn="ctr" indent="0" marL="0">
              <a:buNone/>
            </a:pPr>
            <a:r>
              <a:rPr lang="en-US" sz="900" b="1" dirty="0">
                <a:solidFill>
                  <a:srgbClr val="FFFFFF"/>
                </a:solidFill>
              </a:rPr>
              <a:t>PROBLEMA</a:t>
            </a:r>
            <a:endParaRPr lang="en-US" sz="900" dirty="0"/>
          </a:p>
        </p:txBody>
      </p:sp>
      <p:sp>
        <p:nvSpPr>
          <p:cNvPr id="4" name="Text 2"/>
          <p:cNvSpPr/>
          <p:nvPr/>
        </p:nvSpPr>
        <p:spPr>
          <a:xfrm>
            <a:off x="365760" y="548640"/>
            <a:ext cx="8412480" cy="640080"/>
          </a:xfrm>
          <a:prstGeom prst="rect">
            <a:avLst/>
          </a:prstGeom>
          <a:noFill/>
          <a:ln/>
        </p:spPr>
        <p:txBody>
          <a:bodyPr wrap="square" lIns="0" tIns="0" rIns="0" bIns="0" rtlCol="0" anchor="ctr"/>
          <a:lstStyle/>
          <a:p>
            <a:pPr indent="0" marL="0">
              <a:buNone/>
            </a:pPr>
            <a:r>
              <a:rPr lang="en-US" sz="3600" b="1" dirty="0">
                <a:solidFill>
                  <a:srgbClr val="FFFFFF"/>
                </a:solidFill>
                <a:latin typeface="Arial Black" pitchFamily="34" charset="0"/>
                <a:ea typeface="Arial Black" pitchFamily="34" charset="-122"/>
                <a:cs typeface="Arial Black" pitchFamily="34" charset="-120"/>
              </a:rPr>
              <a:t>¿Cuál es el problema?</a:t>
            </a:r>
            <a:endParaRPr lang="en-US" sz="3600" dirty="0"/>
          </a:p>
        </p:txBody>
      </p:sp>
      <p:sp>
        <p:nvSpPr>
          <p:cNvPr id="5" name="Shape 3"/>
          <p:cNvSpPr/>
          <p:nvPr/>
        </p:nvSpPr>
        <p:spPr>
          <a:xfrm>
            <a:off x="365760" y="1417320"/>
            <a:ext cx="4114800" cy="1417320"/>
          </a:xfrm>
          <a:prstGeom prst="rect">
            <a:avLst/>
          </a:prstGeom>
          <a:solidFill>
            <a:srgbClr val="2D3240"/>
          </a:solidFill>
          <a:ln w="6350">
            <a:solidFill>
              <a:srgbClr val="3A4055"/>
            </a:solidFill>
            <a:prstDash val="solid"/>
          </a:ln>
          <a:effectLst>
            <a:outerShdw sx="100000" sy="100000" kx="0" ky="0" algn="bl" rotWithShape="0" blurRad="101600" dist="38100" dir="8100000">
              <a:srgbClr val="000000">
                <a:alpha val="18000"/>
              </a:srgbClr>
            </a:outerShdw>
          </a:effectLst>
        </p:spPr>
      </p:sp>
      <p:sp>
        <p:nvSpPr>
          <p:cNvPr id="6" name="Shape 4"/>
          <p:cNvSpPr/>
          <p:nvPr/>
        </p:nvSpPr>
        <p:spPr>
          <a:xfrm>
            <a:off x="548640" y="1801368"/>
            <a:ext cx="548640" cy="548640"/>
          </a:xfrm>
          <a:prstGeom prst="ellipse">
            <a:avLst/>
          </a:prstGeom>
          <a:solidFill>
            <a:srgbClr val="1A7A3C"/>
          </a:solidFill>
          <a:ln w="12700">
            <a:solidFill>
              <a:srgbClr val="1A7A3C"/>
            </a:solidFill>
            <a:prstDash val="solid"/>
          </a:ln>
        </p:spPr>
      </p:sp>
      <p:pic>
        <p:nvPicPr>
          <p:cNvPr id="7" name="Image 0" descr="preencoded.png">    </p:cNvPr>
          <p:cNvPicPr>
            <a:picLocks noChangeAspect="1"/>
          </p:cNvPicPr>
          <p:nvPr/>
        </p:nvPicPr>
        <p:blipFill>
          <a:blip r:embed="rId1"/>
          <a:stretch>
            <a:fillRect/>
          </a:stretch>
        </p:blipFill>
        <p:spPr>
          <a:xfrm>
            <a:off x="594360" y="1847088"/>
            <a:ext cx="457200" cy="457200"/>
          </a:xfrm>
          <a:prstGeom prst="rect">
            <a:avLst/>
          </a:prstGeom>
        </p:spPr>
      </p:pic>
      <p:sp>
        <p:nvSpPr>
          <p:cNvPr id="8" name="Text 5"/>
          <p:cNvSpPr/>
          <p:nvPr/>
        </p:nvSpPr>
        <p:spPr>
          <a:xfrm>
            <a:off x="1170432" y="1600200"/>
            <a:ext cx="3108960" cy="320040"/>
          </a:xfrm>
          <a:prstGeom prst="rect">
            <a:avLst/>
          </a:prstGeom>
          <a:noFill/>
          <a:ln/>
        </p:spPr>
        <p:txBody>
          <a:bodyPr wrap="square" lIns="0" tIns="0" rIns="0" bIns="0" rtlCol="0" anchor="ctr"/>
          <a:lstStyle/>
          <a:p>
            <a:pPr indent="0" marL="0">
              <a:buNone/>
            </a:pPr>
            <a:r>
              <a:rPr lang="en-US" sz="1300" b="1" dirty="0">
                <a:solidFill>
                  <a:srgbClr val="FFFFFF"/>
                </a:solidFill>
              </a:rPr>
              <a:t>Análisis manual</a:t>
            </a:r>
            <a:endParaRPr lang="en-US" sz="1300" dirty="0"/>
          </a:p>
        </p:txBody>
      </p:sp>
      <p:sp>
        <p:nvSpPr>
          <p:cNvPr id="9" name="Text 6"/>
          <p:cNvSpPr/>
          <p:nvPr/>
        </p:nvSpPr>
        <p:spPr>
          <a:xfrm>
            <a:off x="1170432" y="1947672"/>
            <a:ext cx="3108960" cy="685800"/>
          </a:xfrm>
          <a:prstGeom prst="rect">
            <a:avLst/>
          </a:prstGeom>
          <a:noFill/>
          <a:ln/>
        </p:spPr>
        <p:txBody>
          <a:bodyPr wrap="square" lIns="0" tIns="0" rIns="0" bIns="0" rtlCol="0" anchor="ctr"/>
          <a:lstStyle/>
          <a:p>
            <a:pPr indent="0" marL="0">
              <a:buNone/>
            </a:pPr>
            <a:r>
              <a:rPr lang="en-US" sz="1050" dirty="0">
                <a:solidFill>
                  <a:srgbClr val="8A9BB0"/>
                </a:solidFill>
              </a:rPr>
              <a:t>Los entrenadores amateurs revisan videos de principio a fin. Un partido puede llevar horas de análisis.</a:t>
            </a:r>
            <a:endParaRPr lang="en-US" sz="1050" dirty="0"/>
          </a:p>
        </p:txBody>
      </p:sp>
      <p:sp>
        <p:nvSpPr>
          <p:cNvPr id="10" name="Shape 7"/>
          <p:cNvSpPr/>
          <p:nvPr/>
        </p:nvSpPr>
        <p:spPr>
          <a:xfrm>
            <a:off x="4754880" y="1417320"/>
            <a:ext cx="4114800" cy="1417320"/>
          </a:xfrm>
          <a:prstGeom prst="rect">
            <a:avLst/>
          </a:prstGeom>
          <a:solidFill>
            <a:srgbClr val="2D3240"/>
          </a:solidFill>
          <a:ln w="6350">
            <a:solidFill>
              <a:srgbClr val="3A4055"/>
            </a:solidFill>
            <a:prstDash val="solid"/>
          </a:ln>
          <a:effectLst>
            <a:outerShdw sx="100000" sy="100000" kx="0" ky="0" algn="bl" rotWithShape="0" blurRad="101600" dist="38100" dir="8100000">
              <a:srgbClr val="000000">
                <a:alpha val="18000"/>
              </a:srgbClr>
            </a:outerShdw>
          </a:effectLst>
        </p:spPr>
      </p:sp>
      <p:sp>
        <p:nvSpPr>
          <p:cNvPr id="11" name="Shape 8"/>
          <p:cNvSpPr/>
          <p:nvPr/>
        </p:nvSpPr>
        <p:spPr>
          <a:xfrm>
            <a:off x="4937760" y="1801368"/>
            <a:ext cx="548640" cy="548640"/>
          </a:xfrm>
          <a:prstGeom prst="ellipse">
            <a:avLst/>
          </a:prstGeom>
          <a:solidFill>
            <a:srgbClr val="1A7A3C"/>
          </a:solidFill>
          <a:ln w="12700">
            <a:solidFill>
              <a:srgbClr val="1A7A3C"/>
            </a:solidFill>
            <a:prstDash val="solid"/>
          </a:ln>
        </p:spPr>
      </p:sp>
      <p:pic>
        <p:nvPicPr>
          <p:cNvPr id="12" name="Image 1" descr="preencoded.png">    </p:cNvPr>
          <p:cNvPicPr>
            <a:picLocks noChangeAspect="1"/>
          </p:cNvPicPr>
          <p:nvPr/>
        </p:nvPicPr>
        <p:blipFill>
          <a:blip r:embed="rId2"/>
          <a:stretch>
            <a:fillRect/>
          </a:stretch>
        </p:blipFill>
        <p:spPr>
          <a:xfrm>
            <a:off x="4983480" y="1847088"/>
            <a:ext cx="457200" cy="457200"/>
          </a:xfrm>
          <a:prstGeom prst="rect">
            <a:avLst/>
          </a:prstGeom>
        </p:spPr>
      </p:pic>
      <p:sp>
        <p:nvSpPr>
          <p:cNvPr id="13" name="Text 9"/>
          <p:cNvSpPr/>
          <p:nvPr/>
        </p:nvSpPr>
        <p:spPr>
          <a:xfrm>
            <a:off x="5559552" y="1600200"/>
            <a:ext cx="3108960" cy="320040"/>
          </a:xfrm>
          <a:prstGeom prst="rect">
            <a:avLst/>
          </a:prstGeom>
          <a:noFill/>
          <a:ln/>
        </p:spPr>
        <p:txBody>
          <a:bodyPr wrap="square" lIns="0" tIns="0" rIns="0" bIns="0" rtlCol="0" anchor="ctr"/>
          <a:lstStyle/>
          <a:p>
            <a:pPr indent="0" marL="0">
              <a:buNone/>
            </a:pPr>
            <a:r>
              <a:rPr lang="en-US" sz="1300" b="1" dirty="0">
                <a:solidFill>
                  <a:srgbClr val="FFFFFF"/>
                </a:solidFill>
              </a:rPr>
              <a:t>Sin estadísticas precisas</a:t>
            </a:r>
            <a:endParaRPr lang="en-US" sz="1300" dirty="0"/>
          </a:p>
        </p:txBody>
      </p:sp>
      <p:sp>
        <p:nvSpPr>
          <p:cNvPr id="14" name="Text 10"/>
          <p:cNvSpPr/>
          <p:nvPr/>
        </p:nvSpPr>
        <p:spPr>
          <a:xfrm>
            <a:off x="5559552" y="1947672"/>
            <a:ext cx="3108960" cy="685800"/>
          </a:xfrm>
          <a:prstGeom prst="rect">
            <a:avLst/>
          </a:prstGeom>
          <a:noFill/>
          <a:ln/>
        </p:spPr>
        <p:txBody>
          <a:bodyPr wrap="square" lIns="0" tIns="0" rIns="0" bIns="0" rtlCol="0" anchor="ctr"/>
          <a:lstStyle/>
          <a:p>
            <a:pPr indent="0" marL="0">
              <a:buNone/>
            </a:pPr>
            <a:r>
              <a:rPr lang="en-US" sz="1050" dirty="0">
                <a:solidFill>
                  <a:srgbClr val="8A9BB0"/>
                </a:solidFill>
              </a:rPr>
              <a:t>Las decisiones tácticas se toman por memoria y observación subjetiva, sin datos confiables.</a:t>
            </a:r>
            <a:endParaRPr lang="en-US" sz="1050" dirty="0"/>
          </a:p>
        </p:txBody>
      </p:sp>
      <p:sp>
        <p:nvSpPr>
          <p:cNvPr id="15" name="Shape 11"/>
          <p:cNvSpPr/>
          <p:nvPr/>
        </p:nvSpPr>
        <p:spPr>
          <a:xfrm>
            <a:off x="365760" y="3017520"/>
            <a:ext cx="4114800" cy="1417320"/>
          </a:xfrm>
          <a:prstGeom prst="rect">
            <a:avLst/>
          </a:prstGeom>
          <a:solidFill>
            <a:srgbClr val="2D3240"/>
          </a:solidFill>
          <a:ln w="6350">
            <a:solidFill>
              <a:srgbClr val="3A4055"/>
            </a:solidFill>
            <a:prstDash val="solid"/>
          </a:ln>
          <a:effectLst>
            <a:outerShdw sx="100000" sy="100000" kx="0" ky="0" algn="bl" rotWithShape="0" blurRad="101600" dist="38100" dir="8100000">
              <a:srgbClr val="000000">
                <a:alpha val="18000"/>
              </a:srgbClr>
            </a:outerShdw>
          </a:effectLst>
        </p:spPr>
      </p:sp>
      <p:sp>
        <p:nvSpPr>
          <p:cNvPr id="16" name="Shape 12"/>
          <p:cNvSpPr/>
          <p:nvPr/>
        </p:nvSpPr>
        <p:spPr>
          <a:xfrm>
            <a:off x="548640" y="3401568"/>
            <a:ext cx="548640" cy="548640"/>
          </a:xfrm>
          <a:prstGeom prst="ellipse">
            <a:avLst/>
          </a:prstGeom>
          <a:solidFill>
            <a:srgbClr val="1A7A3C"/>
          </a:solidFill>
          <a:ln w="12700">
            <a:solidFill>
              <a:srgbClr val="1A7A3C"/>
            </a:solidFill>
            <a:prstDash val="solid"/>
          </a:ln>
        </p:spPr>
      </p:sp>
      <p:pic>
        <p:nvPicPr>
          <p:cNvPr id="17" name="Image 2" descr="preencoded.png">    </p:cNvPr>
          <p:cNvPicPr>
            <a:picLocks noChangeAspect="1"/>
          </p:cNvPicPr>
          <p:nvPr/>
        </p:nvPicPr>
        <p:blipFill>
          <a:blip r:embed="rId3"/>
          <a:stretch>
            <a:fillRect/>
          </a:stretch>
        </p:blipFill>
        <p:spPr>
          <a:xfrm>
            <a:off x="594360" y="3447288"/>
            <a:ext cx="457200" cy="457200"/>
          </a:xfrm>
          <a:prstGeom prst="rect">
            <a:avLst/>
          </a:prstGeom>
        </p:spPr>
      </p:pic>
      <p:sp>
        <p:nvSpPr>
          <p:cNvPr id="18" name="Text 13"/>
          <p:cNvSpPr/>
          <p:nvPr/>
        </p:nvSpPr>
        <p:spPr>
          <a:xfrm>
            <a:off x="1170432" y="3200400"/>
            <a:ext cx="3108960" cy="320040"/>
          </a:xfrm>
          <a:prstGeom prst="rect">
            <a:avLst/>
          </a:prstGeom>
          <a:noFill/>
          <a:ln/>
        </p:spPr>
        <p:txBody>
          <a:bodyPr wrap="square" lIns="0" tIns="0" rIns="0" bIns="0" rtlCol="0" anchor="ctr"/>
          <a:lstStyle/>
          <a:p>
            <a:pPr indent="0" marL="0">
              <a:buNone/>
            </a:pPr>
            <a:r>
              <a:rPr lang="en-US" sz="1300" b="1" dirty="0">
                <a:solidFill>
                  <a:srgbClr val="FFFFFF"/>
                </a:solidFill>
              </a:rPr>
              <a:t>Jugadores sin feedback</a:t>
            </a:r>
            <a:endParaRPr lang="en-US" sz="1300" dirty="0"/>
          </a:p>
        </p:txBody>
      </p:sp>
      <p:sp>
        <p:nvSpPr>
          <p:cNvPr id="19" name="Text 14"/>
          <p:cNvSpPr/>
          <p:nvPr/>
        </p:nvSpPr>
        <p:spPr>
          <a:xfrm>
            <a:off x="1170432" y="3547872"/>
            <a:ext cx="3108960" cy="685800"/>
          </a:xfrm>
          <a:prstGeom prst="rect">
            <a:avLst/>
          </a:prstGeom>
          <a:noFill/>
          <a:ln/>
        </p:spPr>
        <p:txBody>
          <a:bodyPr wrap="square" lIns="0" tIns="0" rIns="0" bIns="0" rtlCol="0" anchor="ctr"/>
          <a:lstStyle/>
          <a:p>
            <a:pPr indent="0" marL="0">
              <a:buNone/>
            </a:pPr>
            <a:r>
              <a:rPr lang="en-US" sz="1050" dirty="0">
                <a:solidFill>
                  <a:srgbClr val="8A9BB0"/>
                </a:solidFill>
              </a:rPr>
              <a:t>Los jugadores no reciben estadísticas individuales ni pueden ver sus jugadas destacadas.</a:t>
            </a:r>
            <a:endParaRPr lang="en-US" sz="1050" dirty="0"/>
          </a:p>
        </p:txBody>
      </p:sp>
      <p:sp>
        <p:nvSpPr>
          <p:cNvPr id="20" name="Shape 15"/>
          <p:cNvSpPr/>
          <p:nvPr/>
        </p:nvSpPr>
        <p:spPr>
          <a:xfrm>
            <a:off x="4754880" y="3017520"/>
            <a:ext cx="4114800" cy="1417320"/>
          </a:xfrm>
          <a:prstGeom prst="rect">
            <a:avLst/>
          </a:prstGeom>
          <a:solidFill>
            <a:srgbClr val="2D3240"/>
          </a:solidFill>
          <a:ln w="6350">
            <a:solidFill>
              <a:srgbClr val="3A4055"/>
            </a:solidFill>
            <a:prstDash val="solid"/>
          </a:ln>
          <a:effectLst>
            <a:outerShdw sx="100000" sy="100000" kx="0" ky="0" algn="bl" rotWithShape="0" blurRad="101600" dist="38100" dir="8100000">
              <a:srgbClr val="000000">
                <a:alpha val="18000"/>
              </a:srgbClr>
            </a:outerShdw>
          </a:effectLst>
        </p:spPr>
      </p:sp>
      <p:sp>
        <p:nvSpPr>
          <p:cNvPr id="21" name="Shape 16"/>
          <p:cNvSpPr/>
          <p:nvPr/>
        </p:nvSpPr>
        <p:spPr>
          <a:xfrm>
            <a:off x="4937760" y="3401568"/>
            <a:ext cx="548640" cy="548640"/>
          </a:xfrm>
          <a:prstGeom prst="ellipse">
            <a:avLst/>
          </a:prstGeom>
          <a:solidFill>
            <a:srgbClr val="1A7A3C"/>
          </a:solidFill>
          <a:ln w="12700">
            <a:solidFill>
              <a:srgbClr val="1A7A3C"/>
            </a:solidFill>
            <a:prstDash val="solid"/>
          </a:ln>
        </p:spPr>
      </p:sp>
      <p:pic>
        <p:nvPicPr>
          <p:cNvPr id="22" name="Image 3" descr="preencoded.png">    </p:cNvPr>
          <p:cNvPicPr>
            <a:picLocks noChangeAspect="1"/>
          </p:cNvPicPr>
          <p:nvPr/>
        </p:nvPicPr>
        <p:blipFill>
          <a:blip r:embed="rId4"/>
          <a:stretch>
            <a:fillRect/>
          </a:stretch>
        </p:blipFill>
        <p:spPr>
          <a:xfrm>
            <a:off x="4983480" y="3447288"/>
            <a:ext cx="457200" cy="457200"/>
          </a:xfrm>
          <a:prstGeom prst="rect">
            <a:avLst/>
          </a:prstGeom>
        </p:spPr>
      </p:pic>
      <p:sp>
        <p:nvSpPr>
          <p:cNvPr id="23" name="Text 17"/>
          <p:cNvSpPr/>
          <p:nvPr/>
        </p:nvSpPr>
        <p:spPr>
          <a:xfrm>
            <a:off x="5559552" y="3200400"/>
            <a:ext cx="3108960" cy="320040"/>
          </a:xfrm>
          <a:prstGeom prst="rect">
            <a:avLst/>
          </a:prstGeom>
          <a:noFill/>
          <a:ln/>
        </p:spPr>
        <p:txBody>
          <a:bodyPr wrap="square" lIns="0" tIns="0" rIns="0" bIns="0" rtlCol="0" anchor="ctr"/>
          <a:lstStyle/>
          <a:p>
            <a:pPr indent="0" marL="0">
              <a:buNone/>
            </a:pPr>
            <a:r>
              <a:rPr lang="en-US" sz="1300" b="1" dirty="0">
                <a:solidFill>
                  <a:srgbClr val="FFFFFF"/>
                </a:solidFill>
              </a:rPr>
              <a:t>Tecnología solo para élite</a:t>
            </a:r>
            <a:endParaRPr lang="en-US" sz="1300" dirty="0"/>
          </a:p>
        </p:txBody>
      </p:sp>
      <p:sp>
        <p:nvSpPr>
          <p:cNvPr id="24" name="Text 18"/>
          <p:cNvSpPr/>
          <p:nvPr/>
        </p:nvSpPr>
        <p:spPr>
          <a:xfrm>
            <a:off x="5559552" y="3547872"/>
            <a:ext cx="3108960" cy="685800"/>
          </a:xfrm>
          <a:prstGeom prst="rect">
            <a:avLst/>
          </a:prstGeom>
          <a:noFill/>
          <a:ln/>
        </p:spPr>
        <p:txBody>
          <a:bodyPr wrap="square" lIns="0" tIns="0" rIns="0" bIns="0" rtlCol="0" anchor="ctr"/>
          <a:lstStyle/>
          <a:p>
            <a:pPr indent="0" marL="0">
              <a:buNone/>
            </a:pPr>
            <a:r>
              <a:rPr lang="en-US" sz="1050" dirty="0">
                <a:solidFill>
                  <a:srgbClr val="8A9BB0"/>
                </a:solidFill>
              </a:rPr>
              <a:t>Las herramientas profesionales de análisis cuestan miles de dólares, inaccesibles para clubes amateurs.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C0F"/>
        </a:solidFill>
      </p:bgPr>
    </p:bg>
    <p:spTree>
      <p:nvGrpSpPr>
        <p:cNvPr id="1" name=""/>
        <p:cNvGrpSpPr/>
        <p:nvPr/>
      </p:nvGrpSpPr>
      <p:grpSpPr>
        <a:xfrm>
          <a:off x="0" y="0"/>
          <a:ext cx="0" cy="0"/>
          <a:chOff x="0" y="0"/>
          <a:chExt cx="0" cy="0"/>
        </a:xfrm>
      </p:grpSpPr>
      <p:sp>
        <p:nvSpPr>
          <p:cNvPr id="2" name="Shape 0"/>
          <p:cNvSpPr/>
          <p:nvPr/>
        </p:nvSpPr>
        <p:spPr>
          <a:xfrm>
            <a:off x="365760" y="228600"/>
            <a:ext cx="1280160" cy="256032"/>
          </a:xfrm>
          <a:prstGeom prst="rect">
            <a:avLst>
              <a:gd name="adj" fmla="val 14286"/>
            </a:avLst>
          </a:prstGeom>
          <a:solidFill>
            <a:srgbClr val="1A7A3C"/>
          </a:solidFill>
          <a:ln w="12700">
            <a:solidFill>
              <a:srgbClr val="1A7A3C"/>
            </a:solidFill>
            <a:prstDash val="solid"/>
          </a:ln>
        </p:spPr>
      </p:sp>
      <p:sp>
        <p:nvSpPr>
          <p:cNvPr id="3" name="Text 1"/>
          <p:cNvSpPr/>
          <p:nvPr/>
        </p:nvSpPr>
        <p:spPr>
          <a:xfrm>
            <a:off x="365760" y="228600"/>
            <a:ext cx="1280160" cy="256032"/>
          </a:xfrm>
          <a:prstGeom prst="rect">
            <a:avLst/>
          </a:prstGeom>
          <a:noFill/>
          <a:ln/>
        </p:spPr>
        <p:txBody>
          <a:bodyPr wrap="square" lIns="0" tIns="0" rIns="0" bIns="0" rtlCol="0" anchor="ctr"/>
          <a:lstStyle/>
          <a:p>
            <a:pPr algn="ctr" indent="0" marL="0">
              <a:buNone/>
            </a:pPr>
            <a:r>
              <a:rPr lang="en-US" sz="900" b="1" dirty="0">
                <a:solidFill>
                  <a:srgbClr val="FFFFFF"/>
                </a:solidFill>
              </a:rPr>
              <a:t>SOLUCIÓN</a:t>
            </a:r>
            <a:endParaRPr lang="en-US" sz="900" dirty="0"/>
          </a:p>
        </p:txBody>
      </p:sp>
      <p:sp>
        <p:nvSpPr>
          <p:cNvPr id="4" name="Text 2"/>
          <p:cNvSpPr/>
          <p:nvPr/>
        </p:nvSpPr>
        <p:spPr>
          <a:xfrm>
            <a:off x="365760" y="548640"/>
            <a:ext cx="5486400" cy="640080"/>
          </a:xfrm>
          <a:prstGeom prst="rect">
            <a:avLst/>
          </a:prstGeom>
          <a:noFill/>
          <a:ln/>
        </p:spPr>
        <p:txBody>
          <a:bodyPr wrap="square" lIns="0" tIns="0" rIns="0" bIns="0" rtlCol="0" anchor="ctr"/>
          <a:lstStyle/>
          <a:p>
            <a:pPr indent="0" marL="0">
              <a:buNone/>
            </a:pPr>
            <a:r>
              <a:rPr lang="en-US" sz="3800" b="1" dirty="0">
                <a:solidFill>
                  <a:srgbClr val="FFFFFF"/>
                </a:solidFill>
                <a:latin typeface="Arial Black" pitchFamily="34" charset="0"/>
                <a:ea typeface="Arial Black" pitchFamily="34" charset="-122"/>
                <a:cs typeface="Arial Black" pitchFamily="34" charset="-120"/>
              </a:rPr>
              <a:t>Apert Vision</a:t>
            </a:r>
            <a:endParaRPr lang="en-US" sz="3800" dirty="0"/>
          </a:p>
        </p:txBody>
      </p:sp>
      <p:sp>
        <p:nvSpPr>
          <p:cNvPr id="5" name="Text 3"/>
          <p:cNvSpPr/>
          <p:nvPr/>
        </p:nvSpPr>
        <p:spPr>
          <a:xfrm>
            <a:off x="365760" y="1234440"/>
            <a:ext cx="5029200" cy="731520"/>
          </a:xfrm>
          <a:prstGeom prst="rect">
            <a:avLst/>
          </a:prstGeom>
          <a:noFill/>
          <a:ln/>
        </p:spPr>
        <p:txBody>
          <a:bodyPr wrap="square" lIns="0" tIns="0" rIns="0" bIns="0" rtlCol="0" anchor="ctr"/>
          <a:lstStyle/>
          <a:p>
            <a:pPr indent="0" marL="0">
              <a:buNone/>
            </a:pPr>
            <a:r>
              <a:rPr lang="en-US" sz="1400" dirty="0">
                <a:solidFill>
                  <a:srgbClr val="8A9BB0"/>
                </a:solidFill>
              </a:rPr>
              <a:t>Plataforma de análisis automático de rugby</a:t>
            </a:r>
            <a:endParaRPr lang="en-US" sz="1400" dirty="0"/>
          </a:p>
          <a:p>
            <a:pPr indent="0" marL="0">
              <a:buNone/>
            </a:pPr>
            <a:r>
              <a:rPr lang="en-US" sz="1400" dirty="0">
                <a:solidFill>
                  <a:srgbClr val="8A9BB0"/>
                </a:solidFill>
              </a:rPr>
              <a:t>para clubes amateurs</a:t>
            </a:r>
            <a:endParaRPr lang="en-US" sz="1400" dirty="0"/>
          </a:p>
        </p:txBody>
      </p:sp>
      <p:sp>
        <p:nvSpPr>
          <p:cNvPr id="6" name="Shape 4"/>
          <p:cNvSpPr/>
          <p:nvPr/>
        </p:nvSpPr>
        <p:spPr>
          <a:xfrm>
            <a:off x="5669280" y="365760"/>
            <a:ext cx="3200400" cy="4480560"/>
          </a:xfrm>
          <a:prstGeom prst="rect">
            <a:avLst/>
          </a:prstGeom>
          <a:solidFill>
            <a:srgbClr val="2D3240"/>
          </a:solidFill>
          <a:ln w="6350">
            <a:solidFill>
              <a:srgbClr val="3A4055"/>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5669280" y="365760"/>
            <a:ext cx="3200400" cy="54864"/>
          </a:xfrm>
          <a:prstGeom prst="rect">
            <a:avLst/>
          </a:prstGeom>
          <a:solidFill>
            <a:srgbClr val="1A7A3C"/>
          </a:solidFill>
          <a:ln w="12700">
            <a:solidFill>
              <a:srgbClr val="1A7A3C"/>
            </a:solidFill>
            <a:prstDash val="solid"/>
          </a:ln>
        </p:spPr>
      </p:sp>
      <p:sp>
        <p:nvSpPr>
          <p:cNvPr id="8" name="Text 6"/>
          <p:cNvSpPr/>
          <p:nvPr/>
        </p:nvSpPr>
        <p:spPr>
          <a:xfrm>
            <a:off x="5760720" y="457200"/>
            <a:ext cx="3017520" cy="365760"/>
          </a:xfrm>
          <a:prstGeom prst="rect">
            <a:avLst/>
          </a:prstGeom>
          <a:noFill/>
          <a:ln/>
        </p:spPr>
        <p:txBody>
          <a:bodyPr wrap="square" lIns="0" tIns="0" rIns="0" bIns="0" rtlCol="0" anchor="ctr"/>
          <a:lstStyle/>
          <a:p>
            <a:pPr indent="0" marL="0">
              <a:buNone/>
            </a:pPr>
            <a:r>
              <a:rPr lang="en-US" sz="1300" b="1" dirty="0">
                <a:solidFill>
                  <a:srgbClr val="00E676"/>
                </a:solidFill>
              </a:rPr>
              <a:t>¿Qué hace?</a:t>
            </a:r>
            <a:endParaRPr lang="en-US" sz="1300" dirty="0"/>
          </a:p>
        </p:txBody>
      </p:sp>
      <p:pic>
        <p:nvPicPr>
          <p:cNvPr id="9" name="Image 0" descr="preencoded.png">    </p:cNvPr>
          <p:cNvPicPr>
            <a:picLocks noChangeAspect="1"/>
          </p:cNvPicPr>
          <p:nvPr/>
        </p:nvPicPr>
        <p:blipFill>
          <a:blip r:embed="rId1"/>
          <a:stretch>
            <a:fillRect/>
          </a:stretch>
        </p:blipFill>
        <p:spPr>
          <a:xfrm>
            <a:off x="5806440" y="960120"/>
            <a:ext cx="274320" cy="274320"/>
          </a:xfrm>
          <a:prstGeom prst="rect">
            <a:avLst/>
          </a:prstGeom>
        </p:spPr>
      </p:pic>
      <p:sp>
        <p:nvSpPr>
          <p:cNvPr id="10" name="Text 7"/>
          <p:cNvSpPr/>
          <p:nvPr/>
        </p:nvSpPr>
        <p:spPr>
          <a:xfrm>
            <a:off x="6172200" y="914400"/>
            <a:ext cx="2560320" cy="457200"/>
          </a:xfrm>
          <a:prstGeom prst="rect">
            <a:avLst/>
          </a:prstGeom>
          <a:noFill/>
          <a:ln/>
        </p:spPr>
        <p:txBody>
          <a:bodyPr wrap="square" lIns="0" tIns="0" rIns="0" bIns="0" rtlCol="0" anchor="ctr"/>
          <a:lstStyle/>
          <a:p>
            <a:pPr indent="0" marL="0">
              <a:buNone/>
            </a:pPr>
            <a:r>
              <a:rPr lang="en-US" sz="1050" dirty="0">
                <a:solidFill>
                  <a:srgbClr val="E8EAF0"/>
                </a:solidFill>
              </a:rPr>
              <a:t>Detecta line-outs automáticamente con Computer Vision</a:t>
            </a:r>
            <a:endParaRPr lang="en-US" sz="1050" dirty="0"/>
          </a:p>
        </p:txBody>
      </p:sp>
      <p:pic>
        <p:nvPicPr>
          <p:cNvPr id="11" name="Image 1" descr="preencoded.png">    </p:cNvPr>
          <p:cNvPicPr>
            <a:picLocks noChangeAspect="1"/>
          </p:cNvPicPr>
          <p:nvPr/>
        </p:nvPicPr>
        <p:blipFill>
          <a:blip r:embed="rId2"/>
          <a:stretch>
            <a:fillRect/>
          </a:stretch>
        </p:blipFill>
        <p:spPr>
          <a:xfrm>
            <a:off x="5806440" y="1600200"/>
            <a:ext cx="274320" cy="274320"/>
          </a:xfrm>
          <a:prstGeom prst="rect">
            <a:avLst/>
          </a:prstGeom>
        </p:spPr>
      </p:pic>
      <p:sp>
        <p:nvSpPr>
          <p:cNvPr id="12" name="Text 8"/>
          <p:cNvSpPr/>
          <p:nvPr/>
        </p:nvSpPr>
        <p:spPr>
          <a:xfrm>
            <a:off x="6172200" y="1554480"/>
            <a:ext cx="2560320" cy="457200"/>
          </a:xfrm>
          <a:prstGeom prst="rect">
            <a:avLst/>
          </a:prstGeom>
          <a:noFill/>
          <a:ln/>
        </p:spPr>
        <p:txBody>
          <a:bodyPr wrap="square" lIns="0" tIns="0" rIns="0" bIns="0" rtlCol="0" anchor="ctr"/>
          <a:lstStyle/>
          <a:p>
            <a:pPr indent="0" marL="0">
              <a:buNone/>
            </a:pPr>
            <a:r>
              <a:rPr lang="en-US" sz="1050" dirty="0">
                <a:solidFill>
                  <a:srgbClr val="E8EAF0"/>
                </a:solidFill>
              </a:rPr>
              <a:t>Detecta scrums y salidas/recepciones</a:t>
            </a:r>
            <a:endParaRPr lang="en-US" sz="1050" dirty="0"/>
          </a:p>
        </p:txBody>
      </p:sp>
      <p:pic>
        <p:nvPicPr>
          <p:cNvPr id="13" name="Image 2" descr="preencoded.png">    </p:cNvPr>
          <p:cNvPicPr>
            <a:picLocks noChangeAspect="1"/>
          </p:cNvPicPr>
          <p:nvPr/>
        </p:nvPicPr>
        <p:blipFill>
          <a:blip r:embed="rId3"/>
          <a:stretch>
            <a:fillRect/>
          </a:stretch>
        </p:blipFill>
        <p:spPr>
          <a:xfrm>
            <a:off x="5806440" y="2240280"/>
            <a:ext cx="274320" cy="274320"/>
          </a:xfrm>
          <a:prstGeom prst="rect">
            <a:avLst/>
          </a:prstGeom>
        </p:spPr>
      </p:pic>
      <p:sp>
        <p:nvSpPr>
          <p:cNvPr id="14" name="Text 9"/>
          <p:cNvSpPr/>
          <p:nvPr/>
        </p:nvSpPr>
        <p:spPr>
          <a:xfrm>
            <a:off x="6172200" y="2194560"/>
            <a:ext cx="2560320" cy="457200"/>
          </a:xfrm>
          <a:prstGeom prst="rect">
            <a:avLst/>
          </a:prstGeom>
          <a:noFill/>
          <a:ln/>
        </p:spPr>
        <p:txBody>
          <a:bodyPr wrap="square" lIns="0" tIns="0" rIns="0" bIns="0" rtlCol="0" anchor="ctr"/>
          <a:lstStyle/>
          <a:p>
            <a:pPr indent="0" marL="0">
              <a:buNone/>
            </a:pPr>
            <a:r>
              <a:rPr lang="en-US" sz="1050" dirty="0">
                <a:solidFill>
                  <a:srgbClr val="E8EAF0"/>
                </a:solidFill>
              </a:rPr>
              <a:t>Analiza la posesión de pelota por color de camiseta</a:t>
            </a:r>
            <a:endParaRPr lang="en-US" sz="1050" dirty="0"/>
          </a:p>
        </p:txBody>
      </p:sp>
      <p:pic>
        <p:nvPicPr>
          <p:cNvPr id="15" name="Image 3" descr="preencoded.png">    </p:cNvPr>
          <p:cNvPicPr>
            <a:picLocks noChangeAspect="1"/>
          </p:cNvPicPr>
          <p:nvPr/>
        </p:nvPicPr>
        <p:blipFill>
          <a:blip r:embed="rId4"/>
          <a:stretch>
            <a:fillRect/>
          </a:stretch>
        </p:blipFill>
        <p:spPr>
          <a:xfrm>
            <a:off x="5806440" y="2880360"/>
            <a:ext cx="274320" cy="274320"/>
          </a:xfrm>
          <a:prstGeom prst="rect">
            <a:avLst/>
          </a:prstGeom>
        </p:spPr>
      </p:pic>
      <p:sp>
        <p:nvSpPr>
          <p:cNvPr id="16" name="Text 10"/>
          <p:cNvSpPr/>
          <p:nvPr/>
        </p:nvSpPr>
        <p:spPr>
          <a:xfrm>
            <a:off x="6172200" y="2834640"/>
            <a:ext cx="2560320" cy="457200"/>
          </a:xfrm>
          <a:prstGeom prst="rect">
            <a:avLst/>
          </a:prstGeom>
          <a:noFill/>
          <a:ln/>
        </p:spPr>
        <p:txBody>
          <a:bodyPr wrap="square" lIns="0" tIns="0" rIns="0" bIns="0" rtlCol="0" anchor="ctr"/>
          <a:lstStyle/>
          <a:p>
            <a:pPr indent="0" marL="0">
              <a:buNone/>
            </a:pPr>
            <a:r>
              <a:rPr lang="en-US" sz="1050" dirty="0">
                <a:solidFill>
                  <a:srgbClr val="E8EAF0"/>
                </a:solidFill>
              </a:rPr>
              <a:t>Muestra un timeline con cada evento detectado</a:t>
            </a:r>
            <a:endParaRPr lang="en-US" sz="1050" dirty="0"/>
          </a:p>
        </p:txBody>
      </p:sp>
      <p:pic>
        <p:nvPicPr>
          <p:cNvPr id="17" name="Image 4" descr="preencoded.png">    </p:cNvPr>
          <p:cNvPicPr>
            <a:picLocks noChangeAspect="1"/>
          </p:cNvPicPr>
          <p:nvPr/>
        </p:nvPicPr>
        <p:blipFill>
          <a:blip r:embed="rId5"/>
          <a:stretch>
            <a:fillRect/>
          </a:stretch>
        </p:blipFill>
        <p:spPr>
          <a:xfrm>
            <a:off x="5806440" y="3520440"/>
            <a:ext cx="274320" cy="274320"/>
          </a:xfrm>
          <a:prstGeom prst="rect">
            <a:avLst/>
          </a:prstGeom>
        </p:spPr>
      </p:pic>
      <p:sp>
        <p:nvSpPr>
          <p:cNvPr id="18" name="Text 11"/>
          <p:cNvSpPr/>
          <p:nvPr/>
        </p:nvSpPr>
        <p:spPr>
          <a:xfrm>
            <a:off x="6172200" y="3474720"/>
            <a:ext cx="2560320" cy="457200"/>
          </a:xfrm>
          <a:prstGeom prst="rect">
            <a:avLst/>
          </a:prstGeom>
          <a:noFill/>
          <a:ln/>
        </p:spPr>
        <p:txBody>
          <a:bodyPr wrap="square" lIns="0" tIns="0" rIns="0" bIns="0" rtlCol="0" anchor="ctr"/>
          <a:lstStyle/>
          <a:p>
            <a:pPr indent="0" marL="0">
              <a:buNone/>
            </a:pPr>
            <a:r>
              <a:rPr lang="en-US" sz="1050" dirty="0">
                <a:solidFill>
                  <a:srgbClr val="E8EAF0"/>
                </a:solidFill>
              </a:rPr>
              <a:t>Video procesado con las formaciones marcadas</a:t>
            </a:r>
            <a:endParaRPr lang="en-US" sz="1050" dirty="0"/>
          </a:p>
        </p:txBody>
      </p:sp>
      <p:sp>
        <p:nvSpPr>
          <p:cNvPr id="19" name="Shape 12"/>
          <p:cNvSpPr/>
          <p:nvPr/>
        </p:nvSpPr>
        <p:spPr>
          <a:xfrm>
            <a:off x="365760" y="2148840"/>
            <a:ext cx="1508760" cy="1371600"/>
          </a:xfrm>
          <a:prstGeom prst="rect">
            <a:avLst/>
          </a:prstGeom>
          <a:solidFill>
            <a:srgbClr val="2D3240"/>
          </a:solidFill>
          <a:ln w="6350">
            <a:solidFill>
              <a:srgbClr val="1A7A3C"/>
            </a:solidFill>
            <a:prstDash val="solid"/>
          </a:ln>
          <a:effectLst>
            <a:outerShdw sx="100000" sy="100000" kx="0" ky="0" algn="bl" rotWithShape="0" blurRad="101600" dist="38100" dir="8100000">
              <a:srgbClr val="000000">
                <a:alpha val="18000"/>
              </a:srgbClr>
            </a:outerShdw>
          </a:effectLst>
        </p:spPr>
      </p:sp>
      <p:sp>
        <p:nvSpPr>
          <p:cNvPr id="20" name="Text 13"/>
          <p:cNvSpPr/>
          <p:nvPr/>
        </p:nvSpPr>
        <p:spPr>
          <a:xfrm>
            <a:off x="365760" y="2240280"/>
            <a:ext cx="1508760" cy="594360"/>
          </a:xfrm>
          <a:prstGeom prst="rect">
            <a:avLst/>
          </a:prstGeom>
          <a:noFill/>
          <a:ln/>
        </p:spPr>
        <p:txBody>
          <a:bodyPr wrap="square" lIns="0" tIns="0" rIns="0" bIns="0" rtlCol="0" anchor="ctr"/>
          <a:lstStyle/>
          <a:p>
            <a:pPr algn="ctr" indent="0" marL="0">
              <a:buNone/>
            </a:pPr>
            <a:r>
              <a:rPr lang="en-US" sz="3400" b="1" dirty="0">
                <a:solidFill>
                  <a:srgbClr val="00E676"/>
                </a:solidFill>
                <a:latin typeface="Arial Black" pitchFamily="34" charset="0"/>
                <a:ea typeface="Arial Black" pitchFamily="34" charset="-122"/>
                <a:cs typeface="Arial Black" pitchFamily="34" charset="-120"/>
              </a:rPr>
              <a:t>4</a:t>
            </a:r>
            <a:endParaRPr lang="en-US" sz="3400" dirty="0"/>
          </a:p>
        </p:txBody>
      </p:sp>
      <p:sp>
        <p:nvSpPr>
          <p:cNvPr id="21" name="Text 14"/>
          <p:cNvSpPr/>
          <p:nvPr/>
        </p:nvSpPr>
        <p:spPr>
          <a:xfrm>
            <a:off x="365760" y="2834640"/>
            <a:ext cx="1508760" cy="548640"/>
          </a:xfrm>
          <a:prstGeom prst="rect">
            <a:avLst/>
          </a:prstGeom>
          <a:noFill/>
          <a:ln/>
        </p:spPr>
        <p:txBody>
          <a:bodyPr wrap="square" lIns="0" tIns="0" rIns="0" bIns="0" rtlCol="0" anchor="ctr"/>
          <a:lstStyle/>
          <a:p>
            <a:pPr algn="ctr" indent="0" marL="0">
              <a:buNone/>
            </a:pPr>
            <a:r>
              <a:rPr lang="en-US" sz="1000" dirty="0">
                <a:solidFill>
                  <a:srgbClr val="8A9BB0"/>
                </a:solidFill>
              </a:rPr>
              <a:t>métricas</a:t>
            </a:r>
            <a:endParaRPr lang="en-US" sz="1000" dirty="0"/>
          </a:p>
          <a:p>
            <a:pPr algn="ctr" indent="0" marL="0">
              <a:buNone/>
            </a:pPr>
            <a:r>
              <a:rPr lang="en-US" sz="1000" dirty="0">
                <a:solidFill>
                  <a:srgbClr val="8A9BB0"/>
                </a:solidFill>
              </a:rPr>
              <a:t>iniciales</a:t>
            </a:r>
            <a:endParaRPr lang="en-US" sz="1000" dirty="0"/>
          </a:p>
        </p:txBody>
      </p:sp>
      <p:sp>
        <p:nvSpPr>
          <p:cNvPr id="22" name="Shape 15"/>
          <p:cNvSpPr/>
          <p:nvPr/>
        </p:nvSpPr>
        <p:spPr>
          <a:xfrm>
            <a:off x="2057400" y="2148840"/>
            <a:ext cx="1508760" cy="1371600"/>
          </a:xfrm>
          <a:prstGeom prst="rect">
            <a:avLst/>
          </a:prstGeom>
          <a:solidFill>
            <a:srgbClr val="2D3240"/>
          </a:solidFill>
          <a:ln w="6350">
            <a:solidFill>
              <a:srgbClr val="1A7A3C"/>
            </a:solidFill>
            <a:prstDash val="solid"/>
          </a:ln>
          <a:effectLst>
            <a:outerShdw sx="100000" sy="100000" kx="0" ky="0" algn="bl" rotWithShape="0" blurRad="101600" dist="38100" dir="8100000">
              <a:srgbClr val="000000">
                <a:alpha val="18000"/>
              </a:srgbClr>
            </a:outerShdw>
          </a:effectLst>
        </p:spPr>
      </p:sp>
      <p:sp>
        <p:nvSpPr>
          <p:cNvPr id="23" name="Text 16"/>
          <p:cNvSpPr/>
          <p:nvPr/>
        </p:nvSpPr>
        <p:spPr>
          <a:xfrm>
            <a:off x="2057400" y="2240280"/>
            <a:ext cx="1508760" cy="594360"/>
          </a:xfrm>
          <a:prstGeom prst="rect">
            <a:avLst/>
          </a:prstGeom>
          <a:noFill/>
          <a:ln/>
        </p:spPr>
        <p:txBody>
          <a:bodyPr wrap="square" lIns="0" tIns="0" rIns="0" bIns="0" rtlCol="0" anchor="ctr"/>
          <a:lstStyle/>
          <a:p>
            <a:pPr algn="ctr" indent="0" marL="0">
              <a:buNone/>
            </a:pPr>
            <a:r>
              <a:rPr lang="en-US" sz="3400" b="1" dirty="0">
                <a:solidFill>
                  <a:srgbClr val="00E676"/>
                </a:solidFill>
                <a:latin typeface="Arial Black" pitchFamily="34" charset="0"/>
                <a:ea typeface="Arial Black" pitchFamily="34" charset="-122"/>
                <a:cs typeface="Arial Black" pitchFamily="34" charset="-120"/>
              </a:rPr>
              <a:t>IA</a:t>
            </a:r>
            <a:endParaRPr lang="en-US" sz="3400" dirty="0"/>
          </a:p>
        </p:txBody>
      </p:sp>
      <p:sp>
        <p:nvSpPr>
          <p:cNvPr id="24" name="Text 17"/>
          <p:cNvSpPr/>
          <p:nvPr/>
        </p:nvSpPr>
        <p:spPr>
          <a:xfrm>
            <a:off x="2057400" y="2834640"/>
            <a:ext cx="1508760" cy="548640"/>
          </a:xfrm>
          <a:prstGeom prst="rect">
            <a:avLst/>
          </a:prstGeom>
          <a:noFill/>
          <a:ln/>
        </p:spPr>
        <p:txBody>
          <a:bodyPr wrap="square" lIns="0" tIns="0" rIns="0" bIns="0" rtlCol="0" anchor="ctr"/>
          <a:lstStyle/>
          <a:p>
            <a:pPr algn="ctr" indent="0" marL="0">
              <a:buNone/>
            </a:pPr>
            <a:r>
              <a:rPr lang="en-US" sz="1000" dirty="0">
                <a:solidFill>
                  <a:srgbClr val="8A9BB0"/>
                </a:solidFill>
              </a:rPr>
              <a:t>detección</a:t>
            </a:r>
            <a:endParaRPr lang="en-US" sz="1000" dirty="0"/>
          </a:p>
          <a:p>
            <a:pPr algn="ctr" indent="0" marL="0">
              <a:buNone/>
            </a:pPr>
            <a:r>
              <a:rPr lang="en-US" sz="1000" dirty="0">
                <a:solidFill>
                  <a:srgbClr val="8A9BB0"/>
                </a:solidFill>
              </a:rPr>
              <a:t>automática</a:t>
            </a:r>
            <a:endParaRPr lang="en-US" sz="1000" dirty="0"/>
          </a:p>
        </p:txBody>
      </p:sp>
      <p:sp>
        <p:nvSpPr>
          <p:cNvPr id="25" name="Shape 18"/>
          <p:cNvSpPr/>
          <p:nvPr/>
        </p:nvSpPr>
        <p:spPr>
          <a:xfrm>
            <a:off x="3749040" y="2148840"/>
            <a:ext cx="1508760" cy="1371600"/>
          </a:xfrm>
          <a:prstGeom prst="rect">
            <a:avLst/>
          </a:prstGeom>
          <a:solidFill>
            <a:srgbClr val="2D3240"/>
          </a:solidFill>
          <a:ln w="6350">
            <a:solidFill>
              <a:srgbClr val="1A7A3C"/>
            </a:solidFill>
            <a:prstDash val="solid"/>
          </a:ln>
          <a:effectLst>
            <a:outerShdw sx="100000" sy="100000" kx="0" ky="0" algn="bl" rotWithShape="0" blurRad="101600" dist="38100" dir="8100000">
              <a:srgbClr val="000000">
                <a:alpha val="18000"/>
              </a:srgbClr>
            </a:outerShdw>
          </a:effectLst>
        </p:spPr>
      </p:sp>
      <p:sp>
        <p:nvSpPr>
          <p:cNvPr id="26" name="Text 19"/>
          <p:cNvSpPr/>
          <p:nvPr/>
        </p:nvSpPr>
        <p:spPr>
          <a:xfrm>
            <a:off x="3749040" y="2240280"/>
            <a:ext cx="1508760" cy="594360"/>
          </a:xfrm>
          <a:prstGeom prst="rect">
            <a:avLst/>
          </a:prstGeom>
          <a:noFill/>
          <a:ln/>
        </p:spPr>
        <p:txBody>
          <a:bodyPr wrap="square" lIns="0" tIns="0" rIns="0" bIns="0" rtlCol="0" anchor="ctr"/>
          <a:lstStyle/>
          <a:p>
            <a:pPr algn="ctr" indent="0" marL="0">
              <a:buNone/>
            </a:pPr>
            <a:r>
              <a:rPr lang="en-US" sz="3400" b="1" dirty="0">
                <a:solidFill>
                  <a:srgbClr val="00E676"/>
                </a:solidFill>
                <a:latin typeface="Arial Black" pitchFamily="34" charset="0"/>
                <a:ea typeface="Arial Black" pitchFamily="34" charset="-122"/>
                <a:cs typeface="Arial Black" pitchFamily="34" charset="-120"/>
              </a:rPr>
              <a:t>MVP</a:t>
            </a:r>
            <a:endParaRPr lang="en-US" sz="3400" dirty="0"/>
          </a:p>
        </p:txBody>
      </p:sp>
      <p:sp>
        <p:nvSpPr>
          <p:cNvPr id="27" name="Text 20"/>
          <p:cNvSpPr/>
          <p:nvPr/>
        </p:nvSpPr>
        <p:spPr>
          <a:xfrm>
            <a:off x="3749040" y="2834640"/>
            <a:ext cx="1508760" cy="548640"/>
          </a:xfrm>
          <a:prstGeom prst="rect">
            <a:avLst/>
          </a:prstGeom>
          <a:noFill/>
          <a:ln/>
        </p:spPr>
        <p:txBody>
          <a:bodyPr wrap="square" lIns="0" tIns="0" rIns="0" bIns="0" rtlCol="0" anchor="ctr"/>
          <a:lstStyle/>
          <a:p>
            <a:pPr algn="ctr" indent="0" marL="0">
              <a:buNone/>
            </a:pPr>
            <a:r>
              <a:rPr lang="en-US" sz="1000" dirty="0">
                <a:solidFill>
                  <a:srgbClr val="8A9BB0"/>
                </a:solidFill>
              </a:rPr>
              <a:t>en</a:t>
            </a:r>
            <a:endParaRPr lang="en-US" sz="1000" dirty="0"/>
          </a:p>
          <a:p>
            <a:pPr algn="ctr" indent="0" marL="0">
              <a:buNone/>
            </a:pPr>
            <a:r>
              <a:rPr lang="en-US" sz="1000" dirty="0">
                <a:solidFill>
                  <a:srgbClr val="8A9BB0"/>
                </a:solidFill>
              </a:rPr>
              <a:t>3 semanas</a:t>
            </a:r>
            <a:endParaRPr lang="en-US" sz="1000" dirty="0"/>
          </a:p>
        </p:txBody>
      </p:sp>
      <p:sp>
        <p:nvSpPr>
          <p:cNvPr id="28" name="Text 21"/>
          <p:cNvSpPr/>
          <p:nvPr/>
        </p:nvSpPr>
        <p:spPr>
          <a:xfrm>
            <a:off x="365760" y="3840480"/>
            <a:ext cx="5029200" cy="731520"/>
          </a:xfrm>
          <a:prstGeom prst="rect">
            <a:avLst/>
          </a:prstGeom>
          <a:noFill/>
          <a:ln/>
        </p:spPr>
        <p:txBody>
          <a:bodyPr wrap="square" lIns="0" tIns="0" rIns="0" bIns="0" rtlCol="0" anchor="ctr"/>
          <a:lstStyle/>
          <a:p>
            <a:pPr indent="0" marL="0">
              <a:buNone/>
            </a:pPr>
            <a:r>
              <a:rPr lang="en-US" sz="1100" i="1" dirty="0">
                <a:solidFill>
                  <a:srgbClr val="8A9BB0"/>
                </a:solidFill>
              </a:rPr>
              <a:t>El nombre viene de la posición de "apertura" en rugby —</a:t>
            </a:r>
            <a:endParaRPr lang="en-US" sz="1100" dirty="0"/>
          </a:p>
          <a:p>
            <a:pPr indent="0" marL="0">
              <a:buNone/>
            </a:pPr>
            <a:r>
              <a:rPr lang="en-US" sz="1100" i="1" dirty="0">
                <a:solidFill>
                  <a:srgbClr val="8A9BB0"/>
                </a:solidFill>
              </a:rPr>
              <a:t>el jugador que organiza, analiza y toma decisiones.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365760" y="228600"/>
            <a:ext cx="1280160" cy="256032"/>
          </a:xfrm>
          <a:prstGeom prst="rect">
            <a:avLst>
              <a:gd name="adj" fmla="val 14286"/>
            </a:avLst>
          </a:prstGeom>
          <a:solidFill>
            <a:srgbClr val="1A7A3C"/>
          </a:solidFill>
          <a:ln w="12700">
            <a:solidFill>
              <a:srgbClr val="1A7A3C"/>
            </a:solidFill>
            <a:prstDash val="solid"/>
          </a:ln>
        </p:spPr>
      </p:sp>
      <p:sp>
        <p:nvSpPr>
          <p:cNvPr id="3" name="Text 1"/>
          <p:cNvSpPr/>
          <p:nvPr/>
        </p:nvSpPr>
        <p:spPr>
          <a:xfrm>
            <a:off x="365760" y="228600"/>
            <a:ext cx="1280160" cy="256032"/>
          </a:xfrm>
          <a:prstGeom prst="rect">
            <a:avLst/>
          </a:prstGeom>
          <a:noFill/>
          <a:ln/>
        </p:spPr>
        <p:txBody>
          <a:bodyPr wrap="square" lIns="0" tIns="0" rIns="0" bIns="0" rtlCol="0" anchor="ctr"/>
          <a:lstStyle/>
          <a:p>
            <a:pPr algn="ctr" indent="0" marL="0">
              <a:buNone/>
            </a:pPr>
            <a:r>
              <a:rPr lang="en-US" sz="900" b="1" dirty="0">
                <a:solidFill>
                  <a:srgbClr val="FFFFFF"/>
                </a:solidFill>
              </a:rPr>
              <a:t>TECNOLOGÍA</a:t>
            </a:r>
            <a:endParaRPr lang="en-US" sz="900" dirty="0"/>
          </a:p>
        </p:txBody>
      </p:sp>
      <p:sp>
        <p:nvSpPr>
          <p:cNvPr id="4" name="Text 2"/>
          <p:cNvSpPr/>
          <p:nvPr/>
        </p:nvSpPr>
        <p:spPr>
          <a:xfrm>
            <a:off x="365760" y="548640"/>
            <a:ext cx="8412480" cy="594360"/>
          </a:xfrm>
          <a:prstGeom prst="rect">
            <a:avLst/>
          </a:prstGeom>
          <a:noFill/>
          <a:ln/>
        </p:spPr>
        <p:txBody>
          <a:bodyPr wrap="square" lIns="0" tIns="0" rIns="0" bIns="0" rtlCol="0" anchor="ctr"/>
          <a:lstStyle/>
          <a:p>
            <a:pPr indent="0" marL="0">
              <a:buNone/>
            </a:pPr>
            <a:r>
              <a:rPr lang="en-US" sz="3600" b="1" dirty="0">
                <a:solidFill>
                  <a:srgbClr val="FFFFFF"/>
                </a:solidFill>
                <a:latin typeface="Arial Black" pitchFamily="34" charset="0"/>
                <a:ea typeface="Arial Black" pitchFamily="34" charset="-122"/>
                <a:cs typeface="Arial Black" pitchFamily="34" charset="-120"/>
              </a:rPr>
              <a:t>Stack tecnológico</a:t>
            </a:r>
            <a:endParaRPr lang="en-US" sz="3600" dirty="0"/>
          </a:p>
        </p:txBody>
      </p:sp>
      <p:sp>
        <p:nvSpPr>
          <p:cNvPr id="5" name="Shape 3"/>
          <p:cNvSpPr/>
          <p:nvPr/>
        </p:nvSpPr>
        <p:spPr>
          <a:xfrm>
            <a:off x="365760" y="1371600"/>
            <a:ext cx="2651760" cy="1508760"/>
          </a:xfrm>
          <a:prstGeom prst="rect">
            <a:avLst/>
          </a:prstGeom>
          <a:solidFill>
            <a:srgbClr val="2D3240"/>
          </a:solidFill>
          <a:ln w="6350">
            <a:solidFill>
              <a:srgbClr val="3A4055"/>
            </a:solidFill>
            <a:prstDash val="solid"/>
          </a:ln>
          <a:effectLst>
            <a:outerShdw sx="100000" sy="100000" kx="0" ky="0" algn="bl" rotWithShape="0" blurRad="101600" dist="38100" dir="8100000">
              <a:srgbClr val="000000">
                <a:alpha val="18000"/>
              </a:srgbClr>
            </a:outerShdw>
          </a:effectLst>
        </p:spPr>
      </p:sp>
      <p:sp>
        <p:nvSpPr>
          <p:cNvPr id="6" name="Shape 4"/>
          <p:cNvSpPr/>
          <p:nvPr/>
        </p:nvSpPr>
        <p:spPr>
          <a:xfrm>
            <a:off x="365760" y="1371600"/>
            <a:ext cx="2651760" cy="45720"/>
          </a:xfrm>
          <a:prstGeom prst="rect">
            <a:avLst/>
          </a:prstGeom>
          <a:solidFill>
            <a:srgbClr val="3498DB"/>
          </a:solidFill>
          <a:ln w="12700">
            <a:solidFill>
              <a:srgbClr val="3498DB"/>
            </a:solidFill>
            <a:prstDash val="solid"/>
          </a:ln>
        </p:spPr>
      </p:sp>
      <p:sp>
        <p:nvSpPr>
          <p:cNvPr id="7" name="Shape 5"/>
          <p:cNvSpPr/>
          <p:nvPr/>
        </p:nvSpPr>
        <p:spPr>
          <a:xfrm>
            <a:off x="530352" y="1719072"/>
            <a:ext cx="502920" cy="502920"/>
          </a:xfrm>
          <a:prstGeom prst="ellipse">
            <a:avLst/>
          </a:prstGeom>
          <a:solidFill>
            <a:srgbClr val="3498DB"/>
          </a:solidFill>
          <a:ln w="12700">
            <a:solidFill>
              <a:srgbClr val="3498DB"/>
            </a:solidFill>
            <a:prstDash val="solid"/>
          </a:ln>
        </p:spPr>
      </p:sp>
      <p:pic>
        <p:nvPicPr>
          <p:cNvPr id="8" name="Image 0" descr="preencoded.png">    </p:cNvPr>
          <p:cNvPicPr>
            <a:picLocks noChangeAspect="1"/>
          </p:cNvPicPr>
          <p:nvPr/>
        </p:nvPicPr>
        <p:blipFill>
          <a:blip r:embed="rId1"/>
          <a:stretch>
            <a:fillRect/>
          </a:stretch>
        </p:blipFill>
        <p:spPr>
          <a:xfrm>
            <a:off x="576072" y="1764792"/>
            <a:ext cx="411480" cy="411480"/>
          </a:xfrm>
          <a:prstGeom prst="rect">
            <a:avLst/>
          </a:prstGeom>
        </p:spPr>
      </p:pic>
      <p:sp>
        <p:nvSpPr>
          <p:cNvPr id="9" name="Text 6"/>
          <p:cNvSpPr/>
          <p:nvPr/>
        </p:nvSpPr>
        <p:spPr>
          <a:xfrm>
            <a:off x="1078992" y="1554480"/>
            <a:ext cx="1828800" cy="292608"/>
          </a:xfrm>
          <a:prstGeom prst="rect">
            <a:avLst/>
          </a:prstGeom>
          <a:noFill/>
          <a:ln/>
        </p:spPr>
        <p:txBody>
          <a:bodyPr wrap="square" lIns="0" tIns="0" rIns="0" bIns="0" rtlCol="0" anchor="ctr"/>
          <a:lstStyle/>
          <a:p>
            <a:pPr indent="0" marL="0">
              <a:buNone/>
            </a:pPr>
            <a:r>
              <a:rPr lang="en-US" sz="1300" b="1" dirty="0">
                <a:solidFill>
                  <a:srgbClr val="FFFFFF"/>
                </a:solidFill>
              </a:rPr>
              <a:t>YOLO v8</a:t>
            </a:r>
            <a:endParaRPr lang="en-US" sz="1300" dirty="0"/>
          </a:p>
        </p:txBody>
      </p:sp>
      <p:sp>
        <p:nvSpPr>
          <p:cNvPr id="10" name="Text 7"/>
          <p:cNvSpPr/>
          <p:nvPr/>
        </p:nvSpPr>
        <p:spPr>
          <a:xfrm>
            <a:off x="1078992" y="1828800"/>
            <a:ext cx="1828800" cy="201168"/>
          </a:xfrm>
          <a:prstGeom prst="rect">
            <a:avLst/>
          </a:prstGeom>
          <a:noFill/>
          <a:ln/>
        </p:spPr>
        <p:txBody>
          <a:bodyPr wrap="square" lIns="0" tIns="0" rIns="0" bIns="0" rtlCol="0" anchor="ctr"/>
          <a:lstStyle/>
          <a:p>
            <a:pPr indent="0" marL="0">
              <a:buNone/>
            </a:pPr>
            <a:r>
              <a:rPr lang="en-US" sz="900" dirty="0">
                <a:solidFill>
                  <a:srgbClr val="3498DB"/>
                </a:solidFill>
              </a:rPr>
              <a:t>Ultralytics</a:t>
            </a:r>
            <a:endParaRPr lang="en-US" sz="900" dirty="0"/>
          </a:p>
        </p:txBody>
      </p:sp>
      <p:sp>
        <p:nvSpPr>
          <p:cNvPr id="11" name="Text 8"/>
          <p:cNvSpPr/>
          <p:nvPr/>
        </p:nvSpPr>
        <p:spPr>
          <a:xfrm>
            <a:off x="502920" y="2194560"/>
            <a:ext cx="2377440" cy="594360"/>
          </a:xfrm>
          <a:prstGeom prst="rect">
            <a:avLst/>
          </a:prstGeom>
          <a:noFill/>
          <a:ln/>
        </p:spPr>
        <p:txBody>
          <a:bodyPr wrap="square" lIns="0" tIns="0" rIns="0" bIns="0" rtlCol="0" anchor="ctr"/>
          <a:lstStyle/>
          <a:p>
            <a:pPr indent="0" marL="0">
              <a:buNone/>
            </a:pPr>
            <a:r>
              <a:rPr lang="en-US" sz="950" dirty="0">
                <a:solidFill>
                  <a:srgbClr val="8A9BB0"/>
                </a:solidFill>
              </a:rPr>
              <a:t>Modelo de detección de objetos en tiempo real. Detecta formaciones frame por frame.</a:t>
            </a:r>
            <a:endParaRPr lang="en-US" sz="950" dirty="0"/>
          </a:p>
        </p:txBody>
      </p:sp>
      <p:sp>
        <p:nvSpPr>
          <p:cNvPr id="12" name="Shape 9"/>
          <p:cNvSpPr/>
          <p:nvPr/>
        </p:nvSpPr>
        <p:spPr>
          <a:xfrm>
            <a:off x="3200400" y="1371600"/>
            <a:ext cx="2651760" cy="1508760"/>
          </a:xfrm>
          <a:prstGeom prst="rect">
            <a:avLst/>
          </a:prstGeom>
          <a:solidFill>
            <a:srgbClr val="2D3240"/>
          </a:solidFill>
          <a:ln w="6350">
            <a:solidFill>
              <a:srgbClr val="3A4055"/>
            </a:solidFill>
            <a:prstDash val="solid"/>
          </a:ln>
          <a:effectLst>
            <a:outerShdw sx="100000" sy="100000" kx="0" ky="0" algn="bl" rotWithShape="0" blurRad="101600" dist="38100" dir="8100000">
              <a:srgbClr val="000000">
                <a:alpha val="18000"/>
              </a:srgbClr>
            </a:outerShdw>
          </a:effectLst>
        </p:spPr>
      </p:sp>
      <p:sp>
        <p:nvSpPr>
          <p:cNvPr id="13" name="Shape 10"/>
          <p:cNvSpPr/>
          <p:nvPr/>
        </p:nvSpPr>
        <p:spPr>
          <a:xfrm>
            <a:off x="3200400" y="1371600"/>
            <a:ext cx="2651760" cy="45720"/>
          </a:xfrm>
          <a:prstGeom prst="rect">
            <a:avLst/>
          </a:prstGeom>
          <a:solidFill>
            <a:srgbClr val="E67E22"/>
          </a:solidFill>
          <a:ln w="12700">
            <a:solidFill>
              <a:srgbClr val="E67E22"/>
            </a:solidFill>
            <a:prstDash val="solid"/>
          </a:ln>
        </p:spPr>
      </p:sp>
      <p:sp>
        <p:nvSpPr>
          <p:cNvPr id="14" name="Shape 11"/>
          <p:cNvSpPr/>
          <p:nvPr/>
        </p:nvSpPr>
        <p:spPr>
          <a:xfrm>
            <a:off x="3364992" y="1719072"/>
            <a:ext cx="502920" cy="502920"/>
          </a:xfrm>
          <a:prstGeom prst="ellipse">
            <a:avLst/>
          </a:prstGeom>
          <a:solidFill>
            <a:srgbClr val="E67E22"/>
          </a:solidFill>
          <a:ln w="12700">
            <a:solidFill>
              <a:srgbClr val="E67E22"/>
            </a:solidFill>
            <a:prstDash val="solid"/>
          </a:ln>
        </p:spPr>
      </p:sp>
      <p:pic>
        <p:nvPicPr>
          <p:cNvPr id="15" name="Image 1" descr="preencoded.png">    </p:cNvPr>
          <p:cNvPicPr>
            <a:picLocks noChangeAspect="1"/>
          </p:cNvPicPr>
          <p:nvPr/>
        </p:nvPicPr>
        <p:blipFill>
          <a:blip r:embed="rId2"/>
          <a:stretch>
            <a:fillRect/>
          </a:stretch>
        </p:blipFill>
        <p:spPr>
          <a:xfrm>
            <a:off x="3410712" y="1764792"/>
            <a:ext cx="411480" cy="411480"/>
          </a:xfrm>
          <a:prstGeom prst="rect">
            <a:avLst/>
          </a:prstGeom>
        </p:spPr>
      </p:pic>
      <p:sp>
        <p:nvSpPr>
          <p:cNvPr id="16" name="Text 12"/>
          <p:cNvSpPr/>
          <p:nvPr/>
        </p:nvSpPr>
        <p:spPr>
          <a:xfrm>
            <a:off x="3913632" y="1554480"/>
            <a:ext cx="1828800" cy="292608"/>
          </a:xfrm>
          <a:prstGeom prst="rect">
            <a:avLst/>
          </a:prstGeom>
          <a:noFill/>
          <a:ln/>
        </p:spPr>
        <p:txBody>
          <a:bodyPr wrap="square" lIns="0" tIns="0" rIns="0" bIns="0" rtlCol="0" anchor="ctr"/>
          <a:lstStyle/>
          <a:p>
            <a:pPr indent="0" marL="0">
              <a:buNone/>
            </a:pPr>
            <a:r>
              <a:rPr lang="en-US" sz="1300" b="1" dirty="0">
                <a:solidFill>
                  <a:srgbClr val="FFFFFF"/>
                </a:solidFill>
              </a:rPr>
              <a:t>OpenCV</a:t>
            </a:r>
            <a:endParaRPr lang="en-US" sz="1300" dirty="0"/>
          </a:p>
        </p:txBody>
      </p:sp>
      <p:sp>
        <p:nvSpPr>
          <p:cNvPr id="17" name="Text 13"/>
          <p:cNvSpPr/>
          <p:nvPr/>
        </p:nvSpPr>
        <p:spPr>
          <a:xfrm>
            <a:off x="3913632" y="1828800"/>
            <a:ext cx="1828800" cy="201168"/>
          </a:xfrm>
          <a:prstGeom prst="rect">
            <a:avLst/>
          </a:prstGeom>
          <a:noFill/>
          <a:ln/>
        </p:spPr>
        <p:txBody>
          <a:bodyPr wrap="square" lIns="0" tIns="0" rIns="0" bIns="0" rtlCol="0" anchor="ctr"/>
          <a:lstStyle/>
          <a:p>
            <a:pPr indent="0" marL="0">
              <a:buNone/>
            </a:pPr>
            <a:r>
              <a:rPr lang="en-US" sz="900" dirty="0">
                <a:solidFill>
                  <a:srgbClr val="E67E22"/>
                </a:solidFill>
              </a:rPr>
              <a:t>Python</a:t>
            </a:r>
            <a:endParaRPr lang="en-US" sz="900" dirty="0"/>
          </a:p>
        </p:txBody>
      </p:sp>
      <p:sp>
        <p:nvSpPr>
          <p:cNvPr id="18" name="Text 14"/>
          <p:cNvSpPr/>
          <p:nvPr/>
        </p:nvSpPr>
        <p:spPr>
          <a:xfrm>
            <a:off x="3337560" y="2194560"/>
            <a:ext cx="2377440" cy="594360"/>
          </a:xfrm>
          <a:prstGeom prst="rect">
            <a:avLst/>
          </a:prstGeom>
          <a:noFill/>
          <a:ln/>
        </p:spPr>
        <p:txBody>
          <a:bodyPr wrap="square" lIns="0" tIns="0" rIns="0" bIns="0" rtlCol="0" anchor="ctr"/>
          <a:lstStyle/>
          <a:p>
            <a:pPr indent="0" marL="0">
              <a:buNone/>
            </a:pPr>
            <a:r>
              <a:rPr lang="en-US" sz="950" dirty="0">
                <a:solidFill>
                  <a:srgbClr val="8A9BB0"/>
                </a:solidFill>
              </a:rPr>
              <a:t>Procesamiento de video: lectura de frames, dibujo de bounding boxes y generación del video de salida.</a:t>
            </a:r>
            <a:endParaRPr lang="en-US" sz="950" dirty="0"/>
          </a:p>
        </p:txBody>
      </p:sp>
      <p:sp>
        <p:nvSpPr>
          <p:cNvPr id="19" name="Shape 15"/>
          <p:cNvSpPr/>
          <p:nvPr/>
        </p:nvSpPr>
        <p:spPr>
          <a:xfrm>
            <a:off x="6035040" y="1371600"/>
            <a:ext cx="2651760" cy="1508760"/>
          </a:xfrm>
          <a:prstGeom prst="rect">
            <a:avLst/>
          </a:prstGeom>
          <a:solidFill>
            <a:srgbClr val="2D3240"/>
          </a:solidFill>
          <a:ln w="6350">
            <a:solidFill>
              <a:srgbClr val="3A4055"/>
            </a:solidFill>
            <a:prstDash val="solid"/>
          </a:ln>
          <a:effectLst>
            <a:outerShdw sx="100000" sy="100000" kx="0" ky="0" algn="bl" rotWithShape="0" blurRad="101600" dist="38100" dir="8100000">
              <a:srgbClr val="000000">
                <a:alpha val="18000"/>
              </a:srgbClr>
            </a:outerShdw>
          </a:effectLst>
        </p:spPr>
      </p:sp>
      <p:sp>
        <p:nvSpPr>
          <p:cNvPr id="20" name="Shape 16"/>
          <p:cNvSpPr/>
          <p:nvPr/>
        </p:nvSpPr>
        <p:spPr>
          <a:xfrm>
            <a:off x="6035040" y="1371600"/>
            <a:ext cx="2651760" cy="45720"/>
          </a:xfrm>
          <a:prstGeom prst="rect">
            <a:avLst/>
          </a:prstGeom>
          <a:solidFill>
            <a:srgbClr val="9B59B6"/>
          </a:solidFill>
          <a:ln w="12700">
            <a:solidFill>
              <a:srgbClr val="9B59B6"/>
            </a:solidFill>
            <a:prstDash val="solid"/>
          </a:ln>
        </p:spPr>
      </p:sp>
      <p:sp>
        <p:nvSpPr>
          <p:cNvPr id="21" name="Shape 17"/>
          <p:cNvSpPr/>
          <p:nvPr/>
        </p:nvSpPr>
        <p:spPr>
          <a:xfrm>
            <a:off x="6199632" y="1719072"/>
            <a:ext cx="502920" cy="502920"/>
          </a:xfrm>
          <a:prstGeom prst="ellipse">
            <a:avLst/>
          </a:prstGeom>
          <a:solidFill>
            <a:srgbClr val="9B59B6"/>
          </a:solidFill>
          <a:ln w="12700">
            <a:solidFill>
              <a:srgbClr val="9B59B6"/>
            </a:solidFill>
            <a:prstDash val="solid"/>
          </a:ln>
        </p:spPr>
      </p:sp>
      <p:pic>
        <p:nvPicPr>
          <p:cNvPr id="22" name="Image 2" descr="preencoded.png">    </p:cNvPr>
          <p:cNvPicPr>
            <a:picLocks noChangeAspect="1"/>
          </p:cNvPicPr>
          <p:nvPr/>
        </p:nvPicPr>
        <p:blipFill>
          <a:blip r:embed="rId3"/>
          <a:stretch>
            <a:fillRect/>
          </a:stretch>
        </p:blipFill>
        <p:spPr>
          <a:xfrm>
            <a:off x="6245352" y="1764792"/>
            <a:ext cx="411480" cy="411480"/>
          </a:xfrm>
          <a:prstGeom prst="rect">
            <a:avLst/>
          </a:prstGeom>
        </p:spPr>
      </p:pic>
      <p:sp>
        <p:nvSpPr>
          <p:cNvPr id="23" name="Text 18"/>
          <p:cNvSpPr/>
          <p:nvPr/>
        </p:nvSpPr>
        <p:spPr>
          <a:xfrm>
            <a:off x="6748272" y="1554480"/>
            <a:ext cx="1828800" cy="292608"/>
          </a:xfrm>
          <a:prstGeom prst="rect">
            <a:avLst/>
          </a:prstGeom>
          <a:noFill/>
          <a:ln/>
        </p:spPr>
        <p:txBody>
          <a:bodyPr wrap="square" lIns="0" tIns="0" rIns="0" bIns="0" rtlCol="0" anchor="ctr"/>
          <a:lstStyle/>
          <a:p>
            <a:pPr indent="0" marL="0">
              <a:buNone/>
            </a:pPr>
            <a:r>
              <a:rPr lang="en-US" sz="1300" b="1" dirty="0">
                <a:solidFill>
                  <a:srgbClr val="FFFFFF"/>
                </a:solidFill>
              </a:rPr>
              <a:t>Flask</a:t>
            </a:r>
            <a:endParaRPr lang="en-US" sz="1300" dirty="0"/>
          </a:p>
        </p:txBody>
      </p:sp>
      <p:sp>
        <p:nvSpPr>
          <p:cNvPr id="24" name="Text 19"/>
          <p:cNvSpPr/>
          <p:nvPr/>
        </p:nvSpPr>
        <p:spPr>
          <a:xfrm>
            <a:off x="6748272" y="1828800"/>
            <a:ext cx="1828800" cy="201168"/>
          </a:xfrm>
          <a:prstGeom prst="rect">
            <a:avLst/>
          </a:prstGeom>
          <a:noFill/>
          <a:ln/>
        </p:spPr>
        <p:txBody>
          <a:bodyPr wrap="square" lIns="0" tIns="0" rIns="0" bIns="0" rtlCol="0" anchor="ctr"/>
          <a:lstStyle/>
          <a:p>
            <a:pPr indent="0" marL="0">
              <a:buNone/>
            </a:pPr>
            <a:r>
              <a:rPr lang="en-US" sz="900" dirty="0">
                <a:solidFill>
                  <a:srgbClr val="9B59B6"/>
                </a:solidFill>
              </a:rPr>
              <a:t>Backend</a:t>
            </a:r>
            <a:endParaRPr lang="en-US" sz="900" dirty="0"/>
          </a:p>
        </p:txBody>
      </p:sp>
      <p:sp>
        <p:nvSpPr>
          <p:cNvPr id="25" name="Text 20"/>
          <p:cNvSpPr/>
          <p:nvPr/>
        </p:nvSpPr>
        <p:spPr>
          <a:xfrm>
            <a:off x="6172200" y="2194560"/>
            <a:ext cx="2377440" cy="594360"/>
          </a:xfrm>
          <a:prstGeom prst="rect">
            <a:avLst/>
          </a:prstGeom>
          <a:noFill/>
          <a:ln/>
        </p:spPr>
        <p:txBody>
          <a:bodyPr wrap="square" lIns="0" tIns="0" rIns="0" bIns="0" rtlCol="0" anchor="ctr"/>
          <a:lstStyle/>
          <a:p>
            <a:pPr indent="0" marL="0">
              <a:buNone/>
            </a:pPr>
            <a:r>
              <a:rPr lang="en-US" sz="950" dirty="0">
                <a:solidFill>
                  <a:srgbClr val="8A9BB0"/>
                </a:solidFill>
              </a:rPr>
              <a:t>Servidor web local. Gestiona la carga de videos, la cola de procesamiento y sirve los resultados.</a:t>
            </a:r>
            <a:endParaRPr lang="en-US" sz="950" dirty="0"/>
          </a:p>
        </p:txBody>
      </p:sp>
      <p:sp>
        <p:nvSpPr>
          <p:cNvPr id="26" name="Shape 21"/>
          <p:cNvSpPr/>
          <p:nvPr/>
        </p:nvSpPr>
        <p:spPr>
          <a:xfrm>
            <a:off x="365760" y="3063240"/>
            <a:ext cx="2651760" cy="1508760"/>
          </a:xfrm>
          <a:prstGeom prst="rect">
            <a:avLst/>
          </a:prstGeom>
          <a:solidFill>
            <a:srgbClr val="2D3240"/>
          </a:solidFill>
          <a:ln w="6350">
            <a:solidFill>
              <a:srgbClr val="3A4055"/>
            </a:solidFill>
            <a:prstDash val="solid"/>
          </a:ln>
          <a:effectLst>
            <a:outerShdw sx="100000" sy="100000" kx="0" ky="0" algn="bl" rotWithShape="0" blurRad="101600" dist="38100" dir="8100000">
              <a:srgbClr val="000000">
                <a:alpha val="18000"/>
              </a:srgbClr>
            </a:outerShdw>
          </a:effectLst>
        </p:spPr>
      </p:sp>
      <p:sp>
        <p:nvSpPr>
          <p:cNvPr id="27" name="Shape 22"/>
          <p:cNvSpPr/>
          <p:nvPr/>
        </p:nvSpPr>
        <p:spPr>
          <a:xfrm>
            <a:off x="365760" y="3063240"/>
            <a:ext cx="2651760" cy="45720"/>
          </a:xfrm>
          <a:prstGeom prst="rect">
            <a:avLst/>
          </a:prstGeom>
          <a:solidFill>
            <a:srgbClr val="E53935"/>
          </a:solidFill>
          <a:ln w="12700">
            <a:solidFill>
              <a:srgbClr val="E53935"/>
            </a:solidFill>
            <a:prstDash val="solid"/>
          </a:ln>
        </p:spPr>
      </p:sp>
      <p:sp>
        <p:nvSpPr>
          <p:cNvPr id="28" name="Shape 23"/>
          <p:cNvSpPr/>
          <p:nvPr/>
        </p:nvSpPr>
        <p:spPr>
          <a:xfrm>
            <a:off x="530352" y="3410712"/>
            <a:ext cx="502920" cy="502920"/>
          </a:xfrm>
          <a:prstGeom prst="ellipse">
            <a:avLst/>
          </a:prstGeom>
          <a:solidFill>
            <a:srgbClr val="E53935"/>
          </a:solidFill>
          <a:ln w="12700">
            <a:solidFill>
              <a:srgbClr val="E53935"/>
            </a:solidFill>
            <a:prstDash val="solid"/>
          </a:ln>
        </p:spPr>
      </p:sp>
      <p:pic>
        <p:nvPicPr>
          <p:cNvPr id="29" name="Image 3" descr="preencoded.png">    </p:cNvPr>
          <p:cNvPicPr>
            <a:picLocks noChangeAspect="1"/>
          </p:cNvPicPr>
          <p:nvPr/>
        </p:nvPicPr>
        <p:blipFill>
          <a:blip r:embed="rId4"/>
          <a:stretch>
            <a:fillRect/>
          </a:stretch>
        </p:blipFill>
        <p:spPr>
          <a:xfrm>
            <a:off x="576072" y="3456432"/>
            <a:ext cx="411480" cy="411480"/>
          </a:xfrm>
          <a:prstGeom prst="rect">
            <a:avLst/>
          </a:prstGeom>
        </p:spPr>
      </p:pic>
      <p:sp>
        <p:nvSpPr>
          <p:cNvPr id="30" name="Text 24"/>
          <p:cNvSpPr/>
          <p:nvPr/>
        </p:nvSpPr>
        <p:spPr>
          <a:xfrm>
            <a:off x="1078992" y="3246120"/>
            <a:ext cx="1828800" cy="292608"/>
          </a:xfrm>
          <a:prstGeom prst="rect">
            <a:avLst/>
          </a:prstGeom>
          <a:noFill/>
          <a:ln/>
        </p:spPr>
        <p:txBody>
          <a:bodyPr wrap="square" lIns="0" tIns="0" rIns="0" bIns="0" rtlCol="0" anchor="ctr"/>
          <a:lstStyle/>
          <a:p>
            <a:pPr indent="0" marL="0">
              <a:buNone/>
            </a:pPr>
            <a:r>
              <a:rPr lang="en-US" sz="1300" b="1" dirty="0">
                <a:solidFill>
                  <a:srgbClr val="FFFFFF"/>
                </a:solidFill>
              </a:rPr>
              <a:t>Firebase</a:t>
            </a:r>
            <a:endParaRPr lang="en-US" sz="1300" dirty="0"/>
          </a:p>
        </p:txBody>
      </p:sp>
      <p:sp>
        <p:nvSpPr>
          <p:cNvPr id="31" name="Text 25"/>
          <p:cNvSpPr/>
          <p:nvPr/>
        </p:nvSpPr>
        <p:spPr>
          <a:xfrm>
            <a:off x="1078992" y="3520440"/>
            <a:ext cx="1828800" cy="201168"/>
          </a:xfrm>
          <a:prstGeom prst="rect">
            <a:avLst/>
          </a:prstGeom>
          <a:noFill/>
          <a:ln/>
        </p:spPr>
        <p:txBody>
          <a:bodyPr wrap="square" lIns="0" tIns="0" rIns="0" bIns="0" rtlCol="0" anchor="ctr"/>
          <a:lstStyle/>
          <a:p>
            <a:pPr indent="0" marL="0">
              <a:buNone/>
            </a:pPr>
            <a:r>
              <a:rPr lang="en-US" sz="900" dirty="0">
                <a:solidFill>
                  <a:srgbClr val="E53935"/>
                </a:solidFill>
              </a:rPr>
              <a:t>Base de datos</a:t>
            </a:r>
            <a:endParaRPr lang="en-US" sz="900" dirty="0"/>
          </a:p>
        </p:txBody>
      </p:sp>
      <p:sp>
        <p:nvSpPr>
          <p:cNvPr id="32" name="Text 26"/>
          <p:cNvSpPr/>
          <p:nvPr/>
        </p:nvSpPr>
        <p:spPr>
          <a:xfrm>
            <a:off x="502920" y="3886200"/>
            <a:ext cx="2377440" cy="594360"/>
          </a:xfrm>
          <a:prstGeom prst="rect">
            <a:avLst/>
          </a:prstGeom>
          <a:noFill/>
          <a:ln/>
        </p:spPr>
        <p:txBody>
          <a:bodyPr wrap="square" lIns="0" tIns="0" rIns="0" bIns="0" rtlCol="0" anchor="ctr"/>
          <a:lstStyle/>
          <a:p>
            <a:pPr indent="0" marL="0">
              <a:buNone/>
            </a:pPr>
            <a:r>
              <a:rPr lang="en-US" sz="950" dirty="0">
                <a:solidFill>
                  <a:srgbClr val="8A9BB0"/>
                </a:solidFill>
              </a:rPr>
              <a:t>Almacena usuarios, partidos, jugadores, eventos detectados y registros de posesión.</a:t>
            </a:r>
            <a:endParaRPr lang="en-US" sz="950" dirty="0"/>
          </a:p>
        </p:txBody>
      </p:sp>
      <p:sp>
        <p:nvSpPr>
          <p:cNvPr id="33" name="Shape 27"/>
          <p:cNvSpPr/>
          <p:nvPr/>
        </p:nvSpPr>
        <p:spPr>
          <a:xfrm>
            <a:off x="3200400" y="3063240"/>
            <a:ext cx="2651760" cy="1508760"/>
          </a:xfrm>
          <a:prstGeom prst="rect">
            <a:avLst/>
          </a:prstGeom>
          <a:solidFill>
            <a:srgbClr val="2D3240"/>
          </a:solidFill>
          <a:ln w="6350">
            <a:solidFill>
              <a:srgbClr val="3A4055"/>
            </a:solidFill>
            <a:prstDash val="solid"/>
          </a:ln>
          <a:effectLst>
            <a:outerShdw sx="100000" sy="100000" kx="0" ky="0" algn="bl" rotWithShape="0" blurRad="101600" dist="38100" dir="8100000">
              <a:srgbClr val="000000">
                <a:alpha val="18000"/>
              </a:srgbClr>
            </a:outerShdw>
          </a:effectLst>
        </p:spPr>
      </p:sp>
      <p:sp>
        <p:nvSpPr>
          <p:cNvPr id="34" name="Shape 28"/>
          <p:cNvSpPr/>
          <p:nvPr/>
        </p:nvSpPr>
        <p:spPr>
          <a:xfrm>
            <a:off x="3200400" y="3063240"/>
            <a:ext cx="2651760" cy="45720"/>
          </a:xfrm>
          <a:prstGeom prst="rect">
            <a:avLst/>
          </a:prstGeom>
          <a:solidFill>
            <a:srgbClr val="27AE60"/>
          </a:solidFill>
          <a:ln w="12700">
            <a:solidFill>
              <a:srgbClr val="27AE60"/>
            </a:solidFill>
            <a:prstDash val="solid"/>
          </a:ln>
        </p:spPr>
      </p:sp>
      <p:sp>
        <p:nvSpPr>
          <p:cNvPr id="35" name="Shape 29"/>
          <p:cNvSpPr/>
          <p:nvPr/>
        </p:nvSpPr>
        <p:spPr>
          <a:xfrm>
            <a:off x="3364992" y="3410712"/>
            <a:ext cx="502920" cy="502920"/>
          </a:xfrm>
          <a:prstGeom prst="ellipse">
            <a:avLst/>
          </a:prstGeom>
          <a:solidFill>
            <a:srgbClr val="27AE60"/>
          </a:solidFill>
          <a:ln w="12700">
            <a:solidFill>
              <a:srgbClr val="27AE60"/>
            </a:solidFill>
            <a:prstDash val="solid"/>
          </a:ln>
        </p:spPr>
      </p:sp>
      <p:pic>
        <p:nvPicPr>
          <p:cNvPr id="36" name="Image 4" descr="preencoded.png">    </p:cNvPr>
          <p:cNvPicPr>
            <a:picLocks noChangeAspect="1"/>
          </p:cNvPicPr>
          <p:nvPr/>
        </p:nvPicPr>
        <p:blipFill>
          <a:blip r:embed="rId5"/>
          <a:stretch>
            <a:fillRect/>
          </a:stretch>
        </p:blipFill>
        <p:spPr>
          <a:xfrm>
            <a:off x="3410712" y="3456432"/>
            <a:ext cx="411480" cy="411480"/>
          </a:xfrm>
          <a:prstGeom prst="rect">
            <a:avLst/>
          </a:prstGeom>
        </p:spPr>
      </p:pic>
      <p:sp>
        <p:nvSpPr>
          <p:cNvPr id="37" name="Text 30"/>
          <p:cNvSpPr/>
          <p:nvPr/>
        </p:nvSpPr>
        <p:spPr>
          <a:xfrm>
            <a:off x="3913632" y="3246120"/>
            <a:ext cx="1828800" cy="292608"/>
          </a:xfrm>
          <a:prstGeom prst="rect">
            <a:avLst/>
          </a:prstGeom>
          <a:noFill/>
          <a:ln/>
        </p:spPr>
        <p:txBody>
          <a:bodyPr wrap="square" lIns="0" tIns="0" rIns="0" bIns="0" rtlCol="0" anchor="ctr"/>
          <a:lstStyle/>
          <a:p>
            <a:pPr indent="0" marL="0">
              <a:buNone/>
            </a:pPr>
            <a:r>
              <a:rPr lang="en-US" sz="1300" b="1" dirty="0">
                <a:solidFill>
                  <a:srgbClr val="FFFFFF"/>
                </a:solidFill>
              </a:rPr>
              <a:t>Android</a:t>
            </a:r>
            <a:endParaRPr lang="en-US" sz="1300" dirty="0"/>
          </a:p>
        </p:txBody>
      </p:sp>
      <p:sp>
        <p:nvSpPr>
          <p:cNvPr id="38" name="Text 31"/>
          <p:cNvSpPr/>
          <p:nvPr/>
        </p:nvSpPr>
        <p:spPr>
          <a:xfrm>
            <a:off x="3913632" y="3520440"/>
            <a:ext cx="1828800" cy="201168"/>
          </a:xfrm>
          <a:prstGeom prst="rect">
            <a:avLst/>
          </a:prstGeom>
          <a:noFill/>
          <a:ln/>
        </p:spPr>
        <p:txBody>
          <a:bodyPr wrap="square" lIns="0" tIns="0" rIns="0" bIns="0" rtlCol="0" anchor="ctr"/>
          <a:lstStyle/>
          <a:p>
            <a:pPr indent="0" marL="0">
              <a:buNone/>
            </a:pPr>
            <a:r>
              <a:rPr lang="en-US" sz="900" dirty="0">
                <a:solidFill>
                  <a:srgbClr val="27AE60"/>
                </a:solidFill>
              </a:rPr>
              <a:t>App móvil</a:t>
            </a:r>
            <a:endParaRPr lang="en-US" sz="900" dirty="0"/>
          </a:p>
        </p:txBody>
      </p:sp>
      <p:sp>
        <p:nvSpPr>
          <p:cNvPr id="39" name="Text 32"/>
          <p:cNvSpPr/>
          <p:nvPr/>
        </p:nvSpPr>
        <p:spPr>
          <a:xfrm>
            <a:off x="3337560" y="3886200"/>
            <a:ext cx="2377440" cy="594360"/>
          </a:xfrm>
          <a:prstGeom prst="rect">
            <a:avLst/>
          </a:prstGeom>
          <a:noFill/>
          <a:ln/>
        </p:spPr>
        <p:txBody>
          <a:bodyPr wrap="square" lIns="0" tIns="0" rIns="0" bIns="0" rtlCol="0" anchor="ctr"/>
          <a:lstStyle/>
          <a:p>
            <a:pPr indent="0" marL="0">
              <a:buNone/>
            </a:pPr>
            <a:r>
              <a:rPr lang="en-US" sz="950" dirty="0">
                <a:solidFill>
                  <a:srgbClr val="8A9BB0"/>
                </a:solidFill>
              </a:rPr>
              <a:t>App para jugadores: estadísticas personales, highlights y notificaciones push.</a:t>
            </a:r>
            <a:endParaRPr lang="en-US" sz="950" dirty="0"/>
          </a:p>
        </p:txBody>
      </p:sp>
      <p:sp>
        <p:nvSpPr>
          <p:cNvPr id="40" name="Shape 33"/>
          <p:cNvSpPr/>
          <p:nvPr/>
        </p:nvSpPr>
        <p:spPr>
          <a:xfrm>
            <a:off x="6035040" y="3063240"/>
            <a:ext cx="2651760" cy="1508760"/>
          </a:xfrm>
          <a:prstGeom prst="rect">
            <a:avLst/>
          </a:prstGeom>
          <a:solidFill>
            <a:srgbClr val="2D3240"/>
          </a:solidFill>
          <a:ln w="6350">
            <a:solidFill>
              <a:srgbClr val="3A4055"/>
            </a:solidFill>
            <a:prstDash val="solid"/>
          </a:ln>
          <a:effectLst>
            <a:outerShdw sx="100000" sy="100000" kx="0" ky="0" algn="bl" rotWithShape="0" blurRad="101600" dist="38100" dir="8100000">
              <a:srgbClr val="000000">
                <a:alpha val="18000"/>
              </a:srgbClr>
            </a:outerShdw>
          </a:effectLst>
        </p:spPr>
      </p:sp>
      <p:sp>
        <p:nvSpPr>
          <p:cNvPr id="41" name="Shape 34"/>
          <p:cNvSpPr/>
          <p:nvPr/>
        </p:nvSpPr>
        <p:spPr>
          <a:xfrm>
            <a:off x="6035040" y="3063240"/>
            <a:ext cx="2651760" cy="45720"/>
          </a:xfrm>
          <a:prstGeom prst="rect">
            <a:avLst/>
          </a:prstGeom>
          <a:solidFill>
            <a:srgbClr val="1A7A3C"/>
          </a:solidFill>
          <a:ln w="12700">
            <a:solidFill>
              <a:srgbClr val="1A7A3C"/>
            </a:solidFill>
            <a:prstDash val="solid"/>
          </a:ln>
        </p:spPr>
      </p:sp>
      <p:sp>
        <p:nvSpPr>
          <p:cNvPr id="42" name="Shape 35"/>
          <p:cNvSpPr/>
          <p:nvPr/>
        </p:nvSpPr>
        <p:spPr>
          <a:xfrm>
            <a:off x="6199632" y="3410712"/>
            <a:ext cx="502920" cy="502920"/>
          </a:xfrm>
          <a:prstGeom prst="ellipse">
            <a:avLst/>
          </a:prstGeom>
          <a:solidFill>
            <a:srgbClr val="1A7A3C"/>
          </a:solidFill>
          <a:ln w="12700">
            <a:solidFill>
              <a:srgbClr val="1A7A3C"/>
            </a:solidFill>
            <a:prstDash val="solid"/>
          </a:ln>
        </p:spPr>
      </p:sp>
      <p:pic>
        <p:nvPicPr>
          <p:cNvPr id="43" name="Image 5" descr="preencoded.png">    </p:cNvPr>
          <p:cNvPicPr>
            <a:picLocks noChangeAspect="1"/>
          </p:cNvPicPr>
          <p:nvPr/>
        </p:nvPicPr>
        <p:blipFill>
          <a:blip r:embed="rId6"/>
          <a:stretch>
            <a:fillRect/>
          </a:stretch>
        </p:blipFill>
        <p:spPr>
          <a:xfrm>
            <a:off x="6245352" y="3456432"/>
            <a:ext cx="411480" cy="411480"/>
          </a:xfrm>
          <a:prstGeom prst="rect">
            <a:avLst/>
          </a:prstGeom>
        </p:spPr>
      </p:pic>
      <p:sp>
        <p:nvSpPr>
          <p:cNvPr id="44" name="Text 36"/>
          <p:cNvSpPr/>
          <p:nvPr/>
        </p:nvSpPr>
        <p:spPr>
          <a:xfrm>
            <a:off x="6748272" y="3246120"/>
            <a:ext cx="1828800" cy="292608"/>
          </a:xfrm>
          <a:prstGeom prst="rect">
            <a:avLst/>
          </a:prstGeom>
          <a:noFill/>
          <a:ln/>
        </p:spPr>
        <p:txBody>
          <a:bodyPr wrap="square" lIns="0" tIns="0" rIns="0" bIns="0" rtlCol="0" anchor="ctr"/>
          <a:lstStyle/>
          <a:p>
            <a:pPr indent="0" marL="0">
              <a:buNone/>
            </a:pPr>
            <a:r>
              <a:rPr lang="en-US" sz="1300" b="1" dirty="0">
                <a:solidFill>
                  <a:srgbClr val="FFFFFF"/>
                </a:solidFill>
              </a:rPr>
              <a:t>Auth0</a:t>
            </a:r>
            <a:endParaRPr lang="en-US" sz="1300" dirty="0"/>
          </a:p>
        </p:txBody>
      </p:sp>
      <p:sp>
        <p:nvSpPr>
          <p:cNvPr id="45" name="Text 37"/>
          <p:cNvSpPr/>
          <p:nvPr/>
        </p:nvSpPr>
        <p:spPr>
          <a:xfrm>
            <a:off x="6748272" y="3520440"/>
            <a:ext cx="1828800" cy="201168"/>
          </a:xfrm>
          <a:prstGeom prst="rect">
            <a:avLst/>
          </a:prstGeom>
          <a:noFill/>
          <a:ln/>
        </p:spPr>
        <p:txBody>
          <a:bodyPr wrap="square" lIns="0" tIns="0" rIns="0" bIns="0" rtlCol="0" anchor="ctr"/>
          <a:lstStyle/>
          <a:p>
            <a:pPr indent="0" marL="0">
              <a:buNone/>
            </a:pPr>
            <a:r>
              <a:rPr lang="en-US" sz="900" dirty="0">
                <a:solidFill>
                  <a:srgbClr val="1A7A3C"/>
                </a:solidFill>
              </a:rPr>
              <a:t>Autenticación</a:t>
            </a:r>
            <a:endParaRPr lang="en-US" sz="900" dirty="0"/>
          </a:p>
        </p:txBody>
      </p:sp>
      <p:sp>
        <p:nvSpPr>
          <p:cNvPr id="46" name="Text 38"/>
          <p:cNvSpPr/>
          <p:nvPr/>
        </p:nvSpPr>
        <p:spPr>
          <a:xfrm>
            <a:off x="6172200" y="3886200"/>
            <a:ext cx="2377440" cy="594360"/>
          </a:xfrm>
          <a:prstGeom prst="rect">
            <a:avLst/>
          </a:prstGeom>
          <a:noFill/>
          <a:ln/>
        </p:spPr>
        <p:txBody>
          <a:bodyPr wrap="square" lIns="0" tIns="0" rIns="0" bIns="0" rtlCol="0" anchor="ctr"/>
          <a:lstStyle/>
          <a:p>
            <a:pPr indent="0" marL="0">
              <a:buNone/>
            </a:pPr>
            <a:r>
              <a:rPr lang="en-US" sz="950" dirty="0">
                <a:solidFill>
                  <a:srgbClr val="8A9BB0"/>
                </a:solidFill>
              </a:rPr>
              <a:t>Gestión de identidad y roles: entrenador, jugador, staff médico y dirigentes.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C0F"/>
        </a:solidFill>
      </p:bgPr>
    </p:bg>
    <p:spTree>
      <p:nvGrpSpPr>
        <p:cNvPr id="1" name=""/>
        <p:cNvGrpSpPr/>
        <p:nvPr/>
      </p:nvGrpSpPr>
      <p:grpSpPr>
        <a:xfrm>
          <a:off x="0" y="0"/>
          <a:ext cx="0" cy="0"/>
          <a:chOff x="0" y="0"/>
          <a:chExt cx="0" cy="0"/>
        </a:xfrm>
      </p:grpSpPr>
      <p:sp>
        <p:nvSpPr>
          <p:cNvPr id="2" name="Shape 0"/>
          <p:cNvSpPr/>
          <p:nvPr/>
        </p:nvSpPr>
        <p:spPr>
          <a:xfrm>
            <a:off x="365760" y="228600"/>
            <a:ext cx="1280160" cy="256032"/>
          </a:xfrm>
          <a:prstGeom prst="rect">
            <a:avLst>
              <a:gd name="adj" fmla="val 14286"/>
            </a:avLst>
          </a:prstGeom>
          <a:solidFill>
            <a:srgbClr val="1A7A3C"/>
          </a:solidFill>
          <a:ln w="12700">
            <a:solidFill>
              <a:srgbClr val="1A7A3C"/>
            </a:solidFill>
            <a:prstDash val="solid"/>
          </a:ln>
        </p:spPr>
      </p:sp>
      <p:sp>
        <p:nvSpPr>
          <p:cNvPr id="3" name="Text 1"/>
          <p:cNvSpPr/>
          <p:nvPr/>
        </p:nvSpPr>
        <p:spPr>
          <a:xfrm>
            <a:off x="365760" y="228600"/>
            <a:ext cx="1280160" cy="256032"/>
          </a:xfrm>
          <a:prstGeom prst="rect">
            <a:avLst/>
          </a:prstGeom>
          <a:noFill/>
          <a:ln/>
        </p:spPr>
        <p:txBody>
          <a:bodyPr wrap="square" lIns="0" tIns="0" rIns="0" bIns="0" rtlCol="0" anchor="ctr"/>
          <a:lstStyle/>
          <a:p>
            <a:pPr algn="ctr" indent="0" marL="0">
              <a:buNone/>
            </a:pPr>
            <a:r>
              <a:rPr lang="en-US" sz="900" b="1" dirty="0">
                <a:solidFill>
                  <a:srgbClr val="FFFFFF"/>
                </a:solidFill>
              </a:rPr>
              <a:t>FUNCIONAMIENTO</a:t>
            </a:r>
            <a:endParaRPr lang="en-US" sz="900" dirty="0"/>
          </a:p>
        </p:txBody>
      </p:sp>
      <p:sp>
        <p:nvSpPr>
          <p:cNvPr id="4" name="Text 2"/>
          <p:cNvSpPr/>
          <p:nvPr/>
        </p:nvSpPr>
        <p:spPr>
          <a:xfrm>
            <a:off x="365760" y="548640"/>
            <a:ext cx="8412480" cy="594360"/>
          </a:xfrm>
          <a:prstGeom prst="rect">
            <a:avLst/>
          </a:prstGeom>
          <a:noFill/>
          <a:ln/>
        </p:spPr>
        <p:txBody>
          <a:bodyPr wrap="square" lIns="0" tIns="0" rIns="0" bIns="0" rtlCol="0" anchor="ctr"/>
          <a:lstStyle/>
          <a:p>
            <a:pPr indent="0" marL="0">
              <a:buNone/>
            </a:pPr>
            <a:r>
              <a:rPr lang="en-US" sz="3600" b="1" dirty="0">
                <a:solidFill>
                  <a:srgbClr val="FFFFFF"/>
                </a:solidFill>
                <a:latin typeface="Arial Black" pitchFamily="34" charset="0"/>
                <a:ea typeface="Arial Black" pitchFamily="34" charset="-122"/>
                <a:cs typeface="Arial Black" pitchFamily="34" charset="-120"/>
              </a:rPr>
              <a:t>¿Cómo funciona?</a:t>
            </a:r>
            <a:endParaRPr lang="en-US" sz="3600" dirty="0"/>
          </a:p>
        </p:txBody>
      </p:sp>
      <p:sp>
        <p:nvSpPr>
          <p:cNvPr id="5" name="Shape 3"/>
          <p:cNvSpPr/>
          <p:nvPr/>
        </p:nvSpPr>
        <p:spPr>
          <a:xfrm>
            <a:off x="274320" y="1371600"/>
            <a:ext cx="1554480" cy="3108960"/>
          </a:xfrm>
          <a:prstGeom prst="rect">
            <a:avLst/>
          </a:prstGeom>
          <a:solidFill>
            <a:srgbClr val="2D3240"/>
          </a:solidFill>
          <a:ln w="6350">
            <a:solidFill>
              <a:srgbClr val="3A4055"/>
            </a:solidFill>
            <a:prstDash val="solid"/>
          </a:ln>
          <a:effectLst>
            <a:outerShdw sx="100000" sy="100000" kx="0" ky="0" algn="bl" rotWithShape="0" blurRad="101600" dist="38100" dir="8100000">
              <a:srgbClr val="000000">
                <a:alpha val="18000"/>
              </a:srgbClr>
            </a:outerShdw>
          </a:effectLst>
        </p:spPr>
      </p:sp>
      <p:sp>
        <p:nvSpPr>
          <p:cNvPr id="6" name="Shape 4"/>
          <p:cNvSpPr/>
          <p:nvPr/>
        </p:nvSpPr>
        <p:spPr>
          <a:xfrm>
            <a:off x="777240" y="1481328"/>
            <a:ext cx="548640" cy="548640"/>
          </a:xfrm>
          <a:prstGeom prst="ellipse">
            <a:avLst/>
          </a:prstGeom>
          <a:solidFill>
            <a:srgbClr val="1A7A3C"/>
          </a:solidFill>
          <a:ln w="12700">
            <a:solidFill>
              <a:srgbClr val="1A7A3C"/>
            </a:solidFill>
            <a:prstDash val="solid"/>
          </a:ln>
        </p:spPr>
      </p:sp>
      <p:sp>
        <p:nvSpPr>
          <p:cNvPr id="7" name="Text 5"/>
          <p:cNvSpPr/>
          <p:nvPr/>
        </p:nvSpPr>
        <p:spPr>
          <a:xfrm>
            <a:off x="777240" y="148132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pic>
        <p:nvPicPr>
          <p:cNvPr id="8" name="Image 0" descr="preencoded.png">    </p:cNvPr>
          <p:cNvPicPr>
            <a:picLocks noChangeAspect="1"/>
          </p:cNvPicPr>
          <p:nvPr/>
        </p:nvPicPr>
        <p:blipFill>
          <a:blip r:embed="rId1"/>
          <a:stretch>
            <a:fillRect/>
          </a:stretch>
        </p:blipFill>
        <p:spPr>
          <a:xfrm>
            <a:off x="822960" y="2194560"/>
            <a:ext cx="457200" cy="457200"/>
          </a:xfrm>
          <a:prstGeom prst="rect">
            <a:avLst/>
          </a:prstGeom>
        </p:spPr>
      </p:pic>
      <p:sp>
        <p:nvSpPr>
          <p:cNvPr id="9" name="Text 6"/>
          <p:cNvSpPr/>
          <p:nvPr/>
        </p:nvSpPr>
        <p:spPr>
          <a:xfrm>
            <a:off x="365760" y="2788920"/>
            <a:ext cx="1371600" cy="365760"/>
          </a:xfrm>
          <a:prstGeom prst="rect">
            <a:avLst/>
          </a:prstGeom>
          <a:noFill/>
          <a:ln/>
        </p:spPr>
        <p:txBody>
          <a:bodyPr wrap="square" lIns="0" tIns="0" rIns="0" bIns="0" rtlCol="0" anchor="ctr"/>
          <a:lstStyle/>
          <a:p>
            <a:pPr algn="ctr" indent="0" marL="0">
              <a:buNone/>
            </a:pPr>
            <a:r>
              <a:rPr lang="en-US" sz="1100" b="1" dirty="0">
                <a:solidFill>
                  <a:srgbClr val="FFFFFF"/>
                </a:solidFill>
              </a:rPr>
              <a:t>Subir video</a:t>
            </a:r>
            <a:endParaRPr lang="en-US" sz="1100" dirty="0"/>
          </a:p>
        </p:txBody>
      </p:sp>
      <p:sp>
        <p:nvSpPr>
          <p:cNvPr id="10" name="Text 7"/>
          <p:cNvSpPr/>
          <p:nvPr/>
        </p:nvSpPr>
        <p:spPr>
          <a:xfrm>
            <a:off x="365760" y="3200400"/>
            <a:ext cx="1371600" cy="1097280"/>
          </a:xfrm>
          <a:prstGeom prst="rect">
            <a:avLst/>
          </a:prstGeom>
          <a:noFill/>
          <a:ln/>
        </p:spPr>
        <p:txBody>
          <a:bodyPr wrap="square" lIns="0" tIns="0" rIns="0" bIns="0" rtlCol="0" anchor="ctr"/>
          <a:lstStyle/>
          <a:p>
            <a:pPr algn="ctr" indent="0" marL="0">
              <a:buNone/>
            </a:pPr>
            <a:r>
              <a:rPr lang="en-US" sz="950" dirty="0">
                <a:solidFill>
                  <a:srgbClr val="8A9BB0"/>
                </a:solidFill>
              </a:rPr>
              <a:t>El entrenador sube un video del partido (.mp4, .mov) desde la interfaz web.</a:t>
            </a:r>
            <a:endParaRPr lang="en-US" sz="950" dirty="0"/>
          </a:p>
        </p:txBody>
      </p:sp>
      <p:sp>
        <p:nvSpPr>
          <p:cNvPr id="11" name="Shape 8"/>
          <p:cNvSpPr/>
          <p:nvPr/>
        </p:nvSpPr>
        <p:spPr>
          <a:xfrm>
            <a:off x="1874520" y="2834640"/>
            <a:ext cx="73152" cy="256032"/>
          </a:xfrm>
          <a:prstGeom prst="rect">
            <a:avLst/>
          </a:prstGeom>
          <a:solidFill>
            <a:srgbClr val="1A7A3C"/>
          </a:solidFill>
          <a:ln w="12700">
            <a:solidFill>
              <a:srgbClr val="1A7A3C"/>
            </a:solidFill>
            <a:prstDash val="solid"/>
          </a:ln>
        </p:spPr>
      </p:sp>
      <p:sp>
        <p:nvSpPr>
          <p:cNvPr id="12" name="Text 9"/>
          <p:cNvSpPr/>
          <p:nvPr/>
        </p:nvSpPr>
        <p:spPr>
          <a:xfrm>
            <a:off x="1847088" y="2743200"/>
            <a:ext cx="182880" cy="365760"/>
          </a:xfrm>
          <a:prstGeom prst="rect">
            <a:avLst/>
          </a:prstGeom>
          <a:noFill/>
          <a:ln/>
        </p:spPr>
        <p:txBody>
          <a:bodyPr wrap="square" lIns="0" tIns="0" rIns="0" bIns="0" rtlCol="0" anchor="ctr"/>
          <a:lstStyle/>
          <a:p>
            <a:pPr algn="ctr" indent="0" marL="0">
              <a:buNone/>
            </a:pPr>
            <a:r>
              <a:rPr lang="en-US" sz="1400" dirty="0">
                <a:solidFill>
                  <a:srgbClr val="00E676"/>
                </a:solidFill>
              </a:rPr>
              <a:t>→</a:t>
            </a:r>
            <a:endParaRPr lang="en-US" sz="1400" dirty="0"/>
          </a:p>
        </p:txBody>
      </p:sp>
      <p:sp>
        <p:nvSpPr>
          <p:cNvPr id="13" name="Shape 10"/>
          <p:cNvSpPr/>
          <p:nvPr/>
        </p:nvSpPr>
        <p:spPr>
          <a:xfrm>
            <a:off x="1993392" y="1371600"/>
            <a:ext cx="1554480" cy="3108960"/>
          </a:xfrm>
          <a:prstGeom prst="rect">
            <a:avLst/>
          </a:prstGeom>
          <a:solidFill>
            <a:srgbClr val="2D3240"/>
          </a:solidFill>
          <a:ln w="6350">
            <a:solidFill>
              <a:srgbClr val="3A4055"/>
            </a:solidFill>
            <a:prstDash val="solid"/>
          </a:ln>
          <a:effectLst>
            <a:outerShdw sx="100000" sy="100000" kx="0" ky="0" algn="bl" rotWithShape="0" blurRad="101600" dist="38100" dir="8100000">
              <a:srgbClr val="000000">
                <a:alpha val="18000"/>
              </a:srgbClr>
            </a:outerShdw>
          </a:effectLst>
        </p:spPr>
      </p:sp>
      <p:sp>
        <p:nvSpPr>
          <p:cNvPr id="14" name="Shape 11"/>
          <p:cNvSpPr/>
          <p:nvPr/>
        </p:nvSpPr>
        <p:spPr>
          <a:xfrm>
            <a:off x="2496312" y="1481328"/>
            <a:ext cx="548640" cy="548640"/>
          </a:xfrm>
          <a:prstGeom prst="ellipse">
            <a:avLst/>
          </a:prstGeom>
          <a:solidFill>
            <a:srgbClr val="1A7A3C"/>
          </a:solidFill>
          <a:ln w="12700">
            <a:solidFill>
              <a:srgbClr val="1A7A3C"/>
            </a:solidFill>
            <a:prstDash val="solid"/>
          </a:ln>
        </p:spPr>
      </p:sp>
      <p:sp>
        <p:nvSpPr>
          <p:cNvPr id="15" name="Text 12"/>
          <p:cNvSpPr/>
          <p:nvPr/>
        </p:nvSpPr>
        <p:spPr>
          <a:xfrm>
            <a:off x="2496312" y="148132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pic>
        <p:nvPicPr>
          <p:cNvPr id="16" name="Image 1" descr="preencoded.png">    </p:cNvPr>
          <p:cNvPicPr>
            <a:picLocks noChangeAspect="1"/>
          </p:cNvPicPr>
          <p:nvPr/>
        </p:nvPicPr>
        <p:blipFill>
          <a:blip r:embed="rId2"/>
          <a:stretch>
            <a:fillRect/>
          </a:stretch>
        </p:blipFill>
        <p:spPr>
          <a:xfrm>
            <a:off x="2542032" y="2194560"/>
            <a:ext cx="457200" cy="457200"/>
          </a:xfrm>
          <a:prstGeom prst="rect">
            <a:avLst/>
          </a:prstGeom>
        </p:spPr>
      </p:pic>
      <p:sp>
        <p:nvSpPr>
          <p:cNvPr id="17" name="Text 13"/>
          <p:cNvSpPr/>
          <p:nvPr/>
        </p:nvSpPr>
        <p:spPr>
          <a:xfrm>
            <a:off x="2084832" y="2788920"/>
            <a:ext cx="1371600" cy="365760"/>
          </a:xfrm>
          <a:prstGeom prst="rect">
            <a:avLst/>
          </a:prstGeom>
          <a:noFill/>
          <a:ln/>
        </p:spPr>
        <p:txBody>
          <a:bodyPr wrap="square" lIns="0" tIns="0" rIns="0" bIns="0" rtlCol="0" anchor="ctr"/>
          <a:lstStyle/>
          <a:p>
            <a:pPr algn="ctr" indent="0" marL="0">
              <a:buNone/>
            </a:pPr>
            <a:r>
              <a:rPr lang="en-US" sz="1100" b="1" dirty="0">
                <a:solidFill>
                  <a:srgbClr val="FFFFFF"/>
                </a:solidFill>
              </a:rPr>
              <a:t>Configurar</a:t>
            </a:r>
            <a:endParaRPr lang="en-US" sz="1100" dirty="0"/>
          </a:p>
        </p:txBody>
      </p:sp>
      <p:sp>
        <p:nvSpPr>
          <p:cNvPr id="18" name="Text 14"/>
          <p:cNvSpPr/>
          <p:nvPr/>
        </p:nvSpPr>
        <p:spPr>
          <a:xfrm>
            <a:off x="2084832" y="3200400"/>
            <a:ext cx="1371600" cy="1097280"/>
          </a:xfrm>
          <a:prstGeom prst="rect">
            <a:avLst/>
          </a:prstGeom>
          <a:noFill/>
          <a:ln/>
        </p:spPr>
        <p:txBody>
          <a:bodyPr wrap="square" lIns="0" tIns="0" rIns="0" bIns="0" rtlCol="0" anchor="ctr"/>
          <a:lstStyle/>
          <a:p>
            <a:pPr algn="ctr" indent="0" marL="0">
              <a:buNone/>
            </a:pPr>
            <a:r>
              <a:rPr lang="en-US" sz="950" dirty="0">
                <a:solidFill>
                  <a:srgbClr val="8A9BB0"/>
                </a:solidFill>
              </a:rPr>
              <a:t>Selecciona el color de camiseta de cada equipo para el análisis de posesión.</a:t>
            </a:r>
            <a:endParaRPr lang="en-US" sz="950" dirty="0"/>
          </a:p>
        </p:txBody>
      </p:sp>
      <p:sp>
        <p:nvSpPr>
          <p:cNvPr id="19" name="Shape 15"/>
          <p:cNvSpPr/>
          <p:nvPr/>
        </p:nvSpPr>
        <p:spPr>
          <a:xfrm>
            <a:off x="3593592" y="2834640"/>
            <a:ext cx="73152" cy="256032"/>
          </a:xfrm>
          <a:prstGeom prst="rect">
            <a:avLst/>
          </a:prstGeom>
          <a:solidFill>
            <a:srgbClr val="1A7A3C"/>
          </a:solidFill>
          <a:ln w="12700">
            <a:solidFill>
              <a:srgbClr val="1A7A3C"/>
            </a:solidFill>
            <a:prstDash val="solid"/>
          </a:ln>
        </p:spPr>
      </p:sp>
      <p:sp>
        <p:nvSpPr>
          <p:cNvPr id="20" name="Text 16"/>
          <p:cNvSpPr/>
          <p:nvPr/>
        </p:nvSpPr>
        <p:spPr>
          <a:xfrm>
            <a:off x="3566160" y="2743200"/>
            <a:ext cx="182880" cy="365760"/>
          </a:xfrm>
          <a:prstGeom prst="rect">
            <a:avLst/>
          </a:prstGeom>
          <a:noFill/>
          <a:ln/>
        </p:spPr>
        <p:txBody>
          <a:bodyPr wrap="square" lIns="0" tIns="0" rIns="0" bIns="0" rtlCol="0" anchor="ctr"/>
          <a:lstStyle/>
          <a:p>
            <a:pPr algn="ctr" indent="0" marL="0">
              <a:buNone/>
            </a:pPr>
            <a:r>
              <a:rPr lang="en-US" sz="1400" dirty="0">
                <a:solidFill>
                  <a:srgbClr val="00E676"/>
                </a:solidFill>
              </a:rPr>
              <a:t>→</a:t>
            </a:r>
            <a:endParaRPr lang="en-US" sz="1400" dirty="0"/>
          </a:p>
        </p:txBody>
      </p:sp>
      <p:sp>
        <p:nvSpPr>
          <p:cNvPr id="21" name="Shape 17"/>
          <p:cNvSpPr/>
          <p:nvPr/>
        </p:nvSpPr>
        <p:spPr>
          <a:xfrm>
            <a:off x="3712464" y="1371600"/>
            <a:ext cx="1554480" cy="3108960"/>
          </a:xfrm>
          <a:prstGeom prst="rect">
            <a:avLst/>
          </a:prstGeom>
          <a:solidFill>
            <a:srgbClr val="2D3240"/>
          </a:solidFill>
          <a:ln w="6350">
            <a:solidFill>
              <a:srgbClr val="3A4055"/>
            </a:solidFill>
            <a:prstDash val="solid"/>
          </a:ln>
          <a:effectLst>
            <a:outerShdw sx="100000" sy="100000" kx="0" ky="0" algn="bl" rotWithShape="0" blurRad="101600" dist="38100" dir="8100000">
              <a:srgbClr val="000000">
                <a:alpha val="18000"/>
              </a:srgbClr>
            </a:outerShdw>
          </a:effectLst>
        </p:spPr>
      </p:sp>
      <p:sp>
        <p:nvSpPr>
          <p:cNvPr id="22" name="Shape 18"/>
          <p:cNvSpPr/>
          <p:nvPr/>
        </p:nvSpPr>
        <p:spPr>
          <a:xfrm>
            <a:off x="4215384" y="1481328"/>
            <a:ext cx="548640" cy="548640"/>
          </a:xfrm>
          <a:prstGeom prst="ellipse">
            <a:avLst/>
          </a:prstGeom>
          <a:solidFill>
            <a:srgbClr val="1A7A3C"/>
          </a:solidFill>
          <a:ln w="12700">
            <a:solidFill>
              <a:srgbClr val="1A7A3C"/>
            </a:solidFill>
            <a:prstDash val="solid"/>
          </a:ln>
        </p:spPr>
      </p:sp>
      <p:sp>
        <p:nvSpPr>
          <p:cNvPr id="23" name="Text 19"/>
          <p:cNvSpPr/>
          <p:nvPr/>
        </p:nvSpPr>
        <p:spPr>
          <a:xfrm>
            <a:off x="4215384" y="148132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pic>
        <p:nvPicPr>
          <p:cNvPr id="24" name="Image 2" descr="preencoded.png">    </p:cNvPr>
          <p:cNvPicPr>
            <a:picLocks noChangeAspect="1"/>
          </p:cNvPicPr>
          <p:nvPr/>
        </p:nvPicPr>
        <p:blipFill>
          <a:blip r:embed="rId3"/>
          <a:stretch>
            <a:fillRect/>
          </a:stretch>
        </p:blipFill>
        <p:spPr>
          <a:xfrm>
            <a:off x="4261104" y="2194560"/>
            <a:ext cx="457200" cy="457200"/>
          </a:xfrm>
          <a:prstGeom prst="rect">
            <a:avLst/>
          </a:prstGeom>
        </p:spPr>
      </p:pic>
      <p:sp>
        <p:nvSpPr>
          <p:cNvPr id="25" name="Text 20"/>
          <p:cNvSpPr/>
          <p:nvPr/>
        </p:nvSpPr>
        <p:spPr>
          <a:xfrm>
            <a:off x="3803904" y="2788920"/>
            <a:ext cx="1371600" cy="365760"/>
          </a:xfrm>
          <a:prstGeom prst="rect">
            <a:avLst/>
          </a:prstGeom>
          <a:noFill/>
          <a:ln/>
        </p:spPr>
        <p:txBody>
          <a:bodyPr wrap="square" lIns="0" tIns="0" rIns="0" bIns="0" rtlCol="0" anchor="ctr"/>
          <a:lstStyle/>
          <a:p>
            <a:pPr algn="ctr" indent="0" marL="0">
              <a:buNone/>
            </a:pPr>
            <a:r>
              <a:rPr lang="en-US" sz="1100" b="1" dirty="0">
                <a:solidFill>
                  <a:srgbClr val="FFFFFF"/>
                </a:solidFill>
              </a:rPr>
              <a:t>YOLO procesa</a:t>
            </a:r>
            <a:endParaRPr lang="en-US" sz="1100" dirty="0"/>
          </a:p>
        </p:txBody>
      </p:sp>
      <p:sp>
        <p:nvSpPr>
          <p:cNvPr id="26" name="Text 21"/>
          <p:cNvSpPr/>
          <p:nvPr/>
        </p:nvSpPr>
        <p:spPr>
          <a:xfrm>
            <a:off x="3803904" y="3200400"/>
            <a:ext cx="1371600" cy="1097280"/>
          </a:xfrm>
          <a:prstGeom prst="rect">
            <a:avLst/>
          </a:prstGeom>
          <a:noFill/>
          <a:ln/>
        </p:spPr>
        <p:txBody>
          <a:bodyPr wrap="square" lIns="0" tIns="0" rIns="0" bIns="0" rtlCol="0" anchor="ctr"/>
          <a:lstStyle/>
          <a:p>
            <a:pPr algn="ctr" indent="0" marL="0">
              <a:buNone/>
            </a:pPr>
            <a:r>
              <a:rPr lang="en-US" sz="950" dirty="0">
                <a:solidFill>
                  <a:srgbClr val="8A9BB0"/>
                </a:solidFill>
              </a:rPr>
              <a:t>El modelo analiza cada frame y detecta formaciones: line-out, scrum, salida.</a:t>
            </a:r>
            <a:endParaRPr lang="en-US" sz="950" dirty="0"/>
          </a:p>
        </p:txBody>
      </p:sp>
      <p:sp>
        <p:nvSpPr>
          <p:cNvPr id="27" name="Shape 22"/>
          <p:cNvSpPr/>
          <p:nvPr/>
        </p:nvSpPr>
        <p:spPr>
          <a:xfrm>
            <a:off x="5312664" y="2834640"/>
            <a:ext cx="73152" cy="256032"/>
          </a:xfrm>
          <a:prstGeom prst="rect">
            <a:avLst/>
          </a:prstGeom>
          <a:solidFill>
            <a:srgbClr val="1A7A3C"/>
          </a:solidFill>
          <a:ln w="12700">
            <a:solidFill>
              <a:srgbClr val="1A7A3C"/>
            </a:solidFill>
            <a:prstDash val="solid"/>
          </a:ln>
        </p:spPr>
      </p:sp>
      <p:sp>
        <p:nvSpPr>
          <p:cNvPr id="28" name="Text 23"/>
          <p:cNvSpPr/>
          <p:nvPr/>
        </p:nvSpPr>
        <p:spPr>
          <a:xfrm>
            <a:off x="5285232" y="2743200"/>
            <a:ext cx="182880" cy="365760"/>
          </a:xfrm>
          <a:prstGeom prst="rect">
            <a:avLst/>
          </a:prstGeom>
          <a:noFill/>
          <a:ln/>
        </p:spPr>
        <p:txBody>
          <a:bodyPr wrap="square" lIns="0" tIns="0" rIns="0" bIns="0" rtlCol="0" anchor="ctr"/>
          <a:lstStyle/>
          <a:p>
            <a:pPr algn="ctr" indent="0" marL="0">
              <a:buNone/>
            </a:pPr>
            <a:r>
              <a:rPr lang="en-US" sz="1400" dirty="0">
                <a:solidFill>
                  <a:srgbClr val="00E676"/>
                </a:solidFill>
              </a:rPr>
              <a:t>→</a:t>
            </a:r>
            <a:endParaRPr lang="en-US" sz="1400" dirty="0"/>
          </a:p>
        </p:txBody>
      </p:sp>
      <p:sp>
        <p:nvSpPr>
          <p:cNvPr id="29" name="Shape 24"/>
          <p:cNvSpPr/>
          <p:nvPr/>
        </p:nvSpPr>
        <p:spPr>
          <a:xfrm>
            <a:off x="5431536" y="1371600"/>
            <a:ext cx="1554480" cy="3108960"/>
          </a:xfrm>
          <a:prstGeom prst="rect">
            <a:avLst/>
          </a:prstGeom>
          <a:solidFill>
            <a:srgbClr val="2D3240"/>
          </a:solidFill>
          <a:ln w="6350">
            <a:solidFill>
              <a:srgbClr val="3A4055"/>
            </a:solidFill>
            <a:prstDash val="solid"/>
          </a:ln>
          <a:effectLst>
            <a:outerShdw sx="100000" sy="100000" kx="0" ky="0" algn="bl" rotWithShape="0" blurRad="101600" dist="38100" dir="8100000">
              <a:srgbClr val="000000">
                <a:alpha val="18000"/>
              </a:srgbClr>
            </a:outerShdw>
          </a:effectLst>
        </p:spPr>
      </p:sp>
      <p:sp>
        <p:nvSpPr>
          <p:cNvPr id="30" name="Shape 25"/>
          <p:cNvSpPr/>
          <p:nvPr/>
        </p:nvSpPr>
        <p:spPr>
          <a:xfrm>
            <a:off x="5934456" y="1481328"/>
            <a:ext cx="548640" cy="548640"/>
          </a:xfrm>
          <a:prstGeom prst="ellipse">
            <a:avLst/>
          </a:prstGeom>
          <a:solidFill>
            <a:srgbClr val="1A7A3C"/>
          </a:solidFill>
          <a:ln w="12700">
            <a:solidFill>
              <a:srgbClr val="1A7A3C"/>
            </a:solidFill>
            <a:prstDash val="solid"/>
          </a:ln>
        </p:spPr>
      </p:sp>
      <p:sp>
        <p:nvSpPr>
          <p:cNvPr id="31" name="Text 26"/>
          <p:cNvSpPr/>
          <p:nvPr/>
        </p:nvSpPr>
        <p:spPr>
          <a:xfrm>
            <a:off x="5934456" y="148132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pic>
        <p:nvPicPr>
          <p:cNvPr id="32" name="Image 3" descr="preencoded.png">    </p:cNvPr>
          <p:cNvPicPr>
            <a:picLocks noChangeAspect="1"/>
          </p:cNvPicPr>
          <p:nvPr/>
        </p:nvPicPr>
        <p:blipFill>
          <a:blip r:embed="rId4"/>
          <a:stretch>
            <a:fillRect/>
          </a:stretch>
        </p:blipFill>
        <p:spPr>
          <a:xfrm>
            <a:off x="5980176" y="2194560"/>
            <a:ext cx="457200" cy="457200"/>
          </a:xfrm>
          <a:prstGeom prst="rect">
            <a:avLst/>
          </a:prstGeom>
        </p:spPr>
      </p:pic>
      <p:sp>
        <p:nvSpPr>
          <p:cNvPr id="33" name="Text 27"/>
          <p:cNvSpPr/>
          <p:nvPr/>
        </p:nvSpPr>
        <p:spPr>
          <a:xfrm>
            <a:off x="5522976" y="2788920"/>
            <a:ext cx="1371600" cy="365760"/>
          </a:xfrm>
          <a:prstGeom prst="rect">
            <a:avLst/>
          </a:prstGeom>
          <a:noFill/>
          <a:ln/>
        </p:spPr>
        <p:txBody>
          <a:bodyPr wrap="square" lIns="0" tIns="0" rIns="0" bIns="0" rtlCol="0" anchor="ctr"/>
          <a:lstStyle/>
          <a:p>
            <a:pPr algn="ctr" indent="0" marL="0">
              <a:buNone/>
            </a:pPr>
            <a:r>
              <a:rPr lang="en-US" sz="1100" b="1" dirty="0">
                <a:solidFill>
                  <a:srgbClr val="FFFFFF"/>
                </a:solidFill>
              </a:rPr>
              <a:t>Análisis posesión</a:t>
            </a:r>
            <a:endParaRPr lang="en-US" sz="1100" dirty="0"/>
          </a:p>
        </p:txBody>
      </p:sp>
      <p:sp>
        <p:nvSpPr>
          <p:cNvPr id="34" name="Text 28"/>
          <p:cNvSpPr/>
          <p:nvPr/>
        </p:nvSpPr>
        <p:spPr>
          <a:xfrm>
            <a:off x="5522976" y="3200400"/>
            <a:ext cx="1371600" cy="1097280"/>
          </a:xfrm>
          <a:prstGeom prst="rect">
            <a:avLst/>
          </a:prstGeom>
          <a:noFill/>
          <a:ln/>
        </p:spPr>
        <p:txBody>
          <a:bodyPr wrap="square" lIns="0" tIns="0" rIns="0" bIns="0" rtlCol="0" anchor="ctr"/>
          <a:lstStyle/>
          <a:p>
            <a:pPr algn="ctr" indent="0" marL="0">
              <a:buNone/>
            </a:pPr>
            <a:r>
              <a:rPr lang="en-US" sz="950" dirty="0">
                <a:solidFill>
                  <a:srgbClr val="8A9BB0"/>
                </a:solidFill>
              </a:rPr>
              <a:t>OpenCV identifica al jugador más cercano a la pelota y asigna la posesión.</a:t>
            </a:r>
            <a:endParaRPr lang="en-US" sz="950" dirty="0"/>
          </a:p>
        </p:txBody>
      </p:sp>
      <p:sp>
        <p:nvSpPr>
          <p:cNvPr id="35" name="Shape 29"/>
          <p:cNvSpPr/>
          <p:nvPr/>
        </p:nvSpPr>
        <p:spPr>
          <a:xfrm>
            <a:off x="7031736" y="2834640"/>
            <a:ext cx="73152" cy="256032"/>
          </a:xfrm>
          <a:prstGeom prst="rect">
            <a:avLst/>
          </a:prstGeom>
          <a:solidFill>
            <a:srgbClr val="1A7A3C"/>
          </a:solidFill>
          <a:ln w="12700">
            <a:solidFill>
              <a:srgbClr val="1A7A3C"/>
            </a:solidFill>
            <a:prstDash val="solid"/>
          </a:ln>
        </p:spPr>
      </p:sp>
      <p:sp>
        <p:nvSpPr>
          <p:cNvPr id="36" name="Text 30"/>
          <p:cNvSpPr/>
          <p:nvPr/>
        </p:nvSpPr>
        <p:spPr>
          <a:xfrm>
            <a:off x="7004304" y="2743200"/>
            <a:ext cx="182880" cy="365760"/>
          </a:xfrm>
          <a:prstGeom prst="rect">
            <a:avLst/>
          </a:prstGeom>
          <a:noFill/>
          <a:ln/>
        </p:spPr>
        <p:txBody>
          <a:bodyPr wrap="square" lIns="0" tIns="0" rIns="0" bIns="0" rtlCol="0" anchor="ctr"/>
          <a:lstStyle/>
          <a:p>
            <a:pPr algn="ctr" indent="0" marL="0">
              <a:buNone/>
            </a:pPr>
            <a:r>
              <a:rPr lang="en-US" sz="1400" dirty="0">
                <a:solidFill>
                  <a:srgbClr val="00E676"/>
                </a:solidFill>
              </a:rPr>
              <a:t>→</a:t>
            </a:r>
            <a:endParaRPr lang="en-US" sz="1400" dirty="0"/>
          </a:p>
        </p:txBody>
      </p:sp>
      <p:sp>
        <p:nvSpPr>
          <p:cNvPr id="37" name="Shape 31"/>
          <p:cNvSpPr/>
          <p:nvPr/>
        </p:nvSpPr>
        <p:spPr>
          <a:xfrm>
            <a:off x="7150608" y="1371600"/>
            <a:ext cx="1554480" cy="3108960"/>
          </a:xfrm>
          <a:prstGeom prst="rect">
            <a:avLst/>
          </a:prstGeom>
          <a:solidFill>
            <a:srgbClr val="2D3240"/>
          </a:solidFill>
          <a:ln w="6350">
            <a:solidFill>
              <a:srgbClr val="3A4055"/>
            </a:solidFill>
            <a:prstDash val="solid"/>
          </a:ln>
          <a:effectLst>
            <a:outerShdw sx="100000" sy="100000" kx="0" ky="0" algn="bl" rotWithShape="0" blurRad="101600" dist="38100" dir="8100000">
              <a:srgbClr val="000000">
                <a:alpha val="18000"/>
              </a:srgbClr>
            </a:outerShdw>
          </a:effectLst>
        </p:spPr>
      </p:sp>
      <p:sp>
        <p:nvSpPr>
          <p:cNvPr id="38" name="Shape 32"/>
          <p:cNvSpPr/>
          <p:nvPr/>
        </p:nvSpPr>
        <p:spPr>
          <a:xfrm>
            <a:off x="7653528" y="1481328"/>
            <a:ext cx="548640" cy="548640"/>
          </a:xfrm>
          <a:prstGeom prst="ellipse">
            <a:avLst/>
          </a:prstGeom>
          <a:solidFill>
            <a:srgbClr val="1A7A3C"/>
          </a:solidFill>
          <a:ln w="12700">
            <a:solidFill>
              <a:srgbClr val="1A7A3C"/>
            </a:solidFill>
            <a:prstDash val="solid"/>
          </a:ln>
        </p:spPr>
      </p:sp>
      <p:sp>
        <p:nvSpPr>
          <p:cNvPr id="39" name="Text 33"/>
          <p:cNvSpPr/>
          <p:nvPr/>
        </p:nvSpPr>
        <p:spPr>
          <a:xfrm>
            <a:off x="7653528" y="148132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pic>
        <p:nvPicPr>
          <p:cNvPr id="40" name="Image 4" descr="preencoded.png">    </p:cNvPr>
          <p:cNvPicPr>
            <a:picLocks noChangeAspect="1"/>
          </p:cNvPicPr>
          <p:nvPr/>
        </p:nvPicPr>
        <p:blipFill>
          <a:blip r:embed="rId5"/>
          <a:stretch>
            <a:fillRect/>
          </a:stretch>
        </p:blipFill>
        <p:spPr>
          <a:xfrm>
            <a:off x="7699248" y="2194560"/>
            <a:ext cx="457200" cy="457200"/>
          </a:xfrm>
          <a:prstGeom prst="rect">
            <a:avLst/>
          </a:prstGeom>
        </p:spPr>
      </p:pic>
      <p:sp>
        <p:nvSpPr>
          <p:cNvPr id="41" name="Text 34"/>
          <p:cNvSpPr/>
          <p:nvPr/>
        </p:nvSpPr>
        <p:spPr>
          <a:xfrm>
            <a:off x="7242048" y="2788920"/>
            <a:ext cx="1371600" cy="365760"/>
          </a:xfrm>
          <a:prstGeom prst="rect">
            <a:avLst/>
          </a:prstGeom>
          <a:noFill/>
          <a:ln/>
        </p:spPr>
        <p:txBody>
          <a:bodyPr wrap="square" lIns="0" tIns="0" rIns="0" bIns="0" rtlCol="0" anchor="ctr"/>
          <a:lstStyle/>
          <a:p>
            <a:pPr algn="ctr" indent="0" marL="0">
              <a:buNone/>
            </a:pPr>
            <a:r>
              <a:rPr lang="en-US" sz="1100" b="1" dirty="0">
                <a:solidFill>
                  <a:srgbClr val="FFFFFF"/>
                </a:solidFill>
              </a:rPr>
              <a:t>Resultados</a:t>
            </a:r>
            <a:endParaRPr lang="en-US" sz="1100" dirty="0"/>
          </a:p>
        </p:txBody>
      </p:sp>
      <p:sp>
        <p:nvSpPr>
          <p:cNvPr id="42" name="Text 35"/>
          <p:cNvSpPr/>
          <p:nvPr/>
        </p:nvSpPr>
        <p:spPr>
          <a:xfrm>
            <a:off x="7242048" y="3200400"/>
            <a:ext cx="1371600" cy="1097280"/>
          </a:xfrm>
          <a:prstGeom prst="rect">
            <a:avLst/>
          </a:prstGeom>
          <a:noFill/>
          <a:ln/>
        </p:spPr>
        <p:txBody>
          <a:bodyPr wrap="square" lIns="0" tIns="0" rIns="0" bIns="0" rtlCol="0" anchor="ctr"/>
          <a:lstStyle/>
          <a:p>
            <a:pPr algn="ctr" indent="0" marL="0">
              <a:buNone/>
            </a:pPr>
            <a:r>
              <a:rPr lang="en-US" sz="950" dirty="0">
                <a:solidFill>
                  <a:srgbClr val="8A9BB0"/>
                </a:solidFill>
              </a:rPr>
              <a:t>Se genera el video anotado, el timeline de eventos y el dashboard de posesión.</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365760" y="228600"/>
            <a:ext cx="1280160" cy="256032"/>
          </a:xfrm>
          <a:prstGeom prst="rect">
            <a:avLst>
              <a:gd name="adj" fmla="val 14286"/>
            </a:avLst>
          </a:prstGeom>
          <a:solidFill>
            <a:srgbClr val="1A7A3C"/>
          </a:solidFill>
          <a:ln w="12700">
            <a:solidFill>
              <a:srgbClr val="1A7A3C"/>
            </a:solidFill>
            <a:prstDash val="solid"/>
          </a:ln>
        </p:spPr>
      </p:sp>
      <p:sp>
        <p:nvSpPr>
          <p:cNvPr id="3" name="Text 1"/>
          <p:cNvSpPr/>
          <p:nvPr/>
        </p:nvSpPr>
        <p:spPr>
          <a:xfrm>
            <a:off x="365760" y="228600"/>
            <a:ext cx="1280160" cy="256032"/>
          </a:xfrm>
          <a:prstGeom prst="rect">
            <a:avLst/>
          </a:prstGeom>
          <a:noFill/>
          <a:ln/>
        </p:spPr>
        <p:txBody>
          <a:bodyPr wrap="square" lIns="0" tIns="0" rIns="0" bIns="0" rtlCol="0" anchor="ctr"/>
          <a:lstStyle/>
          <a:p>
            <a:pPr algn="ctr" indent="0" marL="0">
              <a:buNone/>
            </a:pPr>
            <a:r>
              <a:rPr lang="en-US" sz="900" b="1" dirty="0">
                <a:solidFill>
                  <a:srgbClr val="FFFFFF"/>
                </a:solidFill>
              </a:rPr>
              <a:t>MODELO IA</a:t>
            </a:r>
            <a:endParaRPr lang="en-US" sz="900" dirty="0"/>
          </a:p>
        </p:txBody>
      </p:sp>
      <p:sp>
        <p:nvSpPr>
          <p:cNvPr id="4" name="Text 2"/>
          <p:cNvSpPr/>
          <p:nvPr/>
        </p:nvSpPr>
        <p:spPr>
          <a:xfrm>
            <a:off x="365760" y="548640"/>
            <a:ext cx="8412480" cy="594360"/>
          </a:xfrm>
          <a:prstGeom prst="rect">
            <a:avLst/>
          </a:prstGeom>
          <a:noFill/>
          <a:ln/>
        </p:spPr>
        <p:txBody>
          <a:bodyPr wrap="square" lIns="0" tIns="0" rIns="0" bIns="0" rtlCol="0" anchor="ctr"/>
          <a:lstStyle/>
          <a:p>
            <a:pPr indent="0" marL="0">
              <a:buNone/>
            </a:pPr>
            <a:r>
              <a:rPr lang="en-US" sz="3400" b="1" dirty="0">
                <a:solidFill>
                  <a:srgbClr val="FFFFFF"/>
                </a:solidFill>
                <a:latin typeface="Arial Black" pitchFamily="34" charset="0"/>
                <a:ea typeface="Arial Black" pitchFamily="34" charset="-122"/>
                <a:cs typeface="Arial Black" pitchFamily="34" charset="-120"/>
              </a:rPr>
              <a:t>Anotando el dataset en Roboflow</a:t>
            </a:r>
            <a:endParaRPr lang="en-US" sz="3400" dirty="0"/>
          </a:p>
        </p:txBody>
      </p:sp>
      <p:sp>
        <p:nvSpPr>
          <p:cNvPr id="5" name="Text 3"/>
          <p:cNvSpPr/>
          <p:nvPr/>
        </p:nvSpPr>
        <p:spPr>
          <a:xfrm>
            <a:off x="365760" y="1170432"/>
            <a:ext cx="8412480" cy="320040"/>
          </a:xfrm>
          <a:prstGeom prst="rect">
            <a:avLst/>
          </a:prstGeom>
          <a:noFill/>
          <a:ln/>
        </p:spPr>
        <p:txBody>
          <a:bodyPr wrap="square" lIns="0" tIns="0" rIns="0" bIns="0" rtlCol="0" anchor="ctr"/>
          <a:lstStyle/>
          <a:p>
            <a:pPr indent="0" marL="0">
              <a:buNone/>
            </a:pPr>
            <a:r>
              <a:rPr lang="en-US" sz="1100" dirty="0">
                <a:solidFill>
                  <a:srgbClr val="8A9BB0"/>
                </a:solidFill>
              </a:rPr>
              <a:t>Cada formación se anota con un bounding box. YOLO aprende a detectar el patrón visual de cada una.</a:t>
            </a:r>
            <a:endParaRPr lang="en-US" sz="1100" dirty="0"/>
          </a:p>
        </p:txBody>
      </p:sp>
      <p:sp>
        <p:nvSpPr>
          <p:cNvPr id="6" name="Shape 4"/>
          <p:cNvSpPr/>
          <p:nvPr/>
        </p:nvSpPr>
        <p:spPr>
          <a:xfrm>
            <a:off x="274320" y="1600200"/>
            <a:ext cx="3931920" cy="2020824"/>
          </a:xfrm>
          <a:prstGeom prst="rect">
            <a:avLst/>
          </a:prstGeom>
          <a:solidFill>
            <a:srgbClr val="2D3240"/>
          </a:solidFill>
          <a:ln w="12700">
            <a:solidFill>
              <a:srgbClr val="F39C12"/>
            </a:solidFill>
            <a:prstDash val="solid"/>
          </a:ln>
          <a:effectLst>
            <a:outerShdw sx="100000" sy="100000" kx="0" ky="0" algn="bl" rotWithShape="0" blurRad="101600" dist="38100" dir="8100000">
              <a:srgbClr val="000000">
                <a:alpha val="18000"/>
              </a:srgbClr>
            </a:outerShdw>
          </a:effectLst>
        </p:spPr>
      </p:sp>
      <p:pic>
        <p:nvPicPr>
          <p:cNvPr id="7" name="Image 0" descr="/home/claude/roboflow_pelota.png">    </p:cNvPr>
          <p:cNvPicPr>
            <a:picLocks noChangeAspect="1"/>
          </p:cNvPicPr>
          <p:nvPr/>
        </p:nvPicPr>
        <p:blipFill>
          <a:blip r:embed="rId1"/>
          <a:srcRect l="0" r="0" t="0" b="0"/>
          <a:stretch/>
        </p:blipFill>
        <p:spPr>
          <a:xfrm>
            <a:off x="329184" y="1655064"/>
            <a:ext cx="3822192" cy="1636776"/>
          </a:xfrm>
          <a:prstGeom prst="rect">
            <a:avLst/>
          </a:prstGeom>
        </p:spPr>
      </p:pic>
      <p:sp>
        <p:nvSpPr>
          <p:cNvPr id="8" name="Shape 5"/>
          <p:cNvSpPr/>
          <p:nvPr/>
        </p:nvSpPr>
        <p:spPr>
          <a:xfrm>
            <a:off x="274320" y="3291840"/>
            <a:ext cx="3931920" cy="274320"/>
          </a:xfrm>
          <a:prstGeom prst="rect">
            <a:avLst/>
          </a:prstGeom>
          <a:solidFill>
            <a:srgbClr val="F39C12"/>
          </a:solidFill>
          <a:ln w="12700">
            <a:solidFill>
              <a:srgbClr val="F39C12"/>
            </a:solidFill>
            <a:prstDash val="solid"/>
          </a:ln>
        </p:spPr>
      </p:sp>
      <p:sp>
        <p:nvSpPr>
          <p:cNvPr id="9" name="Text 6"/>
          <p:cNvSpPr/>
          <p:nvPr/>
        </p:nvSpPr>
        <p:spPr>
          <a:xfrm>
            <a:off x="274320" y="3291840"/>
            <a:ext cx="3931920" cy="274320"/>
          </a:xfrm>
          <a:prstGeom prst="rect">
            <a:avLst/>
          </a:prstGeom>
          <a:noFill/>
          <a:ln/>
        </p:spPr>
        <p:txBody>
          <a:bodyPr wrap="square" lIns="0" tIns="0" rIns="0" bIns="0" rtlCol="0" anchor="ctr"/>
          <a:lstStyle/>
          <a:p>
            <a:pPr algn="ctr" indent="0" marL="0">
              <a:buNone/>
            </a:pPr>
            <a:r>
              <a:rPr lang="en-US" sz="1100" b="1" dirty="0">
                <a:solidFill>
                  <a:srgbClr val="FFFFFF"/>
                </a:solidFill>
              </a:rPr>
              <a:t>Pelota</a:t>
            </a:r>
            <a:endParaRPr lang="en-US" sz="1100" dirty="0"/>
          </a:p>
        </p:txBody>
      </p:sp>
      <p:sp>
        <p:nvSpPr>
          <p:cNvPr id="10" name="Shape 7"/>
          <p:cNvSpPr/>
          <p:nvPr/>
        </p:nvSpPr>
        <p:spPr>
          <a:xfrm>
            <a:off x="4434840" y="1600200"/>
            <a:ext cx="3931920" cy="2020824"/>
          </a:xfrm>
          <a:prstGeom prst="rect">
            <a:avLst/>
          </a:prstGeom>
          <a:solidFill>
            <a:srgbClr val="2D3240"/>
          </a:solidFill>
          <a:ln w="12700">
            <a:solidFill>
              <a:srgbClr val="3498DB"/>
            </a:solidFill>
            <a:prstDash val="solid"/>
          </a:ln>
          <a:effectLst>
            <a:outerShdw sx="100000" sy="100000" kx="0" ky="0" algn="bl" rotWithShape="0" blurRad="101600" dist="38100" dir="8100000">
              <a:srgbClr val="000000">
                <a:alpha val="18000"/>
              </a:srgbClr>
            </a:outerShdw>
          </a:effectLst>
        </p:spPr>
      </p:sp>
      <p:pic>
        <p:nvPicPr>
          <p:cNvPr id="11" name="Image 1" descr="/home/claude/roboflow_scrum.png">    </p:cNvPr>
          <p:cNvPicPr>
            <a:picLocks noChangeAspect="1"/>
          </p:cNvPicPr>
          <p:nvPr/>
        </p:nvPicPr>
        <p:blipFill>
          <a:blip r:embed="rId2"/>
          <a:srcRect l="0" r="0" t="0" b="0"/>
          <a:stretch/>
        </p:blipFill>
        <p:spPr>
          <a:xfrm>
            <a:off x="4489704" y="1655064"/>
            <a:ext cx="3822192" cy="1636776"/>
          </a:xfrm>
          <a:prstGeom prst="rect">
            <a:avLst/>
          </a:prstGeom>
        </p:spPr>
      </p:pic>
      <p:sp>
        <p:nvSpPr>
          <p:cNvPr id="12" name="Shape 8"/>
          <p:cNvSpPr/>
          <p:nvPr/>
        </p:nvSpPr>
        <p:spPr>
          <a:xfrm>
            <a:off x="4434840" y="3291840"/>
            <a:ext cx="3931920" cy="274320"/>
          </a:xfrm>
          <a:prstGeom prst="rect">
            <a:avLst/>
          </a:prstGeom>
          <a:solidFill>
            <a:srgbClr val="3498DB"/>
          </a:solidFill>
          <a:ln w="12700">
            <a:solidFill>
              <a:srgbClr val="3498DB"/>
            </a:solidFill>
            <a:prstDash val="solid"/>
          </a:ln>
        </p:spPr>
      </p:sp>
      <p:sp>
        <p:nvSpPr>
          <p:cNvPr id="13" name="Text 9"/>
          <p:cNvSpPr/>
          <p:nvPr/>
        </p:nvSpPr>
        <p:spPr>
          <a:xfrm>
            <a:off x="4434840" y="3291840"/>
            <a:ext cx="3931920" cy="274320"/>
          </a:xfrm>
          <a:prstGeom prst="rect">
            <a:avLst/>
          </a:prstGeom>
          <a:noFill/>
          <a:ln/>
        </p:spPr>
        <p:txBody>
          <a:bodyPr wrap="square" lIns="0" tIns="0" rIns="0" bIns="0" rtlCol="0" anchor="ctr"/>
          <a:lstStyle/>
          <a:p>
            <a:pPr algn="ctr" indent="0" marL="0">
              <a:buNone/>
            </a:pPr>
            <a:r>
              <a:rPr lang="en-US" sz="1100" b="1" dirty="0">
                <a:solidFill>
                  <a:srgbClr val="FFFFFF"/>
                </a:solidFill>
              </a:rPr>
              <a:t>Scrum</a:t>
            </a:r>
            <a:endParaRPr lang="en-US" sz="1100" dirty="0"/>
          </a:p>
        </p:txBody>
      </p:sp>
      <p:sp>
        <p:nvSpPr>
          <p:cNvPr id="14" name="Shape 10"/>
          <p:cNvSpPr/>
          <p:nvPr/>
        </p:nvSpPr>
        <p:spPr>
          <a:xfrm>
            <a:off x="274320" y="3401568"/>
            <a:ext cx="3931920" cy="2020824"/>
          </a:xfrm>
          <a:prstGeom prst="rect">
            <a:avLst/>
          </a:prstGeom>
          <a:solidFill>
            <a:srgbClr val="2D3240"/>
          </a:solidFill>
          <a:ln w="12700">
            <a:solidFill>
              <a:srgbClr val="00E676"/>
            </a:solidFill>
            <a:prstDash val="solid"/>
          </a:ln>
          <a:effectLst>
            <a:outerShdw sx="100000" sy="100000" kx="0" ky="0" algn="bl" rotWithShape="0" blurRad="101600" dist="38100" dir="8100000">
              <a:srgbClr val="000000">
                <a:alpha val="18000"/>
              </a:srgbClr>
            </a:outerShdw>
          </a:effectLst>
        </p:spPr>
      </p:sp>
      <p:pic>
        <p:nvPicPr>
          <p:cNvPr id="15" name="Image 2" descr="/home/claude/roboflow_line.png">    </p:cNvPr>
          <p:cNvPicPr>
            <a:picLocks noChangeAspect="1"/>
          </p:cNvPicPr>
          <p:nvPr/>
        </p:nvPicPr>
        <p:blipFill>
          <a:blip r:embed="rId3"/>
          <a:srcRect l="0" r="0" t="0" b="0"/>
          <a:stretch/>
        </p:blipFill>
        <p:spPr>
          <a:xfrm>
            <a:off x="329184" y="3456432"/>
            <a:ext cx="3822192" cy="1636776"/>
          </a:xfrm>
          <a:prstGeom prst="rect">
            <a:avLst/>
          </a:prstGeom>
        </p:spPr>
      </p:pic>
      <p:sp>
        <p:nvSpPr>
          <p:cNvPr id="16" name="Shape 11"/>
          <p:cNvSpPr/>
          <p:nvPr/>
        </p:nvSpPr>
        <p:spPr>
          <a:xfrm>
            <a:off x="274320" y="5093208"/>
            <a:ext cx="3931920" cy="274320"/>
          </a:xfrm>
          <a:prstGeom prst="rect">
            <a:avLst/>
          </a:prstGeom>
          <a:solidFill>
            <a:srgbClr val="00E676"/>
          </a:solidFill>
          <a:ln w="12700">
            <a:solidFill>
              <a:srgbClr val="00E676"/>
            </a:solidFill>
            <a:prstDash val="solid"/>
          </a:ln>
        </p:spPr>
      </p:sp>
      <p:sp>
        <p:nvSpPr>
          <p:cNvPr id="17" name="Text 12"/>
          <p:cNvSpPr/>
          <p:nvPr/>
        </p:nvSpPr>
        <p:spPr>
          <a:xfrm>
            <a:off x="274320" y="5093208"/>
            <a:ext cx="3931920" cy="274320"/>
          </a:xfrm>
          <a:prstGeom prst="rect">
            <a:avLst/>
          </a:prstGeom>
          <a:noFill/>
          <a:ln/>
        </p:spPr>
        <p:txBody>
          <a:bodyPr wrap="square" lIns="0" tIns="0" rIns="0" bIns="0" rtlCol="0" anchor="ctr"/>
          <a:lstStyle/>
          <a:p>
            <a:pPr algn="ctr" indent="0" marL="0">
              <a:buNone/>
            </a:pPr>
            <a:r>
              <a:rPr lang="en-US" sz="1100" b="1" dirty="0">
                <a:solidFill>
                  <a:srgbClr val="FFFFFF"/>
                </a:solidFill>
              </a:rPr>
              <a:t>Line-Out</a:t>
            </a:r>
            <a:endParaRPr lang="en-US" sz="1100" dirty="0"/>
          </a:p>
        </p:txBody>
      </p:sp>
      <p:sp>
        <p:nvSpPr>
          <p:cNvPr id="18" name="Shape 13"/>
          <p:cNvSpPr/>
          <p:nvPr/>
        </p:nvSpPr>
        <p:spPr>
          <a:xfrm>
            <a:off x="4434840" y="3401568"/>
            <a:ext cx="3931920" cy="2020824"/>
          </a:xfrm>
          <a:prstGeom prst="rect">
            <a:avLst/>
          </a:prstGeom>
          <a:solidFill>
            <a:srgbClr val="2D3240"/>
          </a:solidFill>
          <a:ln w="12700">
            <a:solidFill>
              <a:srgbClr val="E67E22"/>
            </a:solidFill>
            <a:prstDash val="solid"/>
          </a:ln>
          <a:effectLst>
            <a:outerShdw sx="100000" sy="100000" kx="0" ky="0" algn="bl" rotWithShape="0" blurRad="101600" dist="38100" dir="8100000">
              <a:srgbClr val="000000">
                <a:alpha val="18000"/>
              </a:srgbClr>
            </a:outerShdw>
          </a:effectLst>
        </p:spPr>
      </p:sp>
      <p:pic>
        <p:nvPicPr>
          <p:cNvPr id="19" name="Image 3" descr="/home/claude/roboflow_salida.png">    </p:cNvPr>
          <p:cNvPicPr>
            <a:picLocks noChangeAspect="1"/>
          </p:cNvPicPr>
          <p:nvPr/>
        </p:nvPicPr>
        <p:blipFill>
          <a:blip r:embed="rId4"/>
          <a:srcRect l="0" r="0" t="0" b="0"/>
          <a:stretch/>
        </p:blipFill>
        <p:spPr>
          <a:xfrm>
            <a:off x="4489704" y="3456432"/>
            <a:ext cx="3822192" cy="1636776"/>
          </a:xfrm>
          <a:prstGeom prst="rect">
            <a:avLst/>
          </a:prstGeom>
        </p:spPr>
      </p:pic>
      <p:sp>
        <p:nvSpPr>
          <p:cNvPr id="20" name="Shape 14"/>
          <p:cNvSpPr/>
          <p:nvPr/>
        </p:nvSpPr>
        <p:spPr>
          <a:xfrm>
            <a:off x="4434840" y="5093208"/>
            <a:ext cx="3931920" cy="274320"/>
          </a:xfrm>
          <a:prstGeom prst="rect">
            <a:avLst/>
          </a:prstGeom>
          <a:solidFill>
            <a:srgbClr val="E67E22"/>
          </a:solidFill>
          <a:ln w="12700">
            <a:solidFill>
              <a:srgbClr val="E67E22"/>
            </a:solidFill>
            <a:prstDash val="solid"/>
          </a:ln>
        </p:spPr>
      </p:sp>
      <p:sp>
        <p:nvSpPr>
          <p:cNvPr id="21" name="Text 15"/>
          <p:cNvSpPr/>
          <p:nvPr/>
        </p:nvSpPr>
        <p:spPr>
          <a:xfrm>
            <a:off x="4434840" y="5093208"/>
            <a:ext cx="3931920" cy="274320"/>
          </a:xfrm>
          <a:prstGeom prst="rect">
            <a:avLst/>
          </a:prstGeom>
          <a:noFill/>
          <a:ln/>
        </p:spPr>
        <p:txBody>
          <a:bodyPr wrap="square" lIns="0" tIns="0" rIns="0" bIns="0" rtlCol="0" anchor="ctr"/>
          <a:lstStyle/>
          <a:p>
            <a:pPr algn="ctr" indent="0" marL="0">
              <a:buNone/>
            </a:pPr>
            <a:r>
              <a:rPr lang="en-US" sz="1100" b="1" dirty="0">
                <a:solidFill>
                  <a:srgbClr val="FFFFFF"/>
                </a:solidFill>
              </a:rPr>
              <a:t>Salida / Recepción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C0F"/>
        </a:solidFill>
      </p:bgPr>
    </p:bg>
    <p:spTree>
      <p:nvGrpSpPr>
        <p:cNvPr id="1" name=""/>
        <p:cNvGrpSpPr/>
        <p:nvPr/>
      </p:nvGrpSpPr>
      <p:grpSpPr>
        <a:xfrm>
          <a:off x="0" y="0"/>
          <a:ext cx="0" cy="0"/>
          <a:chOff x="0" y="0"/>
          <a:chExt cx="0" cy="0"/>
        </a:xfrm>
      </p:grpSpPr>
      <p:sp>
        <p:nvSpPr>
          <p:cNvPr id="2" name="Shape 0"/>
          <p:cNvSpPr/>
          <p:nvPr/>
        </p:nvSpPr>
        <p:spPr>
          <a:xfrm>
            <a:off x="365760" y="228600"/>
            <a:ext cx="1280160" cy="256032"/>
          </a:xfrm>
          <a:prstGeom prst="rect">
            <a:avLst>
              <a:gd name="adj" fmla="val 14286"/>
            </a:avLst>
          </a:prstGeom>
          <a:solidFill>
            <a:srgbClr val="1A7A3C"/>
          </a:solidFill>
          <a:ln w="12700">
            <a:solidFill>
              <a:srgbClr val="1A7A3C"/>
            </a:solidFill>
            <a:prstDash val="solid"/>
          </a:ln>
        </p:spPr>
      </p:sp>
      <p:sp>
        <p:nvSpPr>
          <p:cNvPr id="3" name="Text 1"/>
          <p:cNvSpPr/>
          <p:nvPr/>
        </p:nvSpPr>
        <p:spPr>
          <a:xfrm>
            <a:off x="365760" y="228600"/>
            <a:ext cx="1280160" cy="256032"/>
          </a:xfrm>
          <a:prstGeom prst="rect">
            <a:avLst/>
          </a:prstGeom>
          <a:noFill/>
          <a:ln/>
        </p:spPr>
        <p:txBody>
          <a:bodyPr wrap="square" lIns="0" tIns="0" rIns="0" bIns="0" rtlCol="0" anchor="ctr"/>
          <a:lstStyle/>
          <a:p>
            <a:pPr algn="ctr" indent="0" marL="0">
              <a:buNone/>
            </a:pPr>
            <a:r>
              <a:rPr lang="en-US" sz="900" b="1" dirty="0">
                <a:solidFill>
                  <a:srgbClr val="FFFFFF"/>
                </a:solidFill>
              </a:rPr>
              <a:t>POSESIÓN</a:t>
            </a:r>
            <a:endParaRPr lang="en-US" sz="900" dirty="0"/>
          </a:p>
        </p:txBody>
      </p:sp>
      <p:sp>
        <p:nvSpPr>
          <p:cNvPr id="4" name="Text 2"/>
          <p:cNvSpPr/>
          <p:nvPr/>
        </p:nvSpPr>
        <p:spPr>
          <a:xfrm>
            <a:off x="365760" y="548640"/>
            <a:ext cx="8412480" cy="594360"/>
          </a:xfrm>
          <a:prstGeom prst="rect">
            <a:avLst/>
          </a:prstGeom>
          <a:noFill/>
          <a:ln/>
        </p:spPr>
        <p:txBody>
          <a:bodyPr wrap="square" lIns="0" tIns="0" rIns="0" bIns="0" rtlCol="0" anchor="ctr"/>
          <a:lstStyle/>
          <a:p>
            <a:pPr indent="0" marL="0">
              <a:buNone/>
            </a:pPr>
            <a:r>
              <a:rPr lang="en-US" sz="3600" b="1" dirty="0">
                <a:solidFill>
                  <a:srgbClr val="FFFFFF"/>
                </a:solidFill>
                <a:latin typeface="Arial Black" pitchFamily="34" charset="0"/>
                <a:ea typeface="Arial Black" pitchFamily="34" charset="-122"/>
                <a:cs typeface="Arial Black" pitchFamily="34" charset="-120"/>
              </a:rPr>
              <a:t>Análisis de posesión</a:t>
            </a:r>
            <a:endParaRPr lang="en-US" sz="3600" dirty="0"/>
          </a:p>
        </p:txBody>
      </p:sp>
      <p:sp>
        <p:nvSpPr>
          <p:cNvPr id="5" name="Shape 3"/>
          <p:cNvSpPr/>
          <p:nvPr/>
        </p:nvSpPr>
        <p:spPr>
          <a:xfrm>
            <a:off x="365760" y="1417320"/>
            <a:ext cx="1920240" cy="1737360"/>
          </a:xfrm>
          <a:prstGeom prst="rect">
            <a:avLst/>
          </a:prstGeom>
          <a:solidFill>
            <a:srgbClr val="2D3240"/>
          </a:solidFill>
          <a:ln w="6350">
            <a:solidFill>
              <a:srgbClr val="1A7A3C"/>
            </a:solidFill>
            <a:prstDash val="solid"/>
          </a:ln>
          <a:effectLst>
            <a:outerShdw sx="100000" sy="100000" kx="0" ky="0" algn="bl" rotWithShape="0" blurRad="101600" dist="38100" dir="8100000">
              <a:srgbClr val="000000">
                <a:alpha val="18000"/>
              </a:srgbClr>
            </a:outerShdw>
          </a:effectLst>
        </p:spPr>
      </p:sp>
      <p:sp>
        <p:nvSpPr>
          <p:cNvPr id="6" name="Text 4"/>
          <p:cNvSpPr/>
          <p:nvPr/>
        </p:nvSpPr>
        <p:spPr>
          <a:xfrm>
            <a:off x="365760" y="1417320"/>
            <a:ext cx="1920240" cy="457200"/>
          </a:xfrm>
          <a:prstGeom prst="rect">
            <a:avLst/>
          </a:prstGeom>
          <a:noFill/>
          <a:ln/>
        </p:spPr>
        <p:txBody>
          <a:bodyPr wrap="square" lIns="0" tIns="0" rIns="0" bIns="0" rtlCol="0" anchor="ctr"/>
          <a:lstStyle/>
          <a:p>
            <a:pPr algn="ctr" indent="0" marL="0">
              <a:buNone/>
            </a:pPr>
            <a:r>
              <a:rPr lang="en-US" sz="2800" b="1" dirty="0">
                <a:solidFill>
                  <a:srgbClr val="1A7A3C"/>
                </a:solidFill>
                <a:latin typeface="Arial Black" pitchFamily="34" charset="0"/>
                <a:ea typeface="Arial Black" pitchFamily="34" charset="-122"/>
                <a:cs typeface="Arial Black" pitchFamily="34" charset="-120"/>
              </a:rPr>
              <a:t>1</a:t>
            </a:r>
            <a:endParaRPr lang="en-US" sz="2800" dirty="0"/>
          </a:p>
        </p:txBody>
      </p:sp>
      <p:sp>
        <p:nvSpPr>
          <p:cNvPr id="7" name="Text 5"/>
          <p:cNvSpPr/>
          <p:nvPr/>
        </p:nvSpPr>
        <p:spPr>
          <a:xfrm>
            <a:off x="457200" y="1920240"/>
            <a:ext cx="1737360" cy="365760"/>
          </a:xfrm>
          <a:prstGeom prst="rect">
            <a:avLst/>
          </a:prstGeom>
          <a:noFill/>
          <a:ln/>
        </p:spPr>
        <p:txBody>
          <a:bodyPr wrap="square" lIns="0" tIns="0" rIns="0" bIns="0" rtlCol="0" anchor="ctr"/>
          <a:lstStyle/>
          <a:p>
            <a:pPr algn="ctr" indent="0" marL="0">
              <a:buNone/>
            </a:pPr>
            <a:r>
              <a:rPr lang="en-US" sz="1100" b="1" dirty="0">
                <a:solidFill>
                  <a:srgbClr val="FFFFFF"/>
                </a:solidFill>
              </a:rPr>
              <a:t>Detectar pelota</a:t>
            </a:r>
            <a:endParaRPr lang="en-US" sz="1100" dirty="0"/>
          </a:p>
        </p:txBody>
      </p:sp>
      <p:sp>
        <p:nvSpPr>
          <p:cNvPr id="8" name="Text 6"/>
          <p:cNvSpPr/>
          <p:nvPr/>
        </p:nvSpPr>
        <p:spPr>
          <a:xfrm>
            <a:off x="457200" y="2331720"/>
            <a:ext cx="1737360" cy="731520"/>
          </a:xfrm>
          <a:prstGeom prst="rect">
            <a:avLst/>
          </a:prstGeom>
          <a:noFill/>
          <a:ln/>
        </p:spPr>
        <p:txBody>
          <a:bodyPr wrap="square" lIns="0" tIns="0" rIns="0" bIns="0" rtlCol="0" anchor="ctr"/>
          <a:lstStyle/>
          <a:p>
            <a:pPr algn="ctr" indent="0" marL="0">
              <a:buNone/>
            </a:pPr>
            <a:r>
              <a:rPr lang="en-US" sz="950" dirty="0">
                <a:solidFill>
                  <a:srgbClr val="8A9BB0"/>
                </a:solidFill>
              </a:rPr>
              <a:t>YOLO localiza la pelota en el frame y obtiene su posición (x, y)</a:t>
            </a:r>
            <a:endParaRPr lang="en-US" sz="950" dirty="0"/>
          </a:p>
        </p:txBody>
      </p:sp>
      <p:sp>
        <p:nvSpPr>
          <p:cNvPr id="9" name="Text 7"/>
          <p:cNvSpPr/>
          <p:nvPr/>
        </p:nvSpPr>
        <p:spPr>
          <a:xfrm>
            <a:off x="2304288" y="2011680"/>
            <a:ext cx="201168" cy="457200"/>
          </a:xfrm>
          <a:prstGeom prst="rect">
            <a:avLst/>
          </a:prstGeom>
          <a:noFill/>
          <a:ln/>
        </p:spPr>
        <p:txBody>
          <a:bodyPr wrap="square" lIns="0" tIns="0" rIns="0" bIns="0" rtlCol="0" anchor="ctr"/>
          <a:lstStyle/>
          <a:p>
            <a:pPr algn="ctr" indent="0" marL="0">
              <a:buNone/>
            </a:pPr>
            <a:r>
              <a:rPr lang="en-US" sz="1800" dirty="0">
                <a:solidFill>
                  <a:srgbClr val="00E676"/>
                </a:solidFill>
              </a:rPr>
              <a:t>→</a:t>
            </a:r>
            <a:endParaRPr lang="en-US" sz="1800" dirty="0"/>
          </a:p>
        </p:txBody>
      </p:sp>
      <p:sp>
        <p:nvSpPr>
          <p:cNvPr id="10" name="Shape 8"/>
          <p:cNvSpPr/>
          <p:nvPr/>
        </p:nvSpPr>
        <p:spPr>
          <a:xfrm>
            <a:off x="2514600" y="1417320"/>
            <a:ext cx="1920240" cy="1737360"/>
          </a:xfrm>
          <a:prstGeom prst="rect">
            <a:avLst/>
          </a:prstGeom>
          <a:solidFill>
            <a:srgbClr val="2D3240"/>
          </a:solidFill>
          <a:ln w="6350">
            <a:solidFill>
              <a:srgbClr val="1A7A3C"/>
            </a:solidFill>
            <a:prstDash val="solid"/>
          </a:ln>
          <a:effectLst>
            <a:outerShdw sx="100000" sy="100000" kx="0" ky="0" algn="bl" rotWithShape="0" blurRad="101600" dist="38100" dir="8100000">
              <a:srgbClr val="000000">
                <a:alpha val="18000"/>
              </a:srgbClr>
            </a:outerShdw>
          </a:effectLst>
        </p:spPr>
      </p:sp>
      <p:sp>
        <p:nvSpPr>
          <p:cNvPr id="11" name="Text 9"/>
          <p:cNvSpPr/>
          <p:nvPr/>
        </p:nvSpPr>
        <p:spPr>
          <a:xfrm>
            <a:off x="2514600" y="1417320"/>
            <a:ext cx="1920240" cy="457200"/>
          </a:xfrm>
          <a:prstGeom prst="rect">
            <a:avLst/>
          </a:prstGeom>
          <a:noFill/>
          <a:ln/>
        </p:spPr>
        <p:txBody>
          <a:bodyPr wrap="square" lIns="0" tIns="0" rIns="0" bIns="0" rtlCol="0" anchor="ctr"/>
          <a:lstStyle/>
          <a:p>
            <a:pPr algn="ctr" indent="0" marL="0">
              <a:buNone/>
            </a:pPr>
            <a:r>
              <a:rPr lang="en-US" sz="2800" b="1" dirty="0">
                <a:solidFill>
                  <a:srgbClr val="1A7A3C"/>
                </a:solidFill>
                <a:latin typeface="Arial Black" pitchFamily="34" charset="0"/>
                <a:ea typeface="Arial Black" pitchFamily="34" charset="-122"/>
                <a:cs typeface="Arial Black" pitchFamily="34" charset="-120"/>
              </a:rPr>
              <a:t>2</a:t>
            </a:r>
            <a:endParaRPr lang="en-US" sz="2800" dirty="0"/>
          </a:p>
        </p:txBody>
      </p:sp>
      <p:sp>
        <p:nvSpPr>
          <p:cNvPr id="12" name="Text 10"/>
          <p:cNvSpPr/>
          <p:nvPr/>
        </p:nvSpPr>
        <p:spPr>
          <a:xfrm>
            <a:off x="2606040" y="1920240"/>
            <a:ext cx="1737360" cy="365760"/>
          </a:xfrm>
          <a:prstGeom prst="rect">
            <a:avLst/>
          </a:prstGeom>
          <a:noFill/>
          <a:ln/>
        </p:spPr>
        <p:txBody>
          <a:bodyPr wrap="square" lIns="0" tIns="0" rIns="0" bIns="0" rtlCol="0" anchor="ctr"/>
          <a:lstStyle/>
          <a:p>
            <a:pPr algn="ctr" indent="0" marL="0">
              <a:buNone/>
            </a:pPr>
            <a:r>
              <a:rPr lang="en-US" sz="1100" b="1" dirty="0">
                <a:solidFill>
                  <a:srgbClr val="FFFFFF"/>
                </a:solidFill>
              </a:rPr>
              <a:t>Jugador más cercano</a:t>
            </a:r>
            <a:endParaRPr lang="en-US" sz="1100" dirty="0"/>
          </a:p>
        </p:txBody>
      </p:sp>
      <p:sp>
        <p:nvSpPr>
          <p:cNvPr id="13" name="Text 11"/>
          <p:cNvSpPr/>
          <p:nvPr/>
        </p:nvSpPr>
        <p:spPr>
          <a:xfrm>
            <a:off x="2606040" y="2331720"/>
            <a:ext cx="1737360" cy="731520"/>
          </a:xfrm>
          <a:prstGeom prst="rect">
            <a:avLst/>
          </a:prstGeom>
          <a:noFill/>
          <a:ln/>
        </p:spPr>
        <p:txBody>
          <a:bodyPr wrap="square" lIns="0" tIns="0" rIns="0" bIns="0" rtlCol="0" anchor="ctr"/>
          <a:lstStyle/>
          <a:p>
            <a:pPr algn="ctr" indent="0" marL="0">
              <a:buNone/>
            </a:pPr>
            <a:r>
              <a:rPr lang="en-US" sz="950" dirty="0">
                <a:solidFill>
                  <a:srgbClr val="8A9BB0"/>
                </a:solidFill>
              </a:rPr>
              <a:t>OpenCV calcula el jugador en el área más próxima a la pelota</a:t>
            </a:r>
            <a:endParaRPr lang="en-US" sz="950" dirty="0"/>
          </a:p>
        </p:txBody>
      </p:sp>
      <p:sp>
        <p:nvSpPr>
          <p:cNvPr id="14" name="Text 12"/>
          <p:cNvSpPr/>
          <p:nvPr/>
        </p:nvSpPr>
        <p:spPr>
          <a:xfrm>
            <a:off x="4453128" y="2011680"/>
            <a:ext cx="201168" cy="457200"/>
          </a:xfrm>
          <a:prstGeom prst="rect">
            <a:avLst/>
          </a:prstGeom>
          <a:noFill/>
          <a:ln/>
        </p:spPr>
        <p:txBody>
          <a:bodyPr wrap="square" lIns="0" tIns="0" rIns="0" bIns="0" rtlCol="0" anchor="ctr"/>
          <a:lstStyle/>
          <a:p>
            <a:pPr algn="ctr" indent="0" marL="0">
              <a:buNone/>
            </a:pPr>
            <a:r>
              <a:rPr lang="en-US" sz="1800" dirty="0">
                <a:solidFill>
                  <a:srgbClr val="00E676"/>
                </a:solidFill>
              </a:rPr>
              <a:t>→</a:t>
            </a:r>
            <a:endParaRPr lang="en-US" sz="1800" dirty="0"/>
          </a:p>
        </p:txBody>
      </p:sp>
      <p:sp>
        <p:nvSpPr>
          <p:cNvPr id="15" name="Shape 13"/>
          <p:cNvSpPr/>
          <p:nvPr/>
        </p:nvSpPr>
        <p:spPr>
          <a:xfrm>
            <a:off x="4663440" y="1417320"/>
            <a:ext cx="1920240" cy="1737360"/>
          </a:xfrm>
          <a:prstGeom prst="rect">
            <a:avLst/>
          </a:prstGeom>
          <a:solidFill>
            <a:srgbClr val="2D3240"/>
          </a:solidFill>
          <a:ln w="6350">
            <a:solidFill>
              <a:srgbClr val="1A7A3C"/>
            </a:solidFill>
            <a:prstDash val="solid"/>
          </a:ln>
          <a:effectLst>
            <a:outerShdw sx="100000" sy="100000" kx="0" ky="0" algn="bl" rotWithShape="0" blurRad="101600" dist="38100" dir="8100000">
              <a:srgbClr val="000000">
                <a:alpha val="18000"/>
              </a:srgbClr>
            </a:outerShdw>
          </a:effectLst>
        </p:spPr>
      </p:sp>
      <p:sp>
        <p:nvSpPr>
          <p:cNvPr id="16" name="Text 14"/>
          <p:cNvSpPr/>
          <p:nvPr/>
        </p:nvSpPr>
        <p:spPr>
          <a:xfrm>
            <a:off x="4663440" y="1417320"/>
            <a:ext cx="1920240" cy="457200"/>
          </a:xfrm>
          <a:prstGeom prst="rect">
            <a:avLst/>
          </a:prstGeom>
          <a:noFill/>
          <a:ln/>
        </p:spPr>
        <p:txBody>
          <a:bodyPr wrap="square" lIns="0" tIns="0" rIns="0" bIns="0" rtlCol="0" anchor="ctr"/>
          <a:lstStyle/>
          <a:p>
            <a:pPr algn="ctr" indent="0" marL="0">
              <a:buNone/>
            </a:pPr>
            <a:r>
              <a:rPr lang="en-US" sz="2800" b="1" dirty="0">
                <a:solidFill>
                  <a:srgbClr val="1A7A3C"/>
                </a:solidFill>
                <a:latin typeface="Arial Black" pitchFamily="34" charset="0"/>
                <a:ea typeface="Arial Black" pitchFamily="34" charset="-122"/>
                <a:cs typeface="Arial Black" pitchFamily="34" charset="-120"/>
              </a:rPr>
              <a:t>3</a:t>
            </a:r>
            <a:endParaRPr lang="en-US" sz="2800" dirty="0"/>
          </a:p>
        </p:txBody>
      </p:sp>
      <p:sp>
        <p:nvSpPr>
          <p:cNvPr id="17" name="Text 15"/>
          <p:cNvSpPr/>
          <p:nvPr/>
        </p:nvSpPr>
        <p:spPr>
          <a:xfrm>
            <a:off x="4754880" y="1920240"/>
            <a:ext cx="1737360" cy="365760"/>
          </a:xfrm>
          <a:prstGeom prst="rect">
            <a:avLst/>
          </a:prstGeom>
          <a:noFill/>
          <a:ln/>
        </p:spPr>
        <p:txBody>
          <a:bodyPr wrap="square" lIns="0" tIns="0" rIns="0" bIns="0" rtlCol="0" anchor="ctr"/>
          <a:lstStyle/>
          <a:p>
            <a:pPr algn="ctr" indent="0" marL="0">
              <a:buNone/>
            </a:pPr>
            <a:r>
              <a:rPr lang="en-US" sz="1100" b="1" dirty="0">
                <a:solidFill>
                  <a:srgbClr val="FFFFFF"/>
                </a:solidFill>
              </a:rPr>
              <a:t>Analizar color</a:t>
            </a:r>
            <a:endParaRPr lang="en-US" sz="1100" dirty="0"/>
          </a:p>
        </p:txBody>
      </p:sp>
      <p:sp>
        <p:nvSpPr>
          <p:cNvPr id="18" name="Text 16"/>
          <p:cNvSpPr/>
          <p:nvPr/>
        </p:nvSpPr>
        <p:spPr>
          <a:xfrm>
            <a:off x="4754880" y="2331720"/>
            <a:ext cx="1737360" cy="731520"/>
          </a:xfrm>
          <a:prstGeom prst="rect">
            <a:avLst/>
          </a:prstGeom>
          <a:noFill/>
          <a:ln/>
        </p:spPr>
        <p:txBody>
          <a:bodyPr wrap="square" lIns="0" tIns="0" rIns="0" bIns="0" rtlCol="0" anchor="ctr"/>
          <a:lstStyle/>
          <a:p>
            <a:pPr algn="ctr" indent="0" marL="0">
              <a:buNone/>
            </a:pPr>
            <a:r>
              <a:rPr lang="en-US" sz="950" dirty="0">
                <a:solidFill>
                  <a:srgbClr val="8A9BB0"/>
                </a:solidFill>
              </a:rPr>
              <a:t>Se compara el color dominante de su camiseta con los dos equipos configurados</a:t>
            </a:r>
            <a:endParaRPr lang="en-US" sz="950" dirty="0"/>
          </a:p>
        </p:txBody>
      </p:sp>
      <p:sp>
        <p:nvSpPr>
          <p:cNvPr id="19" name="Text 17"/>
          <p:cNvSpPr/>
          <p:nvPr/>
        </p:nvSpPr>
        <p:spPr>
          <a:xfrm>
            <a:off x="6601968" y="2011680"/>
            <a:ext cx="201168" cy="457200"/>
          </a:xfrm>
          <a:prstGeom prst="rect">
            <a:avLst/>
          </a:prstGeom>
          <a:noFill/>
          <a:ln/>
        </p:spPr>
        <p:txBody>
          <a:bodyPr wrap="square" lIns="0" tIns="0" rIns="0" bIns="0" rtlCol="0" anchor="ctr"/>
          <a:lstStyle/>
          <a:p>
            <a:pPr algn="ctr" indent="0" marL="0">
              <a:buNone/>
            </a:pPr>
            <a:r>
              <a:rPr lang="en-US" sz="1800" dirty="0">
                <a:solidFill>
                  <a:srgbClr val="00E676"/>
                </a:solidFill>
              </a:rPr>
              <a:t>→</a:t>
            </a:r>
            <a:endParaRPr lang="en-US" sz="1800" dirty="0"/>
          </a:p>
        </p:txBody>
      </p:sp>
      <p:sp>
        <p:nvSpPr>
          <p:cNvPr id="20" name="Shape 18"/>
          <p:cNvSpPr/>
          <p:nvPr/>
        </p:nvSpPr>
        <p:spPr>
          <a:xfrm>
            <a:off x="6812280" y="1417320"/>
            <a:ext cx="1920240" cy="1737360"/>
          </a:xfrm>
          <a:prstGeom prst="rect">
            <a:avLst/>
          </a:prstGeom>
          <a:solidFill>
            <a:srgbClr val="2D3240"/>
          </a:solidFill>
          <a:ln w="6350">
            <a:solidFill>
              <a:srgbClr val="1A7A3C"/>
            </a:solidFill>
            <a:prstDash val="solid"/>
          </a:ln>
          <a:effectLst>
            <a:outerShdw sx="100000" sy="100000" kx="0" ky="0" algn="bl" rotWithShape="0" blurRad="101600" dist="38100" dir="8100000">
              <a:srgbClr val="000000">
                <a:alpha val="18000"/>
              </a:srgbClr>
            </a:outerShdw>
          </a:effectLst>
        </p:spPr>
      </p:sp>
      <p:sp>
        <p:nvSpPr>
          <p:cNvPr id="21" name="Text 19"/>
          <p:cNvSpPr/>
          <p:nvPr/>
        </p:nvSpPr>
        <p:spPr>
          <a:xfrm>
            <a:off x="6812280" y="1417320"/>
            <a:ext cx="1920240" cy="457200"/>
          </a:xfrm>
          <a:prstGeom prst="rect">
            <a:avLst/>
          </a:prstGeom>
          <a:noFill/>
          <a:ln/>
        </p:spPr>
        <p:txBody>
          <a:bodyPr wrap="square" lIns="0" tIns="0" rIns="0" bIns="0" rtlCol="0" anchor="ctr"/>
          <a:lstStyle/>
          <a:p>
            <a:pPr algn="ctr" indent="0" marL="0">
              <a:buNone/>
            </a:pPr>
            <a:r>
              <a:rPr lang="en-US" sz="2800" b="1" dirty="0">
                <a:solidFill>
                  <a:srgbClr val="1A7A3C"/>
                </a:solidFill>
                <a:latin typeface="Arial Black" pitchFamily="34" charset="0"/>
                <a:ea typeface="Arial Black" pitchFamily="34" charset="-122"/>
                <a:cs typeface="Arial Black" pitchFamily="34" charset="-120"/>
              </a:rPr>
              <a:t>4</a:t>
            </a:r>
            <a:endParaRPr lang="en-US" sz="2800" dirty="0"/>
          </a:p>
        </p:txBody>
      </p:sp>
      <p:sp>
        <p:nvSpPr>
          <p:cNvPr id="22" name="Text 20"/>
          <p:cNvSpPr/>
          <p:nvPr/>
        </p:nvSpPr>
        <p:spPr>
          <a:xfrm>
            <a:off x="6903720" y="1920240"/>
            <a:ext cx="1737360" cy="365760"/>
          </a:xfrm>
          <a:prstGeom prst="rect">
            <a:avLst/>
          </a:prstGeom>
          <a:noFill/>
          <a:ln/>
        </p:spPr>
        <p:txBody>
          <a:bodyPr wrap="square" lIns="0" tIns="0" rIns="0" bIns="0" rtlCol="0" anchor="ctr"/>
          <a:lstStyle/>
          <a:p>
            <a:pPr algn="ctr" indent="0" marL="0">
              <a:buNone/>
            </a:pPr>
            <a:r>
              <a:rPr lang="en-US" sz="1100" b="1" dirty="0">
                <a:solidFill>
                  <a:srgbClr val="FFFFFF"/>
                </a:solidFill>
              </a:rPr>
              <a:t>Asignar posesión</a:t>
            </a:r>
            <a:endParaRPr lang="en-US" sz="1100" dirty="0"/>
          </a:p>
        </p:txBody>
      </p:sp>
      <p:sp>
        <p:nvSpPr>
          <p:cNvPr id="23" name="Text 21"/>
          <p:cNvSpPr/>
          <p:nvPr/>
        </p:nvSpPr>
        <p:spPr>
          <a:xfrm>
            <a:off x="6903720" y="2331720"/>
            <a:ext cx="1737360" cy="731520"/>
          </a:xfrm>
          <a:prstGeom prst="rect">
            <a:avLst/>
          </a:prstGeom>
          <a:noFill/>
          <a:ln/>
        </p:spPr>
        <p:txBody>
          <a:bodyPr wrap="square" lIns="0" tIns="0" rIns="0" bIns="0" rtlCol="0" anchor="ctr"/>
          <a:lstStyle/>
          <a:p>
            <a:pPr algn="ctr" indent="0" marL="0">
              <a:buNone/>
            </a:pPr>
            <a:r>
              <a:rPr lang="en-US" sz="950" dirty="0">
                <a:solidFill>
                  <a:srgbClr val="8A9BB0"/>
                </a:solidFill>
              </a:rPr>
              <a:t>Se registra qué equipo tiene la pelota en ese segundo del partido</a:t>
            </a:r>
            <a:endParaRPr lang="en-US" sz="950" dirty="0"/>
          </a:p>
        </p:txBody>
      </p:sp>
      <p:sp>
        <p:nvSpPr>
          <p:cNvPr id="24" name="Shape 22"/>
          <p:cNvSpPr/>
          <p:nvPr/>
        </p:nvSpPr>
        <p:spPr>
          <a:xfrm>
            <a:off x="365760" y="3383280"/>
            <a:ext cx="4114800" cy="1463040"/>
          </a:xfrm>
          <a:prstGeom prst="rect">
            <a:avLst/>
          </a:prstGeom>
          <a:solidFill>
            <a:srgbClr val="2D3240"/>
          </a:solidFill>
          <a:ln w="6350">
            <a:solidFill>
              <a:srgbClr val="3A4055"/>
            </a:solidFill>
            <a:prstDash val="solid"/>
          </a:ln>
          <a:effectLst>
            <a:outerShdw sx="100000" sy="100000" kx="0" ky="0" algn="bl" rotWithShape="0" blurRad="101600" dist="38100" dir="8100000">
              <a:srgbClr val="000000">
                <a:alpha val="18000"/>
              </a:srgbClr>
            </a:outerShdw>
          </a:effectLst>
        </p:spPr>
      </p:sp>
      <p:sp>
        <p:nvSpPr>
          <p:cNvPr id="25" name="Text 23"/>
          <p:cNvSpPr/>
          <p:nvPr/>
        </p:nvSpPr>
        <p:spPr>
          <a:xfrm>
            <a:off x="502920" y="3474720"/>
            <a:ext cx="3840480" cy="347472"/>
          </a:xfrm>
          <a:prstGeom prst="rect">
            <a:avLst/>
          </a:prstGeom>
          <a:noFill/>
          <a:ln/>
        </p:spPr>
        <p:txBody>
          <a:bodyPr wrap="square" lIns="0" tIns="0" rIns="0" bIns="0" rtlCol="0" anchor="ctr"/>
          <a:lstStyle/>
          <a:p>
            <a:pPr indent="0" marL="0">
              <a:buNone/>
            </a:pPr>
            <a:r>
              <a:rPr lang="en-US" sz="1200" b="1" dirty="0">
                <a:solidFill>
                  <a:srgbClr val="00E676"/>
                </a:solidFill>
              </a:rPr>
              <a:t>Configuración previa</a:t>
            </a:r>
            <a:endParaRPr lang="en-US" sz="1200" dirty="0"/>
          </a:p>
        </p:txBody>
      </p:sp>
      <p:sp>
        <p:nvSpPr>
          <p:cNvPr id="26" name="Text 24"/>
          <p:cNvSpPr/>
          <p:nvPr/>
        </p:nvSpPr>
        <p:spPr>
          <a:xfrm>
            <a:off x="502920" y="3840480"/>
            <a:ext cx="3840480" cy="914400"/>
          </a:xfrm>
          <a:prstGeom prst="rect">
            <a:avLst/>
          </a:prstGeom>
          <a:noFill/>
          <a:ln/>
        </p:spPr>
        <p:txBody>
          <a:bodyPr wrap="square" lIns="0" tIns="0" rIns="0" bIns="0" rtlCol="0" anchor="ctr"/>
          <a:lstStyle/>
          <a:p>
            <a:pPr indent="0" marL="0">
              <a:buNone/>
            </a:pPr>
            <a:r>
              <a:rPr lang="en-US" sz="1050" dirty="0">
                <a:solidFill>
                  <a:srgbClr val="8A9BB0"/>
                </a:solidFill>
              </a:rPr>
              <a:t>Antes del análisis el entrenador elige el color de camiseta de cada equipo mediante un selector visual. El sistema usa esos colores para asignar cada frame de posesión al equipo correcto.</a:t>
            </a:r>
            <a:endParaRPr lang="en-US" sz="1050" dirty="0"/>
          </a:p>
        </p:txBody>
      </p:sp>
      <p:sp>
        <p:nvSpPr>
          <p:cNvPr id="27" name="Shape 25"/>
          <p:cNvSpPr/>
          <p:nvPr/>
        </p:nvSpPr>
        <p:spPr>
          <a:xfrm>
            <a:off x="4754880" y="3383280"/>
            <a:ext cx="4114800" cy="1463040"/>
          </a:xfrm>
          <a:prstGeom prst="rect">
            <a:avLst/>
          </a:prstGeom>
          <a:solidFill>
            <a:srgbClr val="2D3240"/>
          </a:solidFill>
          <a:ln w="6350">
            <a:solidFill>
              <a:srgbClr val="3A4055"/>
            </a:solidFill>
            <a:prstDash val="solid"/>
          </a:ln>
          <a:effectLst>
            <a:outerShdw sx="100000" sy="100000" kx="0" ky="0" algn="bl" rotWithShape="0" blurRad="101600" dist="38100" dir="8100000">
              <a:srgbClr val="000000">
                <a:alpha val="18000"/>
              </a:srgbClr>
            </a:outerShdw>
          </a:effectLst>
        </p:spPr>
      </p:sp>
      <p:sp>
        <p:nvSpPr>
          <p:cNvPr id="28" name="Text 26"/>
          <p:cNvSpPr/>
          <p:nvPr/>
        </p:nvSpPr>
        <p:spPr>
          <a:xfrm>
            <a:off x="4892040" y="3474720"/>
            <a:ext cx="3840480" cy="347472"/>
          </a:xfrm>
          <a:prstGeom prst="rect">
            <a:avLst/>
          </a:prstGeom>
          <a:noFill/>
          <a:ln/>
        </p:spPr>
        <p:txBody>
          <a:bodyPr wrap="square" lIns="0" tIns="0" rIns="0" bIns="0" rtlCol="0" anchor="ctr"/>
          <a:lstStyle/>
          <a:p>
            <a:pPr indent="0" marL="0">
              <a:buNone/>
            </a:pPr>
            <a:r>
              <a:rPr lang="en-US" sz="1200" b="1" dirty="0">
                <a:solidFill>
                  <a:srgbClr val="00E676"/>
                </a:solidFill>
              </a:rPr>
              <a:t>Dashboard de posesión</a:t>
            </a:r>
            <a:endParaRPr lang="en-US" sz="1200" dirty="0"/>
          </a:p>
        </p:txBody>
      </p:sp>
      <p:sp>
        <p:nvSpPr>
          <p:cNvPr id="29" name="Shape 27"/>
          <p:cNvSpPr/>
          <p:nvPr/>
        </p:nvSpPr>
        <p:spPr>
          <a:xfrm>
            <a:off x="4892040" y="3931920"/>
            <a:ext cx="3566160" cy="320040"/>
          </a:xfrm>
          <a:prstGeom prst="rect">
            <a:avLst/>
          </a:prstGeom>
          <a:solidFill>
            <a:srgbClr val="333333"/>
          </a:solidFill>
          <a:ln w="12700">
            <a:solidFill>
              <a:srgbClr val="444444"/>
            </a:solidFill>
            <a:prstDash val="solid"/>
          </a:ln>
        </p:spPr>
      </p:sp>
      <p:sp>
        <p:nvSpPr>
          <p:cNvPr id="30" name="Shape 28"/>
          <p:cNvSpPr/>
          <p:nvPr/>
        </p:nvSpPr>
        <p:spPr>
          <a:xfrm>
            <a:off x="4892040" y="3931920"/>
            <a:ext cx="2066544" cy="320040"/>
          </a:xfrm>
          <a:prstGeom prst="rect">
            <a:avLst/>
          </a:prstGeom>
          <a:solidFill>
            <a:srgbClr val="1A7A3C"/>
          </a:solidFill>
          <a:ln w="12700">
            <a:solidFill>
              <a:srgbClr val="1A7A3C"/>
            </a:solidFill>
            <a:prstDash val="solid"/>
          </a:ln>
        </p:spPr>
      </p:sp>
      <p:sp>
        <p:nvSpPr>
          <p:cNvPr id="31" name="Text 29"/>
          <p:cNvSpPr/>
          <p:nvPr/>
        </p:nvSpPr>
        <p:spPr>
          <a:xfrm>
            <a:off x="4892040" y="3931920"/>
            <a:ext cx="2066544" cy="320040"/>
          </a:xfrm>
          <a:prstGeom prst="rect">
            <a:avLst/>
          </a:prstGeom>
          <a:noFill/>
          <a:ln/>
        </p:spPr>
        <p:txBody>
          <a:bodyPr wrap="square" lIns="0" tIns="0" rIns="0" bIns="0" rtlCol="0" anchor="ctr"/>
          <a:lstStyle/>
          <a:p>
            <a:pPr algn="ctr" indent="0" marL="0">
              <a:buNone/>
            </a:pPr>
            <a:r>
              <a:rPr lang="en-US" sz="1000" b="1" dirty="0">
                <a:solidFill>
                  <a:srgbClr val="FFFFFF"/>
                </a:solidFill>
              </a:rPr>
              <a:t>Local  58%</a:t>
            </a:r>
            <a:endParaRPr lang="en-US" sz="1000" dirty="0"/>
          </a:p>
        </p:txBody>
      </p:sp>
      <p:sp>
        <p:nvSpPr>
          <p:cNvPr id="32" name="Text 30"/>
          <p:cNvSpPr/>
          <p:nvPr/>
        </p:nvSpPr>
        <p:spPr>
          <a:xfrm>
            <a:off x="6958584" y="3931920"/>
            <a:ext cx="1499616" cy="320040"/>
          </a:xfrm>
          <a:prstGeom prst="rect">
            <a:avLst/>
          </a:prstGeom>
          <a:noFill/>
          <a:ln/>
        </p:spPr>
        <p:txBody>
          <a:bodyPr wrap="square" lIns="0" tIns="0" rIns="0" bIns="0" rtlCol="0" anchor="ctr"/>
          <a:lstStyle/>
          <a:p>
            <a:pPr algn="ctr" indent="0" marL="0">
              <a:buNone/>
            </a:pPr>
            <a:r>
              <a:rPr lang="en-US" sz="1000" b="1" dirty="0">
                <a:solidFill>
                  <a:srgbClr val="FFFFFF"/>
                </a:solidFill>
              </a:rPr>
              <a:t>42%  Visitante</a:t>
            </a:r>
            <a:endParaRPr lang="en-US" sz="1000" dirty="0"/>
          </a:p>
        </p:txBody>
      </p:sp>
      <p:sp>
        <p:nvSpPr>
          <p:cNvPr id="33" name="Text 31"/>
          <p:cNvSpPr/>
          <p:nvPr/>
        </p:nvSpPr>
        <p:spPr>
          <a:xfrm>
            <a:off x="4892040" y="4343400"/>
            <a:ext cx="3840480" cy="411480"/>
          </a:xfrm>
          <a:prstGeom prst="rect">
            <a:avLst/>
          </a:prstGeom>
          <a:noFill/>
          <a:ln/>
        </p:spPr>
        <p:txBody>
          <a:bodyPr wrap="square" lIns="0" tIns="0" rIns="0" bIns="0" rtlCol="0" anchor="ctr"/>
          <a:lstStyle/>
          <a:p>
            <a:pPr indent="0" marL="0">
              <a:buNone/>
            </a:pPr>
            <a:r>
              <a:rPr lang="en-US" sz="950" dirty="0">
                <a:solidFill>
                  <a:srgbClr val="8A9BB0"/>
                </a:solidFill>
              </a:rPr>
              <a:t>La barra muestra el % de posesión y el timeline indica en qué períodos cada equipo dominó el partido.</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365760" y="228600"/>
            <a:ext cx="1280160" cy="256032"/>
          </a:xfrm>
          <a:prstGeom prst="rect">
            <a:avLst>
              <a:gd name="adj" fmla="val 14286"/>
            </a:avLst>
          </a:prstGeom>
          <a:solidFill>
            <a:srgbClr val="1A7A3C"/>
          </a:solidFill>
          <a:ln w="12700">
            <a:solidFill>
              <a:srgbClr val="1A7A3C"/>
            </a:solidFill>
            <a:prstDash val="solid"/>
          </a:ln>
        </p:spPr>
      </p:sp>
      <p:sp>
        <p:nvSpPr>
          <p:cNvPr id="3" name="Text 1"/>
          <p:cNvSpPr/>
          <p:nvPr/>
        </p:nvSpPr>
        <p:spPr>
          <a:xfrm>
            <a:off x="365760" y="228600"/>
            <a:ext cx="1280160" cy="256032"/>
          </a:xfrm>
          <a:prstGeom prst="rect">
            <a:avLst/>
          </a:prstGeom>
          <a:noFill/>
          <a:ln/>
        </p:spPr>
        <p:txBody>
          <a:bodyPr wrap="square" lIns="0" tIns="0" rIns="0" bIns="0" rtlCol="0" anchor="ctr"/>
          <a:lstStyle/>
          <a:p>
            <a:pPr algn="ctr" indent="0" marL="0">
              <a:buNone/>
            </a:pPr>
            <a:r>
              <a:rPr lang="en-US" sz="900" b="1" dirty="0">
                <a:solidFill>
                  <a:srgbClr val="FFFFFF"/>
                </a:solidFill>
              </a:rPr>
              <a:t>ARQUITECTURA</a:t>
            </a:r>
            <a:endParaRPr lang="en-US" sz="900" dirty="0"/>
          </a:p>
        </p:txBody>
      </p:sp>
      <p:sp>
        <p:nvSpPr>
          <p:cNvPr id="4" name="Text 2"/>
          <p:cNvSpPr/>
          <p:nvPr/>
        </p:nvSpPr>
        <p:spPr>
          <a:xfrm>
            <a:off x="365760" y="548640"/>
            <a:ext cx="8412480" cy="594360"/>
          </a:xfrm>
          <a:prstGeom prst="rect">
            <a:avLst/>
          </a:prstGeom>
          <a:noFill/>
          <a:ln/>
        </p:spPr>
        <p:txBody>
          <a:bodyPr wrap="square" lIns="0" tIns="0" rIns="0" bIns="0" rtlCol="0" anchor="ctr"/>
          <a:lstStyle/>
          <a:p>
            <a:pPr indent="0" marL="0">
              <a:buNone/>
            </a:pPr>
            <a:r>
              <a:rPr lang="en-US" sz="3600" b="1" dirty="0">
                <a:solidFill>
                  <a:srgbClr val="FFFFFF"/>
                </a:solidFill>
                <a:latin typeface="Arial Black" pitchFamily="34" charset="0"/>
                <a:ea typeface="Arial Black" pitchFamily="34" charset="-122"/>
                <a:cs typeface="Arial Black" pitchFamily="34" charset="-120"/>
              </a:rPr>
              <a:t>Diseño del sistema</a:t>
            </a:r>
            <a:endParaRPr lang="en-US" sz="3600" dirty="0"/>
          </a:p>
        </p:txBody>
      </p:sp>
      <p:sp>
        <p:nvSpPr>
          <p:cNvPr id="5" name="Shape 3"/>
          <p:cNvSpPr/>
          <p:nvPr/>
        </p:nvSpPr>
        <p:spPr>
          <a:xfrm>
            <a:off x="365760" y="1417320"/>
            <a:ext cx="64008" cy="566928"/>
          </a:xfrm>
          <a:prstGeom prst="rect">
            <a:avLst/>
          </a:prstGeom>
          <a:solidFill>
            <a:srgbClr val="1A7A3C"/>
          </a:solidFill>
          <a:ln w="12700">
            <a:solidFill>
              <a:srgbClr val="1A7A3C"/>
            </a:solidFill>
            <a:prstDash val="solid"/>
          </a:ln>
        </p:spPr>
      </p:sp>
      <p:sp>
        <p:nvSpPr>
          <p:cNvPr id="6" name="Shape 4"/>
          <p:cNvSpPr/>
          <p:nvPr/>
        </p:nvSpPr>
        <p:spPr>
          <a:xfrm>
            <a:off x="502920" y="1417320"/>
            <a:ext cx="8321040" cy="566928"/>
          </a:xfrm>
          <a:prstGeom prst="rect">
            <a:avLst/>
          </a:prstGeom>
          <a:solidFill>
            <a:srgbClr val="2D3240"/>
          </a:solidFill>
          <a:ln w="6350">
            <a:solidFill>
              <a:srgbClr val="3A4055"/>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594360" y="1481328"/>
            <a:ext cx="502920" cy="502920"/>
          </a:xfrm>
          <a:prstGeom prst="ellipse">
            <a:avLst/>
          </a:prstGeom>
          <a:solidFill>
            <a:srgbClr val="1A7A3C"/>
          </a:solidFill>
          <a:ln w="12700">
            <a:solidFill>
              <a:srgbClr val="1A7A3C"/>
            </a:solidFill>
            <a:prstDash val="solid"/>
          </a:ln>
        </p:spPr>
      </p:sp>
      <p:pic>
        <p:nvPicPr>
          <p:cNvPr id="8" name="Image 0" descr="preencoded.png">    </p:cNvPr>
          <p:cNvPicPr>
            <a:picLocks noChangeAspect="1"/>
          </p:cNvPicPr>
          <p:nvPr/>
        </p:nvPicPr>
        <p:blipFill>
          <a:blip r:embed="rId1"/>
          <a:stretch>
            <a:fillRect/>
          </a:stretch>
        </p:blipFill>
        <p:spPr>
          <a:xfrm>
            <a:off x="640080" y="1527048"/>
            <a:ext cx="411480" cy="411480"/>
          </a:xfrm>
          <a:prstGeom prst="rect">
            <a:avLst/>
          </a:prstGeom>
        </p:spPr>
      </p:pic>
      <p:sp>
        <p:nvSpPr>
          <p:cNvPr id="9" name="Text 6"/>
          <p:cNvSpPr/>
          <p:nvPr/>
        </p:nvSpPr>
        <p:spPr>
          <a:xfrm>
            <a:off x="1143000" y="1453896"/>
            <a:ext cx="1371600" cy="274320"/>
          </a:xfrm>
          <a:prstGeom prst="rect">
            <a:avLst/>
          </a:prstGeom>
          <a:noFill/>
          <a:ln/>
        </p:spPr>
        <p:txBody>
          <a:bodyPr wrap="square" lIns="0" tIns="0" rIns="0" bIns="0" rtlCol="0" anchor="ctr"/>
          <a:lstStyle/>
          <a:p>
            <a:pPr indent="0" marL="0">
              <a:buNone/>
            </a:pPr>
            <a:r>
              <a:rPr lang="en-US" sz="1200" b="1" dirty="0">
                <a:solidFill>
                  <a:srgbClr val="FFFFFF"/>
                </a:solidFill>
              </a:rPr>
              <a:t>Frontend</a:t>
            </a:r>
            <a:endParaRPr lang="en-US" sz="1200" dirty="0"/>
          </a:p>
        </p:txBody>
      </p:sp>
      <p:sp>
        <p:nvSpPr>
          <p:cNvPr id="10" name="Shape 7"/>
          <p:cNvSpPr/>
          <p:nvPr/>
        </p:nvSpPr>
        <p:spPr>
          <a:xfrm>
            <a:off x="1143000" y="1737360"/>
            <a:ext cx="1280160" cy="182880"/>
          </a:xfrm>
          <a:prstGeom prst="rect">
            <a:avLst>
              <a:gd name="adj" fmla="val 15000"/>
            </a:avLst>
          </a:prstGeom>
          <a:solidFill>
            <a:srgbClr val="1A7A3C"/>
          </a:solidFill>
          <a:ln w="12700">
            <a:solidFill>
              <a:srgbClr val="1A7A3C"/>
            </a:solidFill>
            <a:prstDash val="solid"/>
          </a:ln>
        </p:spPr>
      </p:sp>
      <p:sp>
        <p:nvSpPr>
          <p:cNvPr id="11" name="Text 8"/>
          <p:cNvSpPr/>
          <p:nvPr/>
        </p:nvSpPr>
        <p:spPr>
          <a:xfrm>
            <a:off x="1143000" y="1737360"/>
            <a:ext cx="1280160" cy="182880"/>
          </a:xfrm>
          <a:prstGeom prst="rect">
            <a:avLst/>
          </a:prstGeom>
          <a:noFill/>
          <a:ln/>
        </p:spPr>
        <p:txBody>
          <a:bodyPr wrap="square" lIns="0" tIns="0" rIns="0" bIns="0" rtlCol="0" anchor="ctr"/>
          <a:lstStyle/>
          <a:p>
            <a:pPr algn="ctr" indent="0" marL="0">
              <a:buNone/>
            </a:pPr>
            <a:r>
              <a:rPr lang="en-US" sz="800" dirty="0">
                <a:solidFill>
                  <a:srgbClr val="FFFFFF"/>
                </a:solidFill>
              </a:rPr>
              <a:t>HTML + CSS + JS</a:t>
            </a:r>
            <a:endParaRPr lang="en-US" sz="800" dirty="0"/>
          </a:p>
        </p:txBody>
      </p:sp>
      <p:sp>
        <p:nvSpPr>
          <p:cNvPr id="12" name="Text 9"/>
          <p:cNvSpPr/>
          <p:nvPr/>
        </p:nvSpPr>
        <p:spPr>
          <a:xfrm>
            <a:off x="2606040" y="1508760"/>
            <a:ext cx="6035040" cy="438912"/>
          </a:xfrm>
          <a:prstGeom prst="rect">
            <a:avLst/>
          </a:prstGeom>
          <a:noFill/>
          <a:ln/>
        </p:spPr>
        <p:txBody>
          <a:bodyPr wrap="square" lIns="0" tIns="0" rIns="0" bIns="0" rtlCol="0" anchor="ctr"/>
          <a:lstStyle/>
          <a:p>
            <a:pPr indent="0" marL="0">
              <a:buNone/>
            </a:pPr>
            <a:r>
              <a:rPr lang="en-US" sz="1050" dirty="0">
                <a:solidFill>
                  <a:srgbClr val="8A9BB0"/>
                </a:solidFill>
              </a:rPr>
              <a:t>Interfaz web: sube video, selector de colores, progreso en tiempo real, dashboard de resultados.</a:t>
            </a:r>
            <a:endParaRPr lang="en-US" sz="1050" dirty="0"/>
          </a:p>
        </p:txBody>
      </p:sp>
      <p:sp>
        <p:nvSpPr>
          <p:cNvPr id="13" name="Shape 10"/>
          <p:cNvSpPr/>
          <p:nvPr/>
        </p:nvSpPr>
        <p:spPr>
          <a:xfrm>
            <a:off x="365760" y="2103120"/>
            <a:ext cx="64008" cy="566928"/>
          </a:xfrm>
          <a:prstGeom prst="rect">
            <a:avLst/>
          </a:prstGeom>
          <a:solidFill>
            <a:srgbClr val="2E9E54"/>
          </a:solidFill>
          <a:ln w="12700">
            <a:solidFill>
              <a:srgbClr val="2E9E54"/>
            </a:solidFill>
            <a:prstDash val="solid"/>
          </a:ln>
        </p:spPr>
      </p:sp>
      <p:sp>
        <p:nvSpPr>
          <p:cNvPr id="14" name="Shape 11"/>
          <p:cNvSpPr/>
          <p:nvPr/>
        </p:nvSpPr>
        <p:spPr>
          <a:xfrm>
            <a:off x="502920" y="2103120"/>
            <a:ext cx="8321040" cy="566928"/>
          </a:xfrm>
          <a:prstGeom prst="rect">
            <a:avLst/>
          </a:prstGeom>
          <a:solidFill>
            <a:srgbClr val="2D3240"/>
          </a:solidFill>
          <a:ln w="6350">
            <a:solidFill>
              <a:srgbClr val="3A4055"/>
            </a:solidFill>
            <a:prstDash val="solid"/>
          </a:ln>
          <a:effectLst>
            <a:outerShdw sx="100000" sy="100000" kx="0" ky="0" algn="bl" rotWithShape="0" blurRad="101600" dist="38100" dir="8100000">
              <a:srgbClr val="000000">
                <a:alpha val="18000"/>
              </a:srgbClr>
            </a:outerShdw>
          </a:effectLst>
        </p:spPr>
      </p:sp>
      <p:sp>
        <p:nvSpPr>
          <p:cNvPr id="15" name="Shape 12"/>
          <p:cNvSpPr/>
          <p:nvPr/>
        </p:nvSpPr>
        <p:spPr>
          <a:xfrm>
            <a:off x="594360" y="2167128"/>
            <a:ext cx="502920" cy="502920"/>
          </a:xfrm>
          <a:prstGeom prst="ellipse">
            <a:avLst/>
          </a:prstGeom>
          <a:solidFill>
            <a:srgbClr val="2E9E54"/>
          </a:solidFill>
          <a:ln w="12700">
            <a:solidFill>
              <a:srgbClr val="2E9E54"/>
            </a:solidFill>
            <a:prstDash val="solid"/>
          </a:ln>
        </p:spPr>
      </p:sp>
      <p:pic>
        <p:nvPicPr>
          <p:cNvPr id="16" name="Image 1" descr="preencoded.png">    </p:cNvPr>
          <p:cNvPicPr>
            <a:picLocks noChangeAspect="1"/>
          </p:cNvPicPr>
          <p:nvPr/>
        </p:nvPicPr>
        <p:blipFill>
          <a:blip r:embed="rId2"/>
          <a:stretch>
            <a:fillRect/>
          </a:stretch>
        </p:blipFill>
        <p:spPr>
          <a:xfrm>
            <a:off x="640080" y="2212848"/>
            <a:ext cx="411480" cy="411480"/>
          </a:xfrm>
          <a:prstGeom prst="rect">
            <a:avLst/>
          </a:prstGeom>
        </p:spPr>
      </p:pic>
      <p:sp>
        <p:nvSpPr>
          <p:cNvPr id="17" name="Text 13"/>
          <p:cNvSpPr/>
          <p:nvPr/>
        </p:nvSpPr>
        <p:spPr>
          <a:xfrm>
            <a:off x="1143000" y="2139696"/>
            <a:ext cx="1371600" cy="274320"/>
          </a:xfrm>
          <a:prstGeom prst="rect">
            <a:avLst/>
          </a:prstGeom>
          <a:noFill/>
          <a:ln/>
        </p:spPr>
        <p:txBody>
          <a:bodyPr wrap="square" lIns="0" tIns="0" rIns="0" bIns="0" rtlCol="0" anchor="ctr"/>
          <a:lstStyle/>
          <a:p>
            <a:pPr indent="0" marL="0">
              <a:buNone/>
            </a:pPr>
            <a:r>
              <a:rPr lang="en-US" sz="1200" b="1" dirty="0">
                <a:solidFill>
                  <a:srgbClr val="FFFFFF"/>
                </a:solidFill>
              </a:rPr>
              <a:t>Backend</a:t>
            </a:r>
            <a:endParaRPr lang="en-US" sz="1200" dirty="0"/>
          </a:p>
        </p:txBody>
      </p:sp>
      <p:sp>
        <p:nvSpPr>
          <p:cNvPr id="18" name="Shape 14"/>
          <p:cNvSpPr/>
          <p:nvPr/>
        </p:nvSpPr>
        <p:spPr>
          <a:xfrm>
            <a:off x="1143000" y="2423160"/>
            <a:ext cx="1280160" cy="182880"/>
          </a:xfrm>
          <a:prstGeom prst="rect">
            <a:avLst>
              <a:gd name="adj" fmla="val 15000"/>
            </a:avLst>
          </a:prstGeom>
          <a:solidFill>
            <a:srgbClr val="2E9E54"/>
          </a:solidFill>
          <a:ln w="12700">
            <a:solidFill>
              <a:srgbClr val="2E9E54"/>
            </a:solidFill>
            <a:prstDash val="solid"/>
          </a:ln>
        </p:spPr>
      </p:sp>
      <p:sp>
        <p:nvSpPr>
          <p:cNvPr id="19" name="Text 15"/>
          <p:cNvSpPr/>
          <p:nvPr/>
        </p:nvSpPr>
        <p:spPr>
          <a:xfrm>
            <a:off x="1143000" y="2423160"/>
            <a:ext cx="1280160" cy="182880"/>
          </a:xfrm>
          <a:prstGeom prst="rect">
            <a:avLst/>
          </a:prstGeom>
          <a:noFill/>
          <a:ln/>
        </p:spPr>
        <p:txBody>
          <a:bodyPr wrap="square" lIns="0" tIns="0" rIns="0" bIns="0" rtlCol="0" anchor="ctr"/>
          <a:lstStyle/>
          <a:p>
            <a:pPr algn="ctr" indent="0" marL="0">
              <a:buNone/>
            </a:pPr>
            <a:r>
              <a:rPr lang="en-US" sz="800" dirty="0">
                <a:solidFill>
                  <a:srgbClr val="FFFFFF"/>
                </a:solidFill>
              </a:rPr>
              <a:t>Python + Flask</a:t>
            </a:r>
            <a:endParaRPr lang="en-US" sz="800" dirty="0"/>
          </a:p>
        </p:txBody>
      </p:sp>
      <p:sp>
        <p:nvSpPr>
          <p:cNvPr id="20" name="Text 16"/>
          <p:cNvSpPr/>
          <p:nvPr/>
        </p:nvSpPr>
        <p:spPr>
          <a:xfrm>
            <a:off x="2606040" y="2194560"/>
            <a:ext cx="6035040" cy="438912"/>
          </a:xfrm>
          <a:prstGeom prst="rect">
            <a:avLst/>
          </a:prstGeom>
          <a:noFill/>
          <a:ln/>
        </p:spPr>
        <p:txBody>
          <a:bodyPr wrap="square" lIns="0" tIns="0" rIns="0" bIns="0" rtlCol="0" anchor="ctr"/>
          <a:lstStyle/>
          <a:p>
            <a:pPr indent="0" marL="0">
              <a:buNone/>
            </a:pPr>
            <a:r>
              <a:rPr lang="en-US" sz="1050" dirty="0">
                <a:solidFill>
                  <a:srgbClr val="8A9BB0"/>
                </a:solidFill>
              </a:rPr>
              <a:t>API REST: gestiona jobs de procesamiento en threads, sirve archivos y conecta con Firebase.</a:t>
            </a:r>
            <a:endParaRPr lang="en-US" sz="1050" dirty="0"/>
          </a:p>
        </p:txBody>
      </p:sp>
      <p:sp>
        <p:nvSpPr>
          <p:cNvPr id="21" name="Shape 17"/>
          <p:cNvSpPr/>
          <p:nvPr/>
        </p:nvSpPr>
        <p:spPr>
          <a:xfrm>
            <a:off x="365760" y="2788920"/>
            <a:ext cx="64008" cy="566928"/>
          </a:xfrm>
          <a:prstGeom prst="rect">
            <a:avLst/>
          </a:prstGeom>
          <a:solidFill>
            <a:srgbClr val="3498DB"/>
          </a:solidFill>
          <a:ln w="12700">
            <a:solidFill>
              <a:srgbClr val="3498DB"/>
            </a:solidFill>
            <a:prstDash val="solid"/>
          </a:ln>
        </p:spPr>
      </p:sp>
      <p:sp>
        <p:nvSpPr>
          <p:cNvPr id="22" name="Shape 18"/>
          <p:cNvSpPr/>
          <p:nvPr/>
        </p:nvSpPr>
        <p:spPr>
          <a:xfrm>
            <a:off x="502920" y="2788920"/>
            <a:ext cx="8321040" cy="566928"/>
          </a:xfrm>
          <a:prstGeom prst="rect">
            <a:avLst/>
          </a:prstGeom>
          <a:solidFill>
            <a:srgbClr val="2D3240"/>
          </a:solidFill>
          <a:ln w="6350">
            <a:solidFill>
              <a:srgbClr val="3A4055"/>
            </a:solidFill>
            <a:prstDash val="solid"/>
          </a:ln>
          <a:effectLst>
            <a:outerShdw sx="100000" sy="100000" kx="0" ky="0" algn="bl" rotWithShape="0" blurRad="101600" dist="38100" dir="8100000">
              <a:srgbClr val="000000">
                <a:alpha val="18000"/>
              </a:srgbClr>
            </a:outerShdw>
          </a:effectLst>
        </p:spPr>
      </p:sp>
      <p:sp>
        <p:nvSpPr>
          <p:cNvPr id="23" name="Shape 19"/>
          <p:cNvSpPr/>
          <p:nvPr/>
        </p:nvSpPr>
        <p:spPr>
          <a:xfrm>
            <a:off x="594360" y="2852928"/>
            <a:ext cx="502920" cy="502920"/>
          </a:xfrm>
          <a:prstGeom prst="ellipse">
            <a:avLst/>
          </a:prstGeom>
          <a:solidFill>
            <a:srgbClr val="3498DB"/>
          </a:solidFill>
          <a:ln w="12700">
            <a:solidFill>
              <a:srgbClr val="3498DB"/>
            </a:solidFill>
            <a:prstDash val="solid"/>
          </a:ln>
        </p:spPr>
      </p:sp>
      <p:pic>
        <p:nvPicPr>
          <p:cNvPr id="24" name="Image 2" descr="preencoded.png">    </p:cNvPr>
          <p:cNvPicPr>
            <a:picLocks noChangeAspect="1"/>
          </p:cNvPicPr>
          <p:nvPr/>
        </p:nvPicPr>
        <p:blipFill>
          <a:blip r:embed="rId3"/>
          <a:stretch>
            <a:fillRect/>
          </a:stretch>
        </p:blipFill>
        <p:spPr>
          <a:xfrm>
            <a:off x="640080" y="2898648"/>
            <a:ext cx="411480" cy="411480"/>
          </a:xfrm>
          <a:prstGeom prst="rect">
            <a:avLst/>
          </a:prstGeom>
        </p:spPr>
      </p:pic>
      <p:sp>
        <p:nvSpPr>
          <p:cNvPr id="25" name="Text 20"/>
          <p:cNvSpPr/>
          <p:nvPr/>
        </p:nvSpPr>
        <p:spPr>
          <a:xfrm>
            <a:off x="1143000" y="2825496"/>
            <a:ext cx="1371600" cy="274320"/>
          </a:xfrm>
          <a:prstGeom prst="rect">
            <a:avLst/>
          </a:prstGeom>
          <a:noFill/>
          <a:ln/>
        </p:spPr>
        <p:txBody>
          <a:bodyPr wrap="square" lIns="0" tIns="0" rIns="0" bIns="0" rtlCol="0" anchor="ctr"/>
          <a:lstStyle/>
          <a:p>
            <a:pPr indent="0" marL="0">
              <a:buNone/>
            </a:pPr>
            <a:r>
              <a:rPr lang="en-US" sz="1200" b="1" dirty="0">
                <a:solidFill>
                  <a:srgbClr val="FFFFFF"/>
                </a:solidFill>
              </a:rPr>
              <a:t>Motor IA</a:t>
            </a:r>
            <a:endParaRPr lang="en-US" sz="1200" dirty="0"/>
          </a:p>
        </p:txBody>
      </p:sp>
      <p:sp>
        <p:nvSpPr>
          <p:cNvPr id="26" name="Shape 21"/>
          <p:cNvSpPr/>
          <p:nvPr/>
        </p:nvSpPr>
        <p:spPr>
          <a:xfrm>
            <a:off x="1143000" y="3108960"/>
            <a:ext cx="1280160" cy="182880"/>
          </a:xfrm>
          <a:prstGeom prst="rect">
            <a:avLst>
              <a:gd name="adj" fmla="val 15000"/>
            </a:avLst>
          </a:prstGeom>
          <a:solidFill>
            <a:srgbClr val="3498DB"/>
          </a:solidFill>
          <a:ln w="12700">
            <a:solidFill>
              <a:srgbClr val="3498DB"/>
            </a:solidFill>
            <a:prstDash val="solid"/>
          </a:ln>
        </p:spPr>
      </p:sp>
      <p:sp>
        <p:nvSpPr>
          <p:cNvPr id="27" name="Text 22"/>
          <p:cNvSpPr/>
          <p:nvPr/>
        </p:nvSpPr>
        <p:spPr>
          <a:xfrm>
            <a:off x="1143000" y="3108960"/>
            <a:ext cx="1280160" cy="182880"/>
          </a:xfrm>
          <a:prstGeom prst="rect">
            <a:avLst/>
          </a:prstGeom>
          <a:noFill/>
          <a:ln/>
        </p:spPr>
        <p:txBody>
          <a:bodyPr wrap="square" lIns="0" tIns="0" rIns="0" bIns="0" rtlCol="0" anchor="ctr"/>
          <a:lstStyle/>
          <a:p>
            <a:pPr algn="ctr" indent="0" marL="0">
              <a:buNone/>
            </a:pPr>
            <a:r>
              <a:rPr lang="en-US" sz="800" dirty="0">
                <a:solidFill>
                  <a:srgbClr val="FFFFFF"/>
                </a:solidFill>
              </a:rPr>
              <a:t>YOLO + OpenCV</a:t>
            </a:r>
            <a:endParaRPr lang="en-US" sz="800" dirty="0"/>
          </a:p>
        </p:txBody>
      </p:sp>
      <p:sp>
        <p:nvSpPr>
          <p:cNvPr id="28" name="Text 23"/>
          <p:cNvSpPr/>
          <p:nvPr/>
        </p:nvSpPr>
        <p:spPr>
          <a:xfrm>
            <a:off x="2606040" y="2880360"/>
            <a:ext cx="6035040" cy="438912"/>
          </a:xfrm>
          <a:prstGeom prst="rect">
            <a:avLst/>
          </a:prstGeom>
          <a:noFill/>
          <a:ln/>
        </p:spPr>
        <p:txBody>
          <a:bodyPr wrap="square" lIns="0" tIns="0" rIns="0" bIns="0" rtlCol="0" anchor="ctr"/>
          <a:lstStyle/>
          <a:p>
            <a:pPr indent="0" marL="0">
              <a:buNone/>
            </a:pPr>
            <a:r>
              <a:rPr lang="en-US" sz="1050" dirty="0">
                <a:solidFill>
                  <a:srgbClr val="8A9BB0"/>
                </a:solidFill>
              </a:rPr>
              <a:t>Detector de formaciones y analizador de posesión. Genera el video anotado y JSON de estadísticas.</a:t>
            </a:r>
            <a:endParaRPr lang="en-US" sz="1050" dirty="0"/>
          </a:p>
        </p:txBody>
      </p:sp>
      <p:sp>
        <p:nvSpPr>
          <p:cNvPr id="29" name="Shape 24"/>
          <p:cNvSpPr/>
          <p:nvPr/>
        </p:nvSpPr>
        <p:spPr>
          <a:xfrm>
            <a:off x="365760" y="3474720"/>
            <a:ext cx="64008" cy="566928"/>
          </a:xfrm>
          <a:prstGeom prst="rect">
            <a:avLst/>
          </a:prstGeom>
          <a:solidFill>
            <a:srgbClr val="E53935"/>
          </a:solidFill>
          <a:ln w="12700">
            <a:solidFill>
              <a:srgbClr val="E53935"/>
            </a:solidFill>
            <a:prstDash val="solid"/>
          </a:ln>
        </p:spPr>
      </p:sp>
      <p:sp>
        <p:nvSpPr>
          <p:cNvPr id="30" name="Shape 25"/>
          <p:cNvSpPr/>
          <p:nvPr/>
        </p:nvSpPr>
        <p:spPr>
          <a:xfrm>
            <a:off x="502920" y="3474720"/>
            <a:ext cx="8321040" cy="566928"/>
          </a:xfrm>
          <a:prstGeom prst="rect">
            <a:avLst/>
          </a:prstGeom>
          <a:solidFill>
            <a:srgbClr val="2D3240"/>
          </a:solidFill>
          <a:ln w="6350">
            <a:solidFill>
              <a:srgbClr val="3A4055"/>
            </a:solidFill>
            <a:prstDash val="solid"/>
          </a:ln>
          <a:effectLst>
            <a:outerShdw sx="100000" sy="100000" kx="0" ky="0" algn="bl" rotWithShape="0" blurRad="101600" dist="38100" dir="8100000">
              <a:srgbClr val="000000">
                <a:alpha val="18000"/>
              </a:srgbClr>
            </a:outerShdw>
          </a:effectLst>
        </p:spPr>
      </p:sp>
      <p:sp>
        <p:nvSpPr>
          <p:cNvPr id="31" name="Shape 26"/>
          <p:cNvSpPr/>
          <p:nvPr/>
        </p:nvSpPr>
        <p:spPr>
          <a:xfrm>
            <a:off x="594360" y="3538728"/>
            <a:ext cx="502920" cy="502920"/>
          </a:xfrm>
          <a:prstGeom prst="ellipse">
            <a:avLst/>
          </a:prstGeom>
          <a:solidFill>
            <a:srgbClr val="E53935"/>
          </a:solidFill>
          <a:ln w="12700">
            <a:solidFill>
              <a:srgbClr val="E53935"/>
            </a:solidFill>
            <a:prstDash val="solid"/>
          </a:ln>
        </p:spPr>
      </p:sp>
      <p:pic>
        <p:nvPicPr>
          <p:cNvPr id="32" name="Image 3" descr="preencoded.png">    </p:cNvPr>
          <p:cNvPicPr>
            <a:picLocks noChangeAspect="1"/>
          </p:cNvPicPr>
          <p:nvPr/>
        </p:nvPicPr>
        <p:blipFill>
          <a:blip r:embed="rId4"/>
          <a:stretch>
            <a:fillRect/>
          </a:stretch>
        </p:blipFill>
        <p:spPr>
          <a:xfrm>
            <a:off x="640080" y="3584448"/>
            <a:ext cx="411480" cy="411480"/>
          </a:xfrm>
          <a:prstGeom prst="rect">
            <a:avLst/>
          </a:prstGeom>
        </p:spPr>
      </p:pic>
      <p:sp>
        <p:nvSpPr>
          <p:cNvPr id="33" name="Text 27"/>
          <p:cNvSpPr/>
          <p:nvPr/>
        </p:nvSpPr>
        <p:spPr>
          <a:xfrm>
            <a:off x="1143000" y="3511296"/>
            <a:ext cx="1371600" cy="274320"/>
          </a:xfrm>
          <a:prstGeom prst="rect">
            <a:avLst/>
          </a:prstGeom>
          <a:noFill/>
          <a:ln/>
        </p:spPr>
        <p:txBody>
          <a:bodyPr wrap="square" lIns="0" tIns="0" rIns="0" bIns="0" rtlCol="0" anchor="ctr"/>
          <a:lstStyle/>
          <a:p>
            <a:pPr indent="0" marL="0">
              <a:buNone/>
            </a:pPr>
            <a:r>
              <a:rPr lang="en-US" sz="1200" b="1" dirty="0">
                <a:solidFill>
                  <a:srgbClr val="FFFFFF"/>
                </a:solidFill>
              </a:rPr>
              <a:t>Base de datos</a:t>
            </a:r>
            <a:endParaRPr lang="en-US" sz="1200" dirty="0"/>
          </a:p>
        </p:txBody>
      </p:sp>
      <p:sp>
        <p:nvSpPr>
          <p:cNvPr id="34" name="Shape 28"/>
          <p:cNvSpPr/>
          <p:nvPr/>
        </p:nvSpPr>
        <p:spPr>
          <a:xfrm>
            <a:off x="1143000" y="3794760"/>
            <a:ext cx="1280160" cy="182880"/>
          </a:xfrm>
          <a:prstGeom prst="rect">
            <a:avLst>
              <a:gd name="adj" fmla="val 15000"/>
            </a:avLst>
          </a:prstGeom>
          <a:solidFill>
            <a:srgbClr val="E53935"/>
          </a:solidFill>
          <a:ln w="12700">
            <a:solidFill>
              <a:srgbClr val="E53935"/>
            </a:solidFill>
            <a:prstDash val="solid"/>
          </a:ln>
        </p:spPr>
      </p:sp>
      <p:sp>
        <p:nvSpPr>
          <p:cNvPr id="35" name="Text 29"/>
          <p:cNvSpPr/>
          <p:nvPr/>
        </p:nvSpPr>
        <p:spPr>
          <a:xfrm>
            <a:off x="1143000" y="3794760"/>
            <a:ext cx="1280160" cy="182880"/>
          </a:xfrm>
          <a:prstGeom prst="rect">
            <a:avLst/>
          </a:prstGeom>
          <a:noFill/>
          <a:ln/>
        </p:spPr>
        <p:txBody>
          <a:bodyPr wrap="square" lIns="0" tIns="0" rIns="0" bIns="0" rtlCol="0" anchor="ctr"/>
          <a:lstStyle/>
          <a:p>
            <a:pPr algn="ctr" indent="0" marL="0">
              <a:buNone/>
            </a:pPr>
            <a:r>
              <a:rPr lang="en-US" sz="800" dirty="0">
                <a:solidFill>
                  <a:srgbClr val="FFFFFF"/>
                </a:solidFill>
              </a:rPr>
              <a:t>Firebase Firestore</a:t>
            </a:r>
            <a:endParaRPr lang="en-US" sz="800" dirty="0"/>
          </a:p>
        </p:txBody>
      </p:sp>
      <p:sp>
        <p:nvSpPr>
          <p:cNvPr id="36" name="Text 30"/>
          <p:cNvSpPr/>
          <p:nvPr/>
        </p:nvSpPr>
        <p:spPr>
          <a:xfrm>
            <a:off x="2606040" y="3566160"/>
            <a:ext cx="6035040" cy="438912"/>
          </a:xfrm>
          <a:prstGeom prst="rect">
            <a:avLst/>
          </a:prstGeom>
          <a:noFill/>
          <a:ln/>
        </p:spPr>
        <p:txBody>
          <a:bodyPr wrap="square" lIns="0" tIns="0" rIns="0" bIns="0" rtlCol="0" anchor="ctr"/>
          <a:lstStyle/>
          <a:p>
            <a:pPr indent="0" marL="0">
              <a:buNone/>
            </a:pPr>
            <a:r>
              <a:rPr lang="en-US" sz="1050" dirty="0">
                <a:solidFill>
                  <a:srgbClr val="8A9BB0"/>
                </a:solidFill>
              </a:rPr>
              <a:t>Almacena usuarios, partidos, eventos, posesiones y estadísticas de jugadores.</a:t>
            </a:r>
            <a:endParaRPr lang="en-US" sz="1050" dirty="0"/>
          </a:p>
        </p:txBody>
      </p:sp>
      <p:sp>
        <p:nvSpPr>
          <p:cNvPr id="37" name="Shape 31"/>
          <p:cNvSpPr/>
          <p:nvPr/>
        </p:nvSpPr>
        <p:spPr>
          <a:xfrm>
            <a:off x="365760" y="4160520"/>
            <a:ext cx="64008" cy="566928"/>
          </a:xfrm>
          <a:prstGeom prst="rect">
            <a:avLst/>
          </a:prstGeom>
          <a:solidFill>
            <a:srgbClr val="27AE60"/>
          </a:solidFill>
          <a:ln w="12700">
            <a:solidFill>
              <a:srgbClr val="27AE60"/>
            </a:solidFill>
            <a:prstDash val="solid"/>
          </a:ln>
        </p:spPr>
      </p:sp>
      <p:sp>
        <p:nvSpPr>
          <p:cNvPr id="38" name="Shape 32"/>
          <p:cNvSpPr/>
          <p:nvPr/>
        </p:nvSpPr>
        <p:spPr>
          <a:xfrm>
            <a:off x="502920" y="4160520"/>
            <a:ext cx="8321040" cy="566928"/>
          </a:xfrm>
          <a:prstGeom prst="rect">
            <a:avLst/>
          </a:prstGeom>
          <a:solidFill>
            <a:srgbClr val="2D3240"/>
          </a:solidFill>
          <a:ln w="6350">
            <a:solidFill>
              <a:srgbClr val="3A4055"/>
            </a:solidFill>
            <a:prstDash val="solid"/>
          </a:ln>
          <a:effectLst>
            <a:outerShdw sx="100000" sy="100000" kx="0" ky="0" algn="bl" rotWithShape="0" blurRad="101600" dist="38100" dir="8100000">
              <a:srgbClr val="000000">
                <a:alpha val="18000"/>
              </a:srgbClr>
            </a:outerShdw>
          </a:effectLst>
        </p:spPr>
      </p:sp>
      <p:sp>
        <p:nvSpPr>
          <p:cNvPr id="39" name="Shape 33"/>
          <p:cNvSpPr/>
          <p:nvPr/>
        </p:nvSpPr>
        <p:spPr>
          <a:xfrm>
            <a:off x="594360" y="4224528"/>
            <a:ext cx="502920" cy="502920"/>
          </a:xfrm>
          <a:prstGeom prst="ellipse">
            <a:avLst/>
          </a:prstGeom>
          <a:solidFill>
            <a:srgbClr val="27AE60"/>
          </a:solidFill>
          <a:ln w="12700">
            <a:solidFill>
              <a:srgbClr val="27AE60"/>
            </a:solidFill>
            <a:prstDash val="solid"/>
          </a:ln>
        </p:spPr>
      </p:sp>
      <p:pic>
        <p:nvPicPr>
          <p:cNvPr id="40" name="Image 4" descr="preencoded.png">    </p:cNvPr>
          <p:cNvPicPr>
            <a:picLocks noChangeAspect="1"/>
          </p:cNvPicPr>
          <p:nvPr/>
        </p:nvPicPr>
        <p:blipFill>
          <a:blip r:embed="rId5"/>
          <a:stretch>
            <a:fillRect/>
          </a:stretch>
        </p:blipFill>
        <p:spPr>
          <a:xfrm>
            <a:off x="640080" y="4270248"/>
            <a:ext cx="411480" cy="411480"/>
          </a:xfrm>
          <a:prstGeom prst="rect">
            <a:avLst/>
          </a:prstGeom>
        </p:spPr>
      </p:pic>
      <p:sp>
        <p:nvSpPr>
          <p:cNvPr id="41" name="Text 34"/>
          <p:cNvSpPr/>
          <p:nvPr/>
        </p:nvSpPr>
        <p:spPr>
          <a:xfrm>
            <a:off x="1143000" y="4197096"/>
            <a:ext cx="1371600" cy="274320"/>
          </a:xfrm>
          <a:prstGeom prst="rect">
            <a:avLst/>
          </a:prstGeom>
          <a:noFill/>
          <a:ln/>
        </p:spPr>
        <p:txBody>
          <a:bodyPr wrap="square" lIns="0" tIns="0" rIns="0" bIns="0" rtlCol="0" anchor="ctr"/>
          <a:lstStyle/>
          <a:p>
            <a:pPr indent="0" marL="0">
              <a:buNone/>
            </a:pPr>
            <a:r>
              <a:rPr lang="en-US" sz="1200" b="1" dirty="0">
                <a:solidFill>
                  <a:srgbClr val="FFFFFF"/>
                </a:solidFill>
              </a:rPr>
              <a:t>App móvil</a:t>
            </a:r>
            <a:endParaRPr lang="en-US" sz="1200" dirty="0"/>
          </a:p>
        </p:txBody>
      </p:sp>
      <p:sp>
        <p:nvSpPr>
          <p:cNvPr id="42" name="Shape 35"/>
          <p:cNvSpPr/>
          <p:nvPr/>
        </p:nvSpPr>
        <p:spPr>
          <a:xfrm>
            <a:off x="1143000" y="4480560"/>
            <a:ext cx="1280160" cy="182880"/>
          </a:xfrm>
          <a:prstGeom prst="rect">
            <a:avLst>
              <a:gd name="adj" fmla="val 15000"/>
            </a:avLst>
          </a:prstGeom>
          <a:solidFill>
            <a:srgbClr val="27AE60"/>
          </a:solidFill>
          <a:ln w="12700">
            <a:solidFill>
              <a:srgbClr val="27AE60"/>
            </a:solidFill>
            <a:prstDash val="solid"/>
          </a:ln>
        </p:spPr>
      </p:sp>
      <p:sp>
        <p:nvSpPr>
          <p:cNvPr id="43" name="Text 36"/>
          <p:cNvSpPr/>
          <p:nvPr/>
        </p:nvSpPr>
        <p:spPr>
          <a:xfrm>
            <a:off x="1143000" y="4480560"/>
            <a:ext cx="1280160" cy="182880"/>
          </a:xfrm>
          <a:prstGeom prst="rect">
            <a:avLst/>
          </a:prstGeom>
          <a:noFill/>
          <a:ln/>
        </p:spPr>
        <p:txBody>
          <a:bodyPr wrap="square" lIns="0" tIns="0" rIns="0" bIns="0" rtlCol="0" anchor="ctr"/>
          <a:lstStyle/>
          <a:p>
            <a:pPr algn="ctr" indent="0" marL="0">
              <a:buNone/>
            </a:pPr>
            <a:r>
              <a:rPr lang="en-US" sz="800" dirty="0">
                <a:solidFill>
                  <a:srgbClr val="FFFFFF"/>
                </a:solidFill>
              </a:rPr>
              <a:t>Android (Java)</a:t>
            </a:r>
            <a:endParaRPr lang="en-US" sz="800" dirty="0"/>
          </a:p>
        </p:txBody>
      </p:sp>
      <p:sp>
        <p:nvSpPr>
          <p:cNvPr id="44" name="Text 37"/>
          <p:cNvSpPr/>
          <p:nvPr/>
        </p:nvSpPr>
        <p:spPr>
          <a:xfrm>
            <a:off x="2606040" y="4251960"/>
            <a:ext cx="6035040" cy="438912"/>
          </a:xfrm>
          <a:prstGeom prst="rect">
            <a:avLst/>
          </a:prstGeom>
          <a:noFill/>
          <a:ln/>
        </p:spPr>
        <p:txBody>
          <a:bodyPr wrap="square" lIns="0" tIns="0" rIns="0" bIns="0" rtlCol="0" anchor="ctr"/>
          <a:lstStyle/>
          <a:p>
            <a:pPr indent="0" marL="0">
              <a:buNone/>
            </a:pPr>
            <a:r>
              <a:rPr lang="en-US" sz="1050" dirty="0">
                <a:solidFill>
                  <a:srgbClr val="8A9BB0"/>
                </a:solidFill>
              </a:rPr>
              <a:t>Jugadores acceden a sus estadísticas personales y highlights. Reciben notificaciones push.</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C0F"/>
        </a:solidFill>
      </p:bgPr>
    </p:bg>
    <p:spTree>
      <p:nvGrpSpPr>
        <p:cNvPr id="1" name=""/>
        <p:cNvGrpSpPr/>
        <p:nvPr/>
      </p:nvGrpSpPr>
      <p:grpSpPr>
        <a:xfrm>
          <a:off x="0" y="0"/>
          <a:ext cx="0" cy="0"/>
          <a:chOff x="0" y="0"/>
          <a:chExt cx="0" cy="0"/>
        </a:xfrm>
      </p:grpSpPr>
      <p:sp>
        <p:nvSpPr>
          <p:cNvPr id="2" name="Shape 0"/>
          <p:cNvSpPr/>
          <p:nvPr/>
        </p:nvSpPr>
        <p:spPr>
          <a:xfrm>
            <a:off x="365760" y="228600"/>
            <a:ext cx="1280160" cy="256032"/>
          </a:xfrm>
          <a:prstGeom prst="rect">
            <a:avLst>
              <a:gd name="adj" fmla="val 14286"/>
            </a:avLst>
          </a:prstGeom>
          <a:solidFill>
            <a:srgbClr val="1A7A3C"/>
          </a:solidFill>
          <a:ln w="12700">
            <a:solidFill>
              <a:srgbClr val="1A7A3C"/>
            </a:solidFill>
            <a:prstDash val="solid"/>
          </a:ln>
        </p:spPr>
      </p:sp>
      <p:sp>
        <p:nvSpPr>
          <p:cNvPr id="3" name="Text 1"/>
          <p:cNvSpPr/>
          <p:nvPr/>
        </p:nvSpPr>
        <p:spPr>
          <a:xfrm>
            <a:off x="365760" y="228600"/>
            <a:ext cx="1280160" cy="256032"/>
          </a:xfrm>
          <a:prstGeom prst="rect">
            <a:avLst/>
          </a:prstGeom>
          <a:noFill/>
          <a:ln/>
        </p:spPr>
        <p:txBody>
          <a:bodyPr wrap="square" lIns="0" tIns="0" rIns="0" bIns="0" rtlCol="0" anchor="ctr"/>
          <a:lstStyle/>
          <a:p>
            <a:pPr algn="ctr" indent="0" marL="0">
              <a:buNone/>
            </a:pPr>
            <a:r>
              <a:rPr lang="en-US" sz="900" b="1" dirty="0">
                <a:solidFill>
                  <a:srgbClr val="FFFFFF"/>
                </a:solidFill>
              </a:rPr>
              <a:t>PLAN DE TRABAJO</a:t>
            </a:r>
            <a:endParaRPr lang="en-US" sz="900" dirty="0"/>
          </a:p>
        </p:txBody>
      </p:sp>
      <p:sp>
        <p:nvSpPr>
          <p:cNvPr id="4" name="Text 2"/>
          <p:cNvSpPr/>
          <p:nvPr/>
        </p:nvSpPr>
        <p:spPr>
          <a:xfrm>
            <a:off x="365760" y="548640"/>
            <a:ext cx="8412480" cy="594360"/>
          </a:xfrm>
          <a:prstGeom prst="rect">
            <a:avLst/>
          </a:prstGeom>
          <a:noFill/>
          <a:ln/>
        </p:spPr>
        <p:txBody>
          <a:bodyPr wrap="square" lIns="0" tIns="0" rIns="0" bIns="0" rtlCol="0" anchor="ctr"/>
          <a:lstStyle/>
          <a:p>
            <a:pPr indent="0" marL="0">
              <a:buNone/>
            </a:pPr>
            <a:r>
              <a:rPr lang="en-US" sz="3600" b="1" dirty="0">
                <a:solidFill>
                  <a:srgbClr val="FFFFFF"/>
                </a:solidFill>
                <a:latin typeface="Arial Black" pitchFamily="34" charset="0"/>
                <a:ea typeface="Arial Black" pitchFamily="34" charset="-122"/>
                <a:cs typeface="Arial Black" pitchFamily="34" charset="-120"/>
              </a:rPr>
              <a:t>Roadmap del proyecto</a:t>
            </a:r>
            <a:endParaRPr lang="en-US" sz="3600" dirty="0"/>
          </a:p>
        </p:txBody>
      </p:sp>
      <p:sp>
        <p:nvSpPr>
          <p:cNvPr id="5" name="Shape 3"/>
          <p:cNvSpPr/>
          <p:nvPr/>
        </p:nvSpPr>
        <p:spPr>
          <a:xfrm>
            <a:off x="365760" y="1508760"/>
            <a:ext cx="1097280" cy="320040"/>
          </a:xfrm>
          <a:prstGeom prst="rect">
            <a:avLst>
              <a:gd name="adj" fmla="val 11429"/>
            </a:avLst>
          </a:prstGeom>
          <a:solidFill>
            <a:srgbClr val="1A7A3C"/>
          </a:solidFill>
          <a:ln w="12700">
            <a:solidFill>
              <a:srgbClr val="1A7A3C"/>
            </a:solidFill>
            <a:prstDash val="solid"/>
          </a:ln>
        </p:spPr>
      </p:sp>
      <p:sp>
        <p:nvSpPr>
          <p:cNvPr id="6" name="Text 4"/>
          <p:cNvSpPr/>
          <p:nvPr/>
        </p:nvSpPr>
        <p:spPr>
          <a:xfrm>
            <a:off x="365760" y="1508760"/>
            <a:ext cx="1097280" cy="320040"/>
          </a:xfrm>
          <a:prstGeom prst="rect">
            <a:avLst/>
          </a:prstGeom>
          <a:noFill/>
          <a:ln/>
        </p:spPr>
        <p:txBody>
          <a:bodyPr wrap="square" lIns="0" tIns="0" rIns="0" bIns="0" rtlCol="0" anchor="ctr"/>
          <a:lstStyle/>
          <a:p>
            <a:pPr algn="ctr" indent="0" marL="0">
              <a:buNone/>
            </a:pPr>
            <a:r>
              <a:rPr lang="en-US" sz="850" b="1" dirty="0">
                <a:solidFill>
                  <a:srgbClr val="FFFFFF"/>
                </a:solidFill>
              </a:rPr>
              <a:t>PRE-ENTREGA</a:t>
            </a:r>
            <a:endParaRPr lang="en-US" sz="850" dirty="0"/>
          </a:p>
        </p:txBody>
      </p:sp>
      <p:sp>
        <p:nvSpPr>
          <p:cNvPr id="7" name="Text 5"/>
          <p:cNvSpPr/>
          <p:nvPr/>
        </p:nvSpPr>
        <p:spPr>
          <a:xfrm>
            <a:off x="1554480" y="1490472"/>
            <a:ext cx="1371600" cy="201168"/>
          </a:xfrm>
          <a:prstGeom prst="rect">
            <a:avLst/>
          </a:prstGeom>
          <a:noFill/>
          <a:ln/>
        </p:spPr>
        <p:txBody>
          <a:bodyPr wrap="square" lIns="0" tIns="0" rIns="0" bIns="0" rtlCol="0" anchor="ctr"/>
          <a:lstStyle/>
          <a:p>
            <a:pPr indent="0" marL="0">
              <a:buNone/>
            </a:pPr>
            <a:r>
              <a:rPr lang="en-US" sz="900" dirty="0">
                <a:solidFill>
                  <a:srgbClr val="8A9BB0"/>
                </a:solidFill>
              </a:rPr>
              <a:t>Semanas 1–3</a:t>
            </a:r>
            <a:endParaRPr lang="en-US" sz="900" dirty="0"/>
          </a:p>
        </p:txBody>
      </p:sp>
      <p:sp>
        <p:nvSpPr>
          <p:cNvPr id="8" name="Text 6"/>
          <p:cNvSpPr/>
          <p:nvPr/>
        </p:nvSpPr>
        <p:spPr>
          <a:xfrm>
            <a:off x="1554480" y="1673352"/>
            <a:ext cx="4114800" cy="274320"/>
          </a:xfrm>
          <a:prstGeom prst="rect">
            <a:avLst/>
          </a:prstGeom>
          <a:noFill/>
          <a:ln/>
        </p:spPr>
        <p:txBody>
          <a:bodyPr wrap="square" lIns="0" tIns="0" rIns="0" bIns="0" rtlCol="0" anchor="ctr"/>
          <a:lstStyle/>
          <a:p>
            <a:pPr indent="0" marL="0">
              <a:buNone/>
            </a:pPr>
            <a:r>
              <a:rPr lang="en-US" sz="1100" dirty="0">
                <a:solidFill>
                  <a:srgbClr val="FFFFFF"/>
                </a:solidFill>
              </a:rPr>
              <a:t>MVP: Line-out + Scrum + Salida + Posesión</a:t>
            </a:r>
            <a:endParaRPr lang="en-US" sz="1100" dirty="0"/>
          </a:p>
        </p:txBody>
      </p:sp>
      <p:sp>
        <p:nvSpPr>
          <p:cNvPr id="9" name="Shape 7"/>
          <p:cNvSpPr/>
          <p:nvPr/>
        </p:nvSpPr>
        <p:spPr>
          <a:xfrm>
            <a:off x="5760720" y="1554480"/>
            <a:ext cx="3200400" cy="201168"/>
          </a:xfrm>
          <a:prstGeom prst="rect">
            <a:avLst/>
          </a:prstGeom>
          <a:solidFill>
            <a:srgbClr val="2D3240"/>
          </a:solidFill>
          <a:ln w="12700">
            <a:solidFill>
              <a:srgbClr val="3A4055"/>
            </a:solidFill>
            <a:prstDash val="solid"/>
          </a:ln>
        </p:spPr>
      </p:sp>
      <p:sp>
        <p:nvSpPr>
          <p:cNvPr id="10" name="Shape 8"/>
          <p:cNvSpPr/>
          <p:nvPr/>
        </p:nvSpPr>
        <p:spPr>
          <a:xfrm>
            <a:off x="5760720" y="1554480"/>
            <a:ext cx="576072" cy="201168"/>
          </a:xfrm>
          <a:prstGeom prst="rect">
            <a:avLst/>
          </a:prstGeom>
          <a:solidFill>
            <a:srgbClr val="1A7A3C"/>
          </a:solidFill>
          <a:ln w="12700">
            <a:solidFill>
              <a:srgbClr val="1A7A3C"/>
            </a:solidFill>
            <a:prstDash val="solid"/>
          </a:ln>
        </p:spPr>
      </p:sp>
      <p:sp>
        <p:nvSpPr>
          <p:cNvPr id="11" name="Text 9"/>
          <p:cNvSpPr/>
          <p:nvPr/>
        </p:nvSpPr>
        <p:spPr>
          <a:xfrm>
            <a:off x="6382512" y="1536192"/>
            <a:ext cx="457200" cy="237744"/>
          </a:xfrm>
          <a:prstGeom prst="rect">
            <a:avLst/>
          </a:prstGeom>
          <a:noFill/>
          <a:ln/>
        </p:spPr>
        <p:txBody>
          <a:bodyPr wrap="square" lIns="0" tIns="0" rIns="0" bIns="0" rtlCol="0" anchor="ctr"/>
          <a:lstStyle/>
          <a:p>
            <a:pPr indent="0" marL="0">
              <a:buNone/>
            </a:pPr>
            <a:r>
              <a:rPr lang="en-US" sz="900" dirty="0">
                <a:solidFill>
                  <a:srgbClr val="1A7A3C"/>
                </a:solidFill>
              </a:rPr>
              <a:t>18%</a:t>
            </a:r>
            <a:endParaRPr lang="en-US" sz="900" dirty="0"/>
          </a:p>
        </p:txBody>
      </p:sp>
      <p:sp>
        <p:nvSpPr>
          <p:cNvPr id="12" name="Shape 10"/>
          <p:cNvSpPr/>
          <p:nvPr/>
        </p:nvSpPr>
        <p:spPr>
          <a:xfrm>
            <a:off x="365760" y="2203704"/>
            <a:ext cx="1097280" cy="320040"/>
          </a:xfrm>
          <a:prstGeom prst="rect">
            <a:avLst>
              <a:gd name="adj" fmla="val 11429"/>
            </a:avLst>
          </a:prstGeom>
          <a:solidFill>
            <a:srgbClr val="3498DB"/>
          </a:solidFill>
          <a:ln w="12700">
            <a:solidFill>
              <a:srgbClr val="3498DB"/>
            </a:solidFill>
            <a:prstDash val="solid"/>
          </a:ln>
        </p:spPr>
      </p:sp>
      <p:sp>
        <p:nvSpPr>
          <p:cNvPr id="13" name="Text 11"/>
          <p:cNvSpPr/>
          <p:nvPr/>
        </p:nvSpPr>
        <p:spPr>
          <a:xfrm>
            <a:off x="365760" y="2203704"/>
            <a:ext cx="1097280" cy="320040"/>
          </a:xfrm>
          <a:prstGeom prst="rect">
            <a:avLst/>
          </a:prstGeom>
          <a:noFill/>
          <a:ln/>
        </p:spPr>
        <p:txBody>
          <a:bodyPr wrap="square" lIns="0" tIns="0" rIns="0" bIns="0" rtlCol="0" anchor="ctr"/>
          <a:lstStyle/>
          <a:p>
            <a:pPr algn="ctr" indent="0" marL="0">
              <a:buNone/>
            </a:pPr>
            <a:r>
              <a:rPr lang="en-US" sz="850" b="1" dirty="0">
                <a:solidFill>
                  <a:srgbClr val="FFFFFF"/>
                </a:solidFill>
              </a:rPr>
              <a:t>FASE 2</a:t>
            </a:r>
            <a:endParaRPr lang="en-US" sz="850" dirty="0"/>
          </a:p>
        </p:txBody>
      </p:sp>
      <p:sp>
        <p:nvSpPr>
          <p:cNvPr id="14" name="Text 12"/>
          <p:cNvSpPr/>
          <p:nvPr/>
        </p:nvSpPr>
        <p:spPr>
          <a:xfrm>
            <a:off x="1554480" y="2185416"/>
            <a:ext cx="1371600" cy="201168"/>
          </a:xfrm>
          <a:prstGeom prst="rect">
            <a:avLst/>
          </a:prstGeom>
          <a:noFill/>
          <a:ln/>
        </p:spPr>
        <p:txBody>
          <a:bodyPr wrap="square" lIns="0" tIns="0" rIns="0" bIns="0" rtlCol="0" anchor="ctr"/>
          <a:lstStyle/>
          <a:p>
            <a:pPr indent="0" marL="0">
              <a:buNone/>
            </a:pPr>
            <a:r>
              <a:rPr lang="en-US" sz="900" dirty="0">
                <a:solidFill>
                  <a:srgbClr val="8A9BB0"/>
                </a:solidFill>
              </a:rPr>
              <a:t>Semanas 4–6</a:t>
            </a:r>
            <a:endParaRPr lang="en-US" sz="900" dirty="0"/>
          </a:p>
        </p:txBody>
      </p:sp>
      <p:sp>
        <p:nvSpPr>
          <p:cNvPr id="15" name="Text 13"/>
          <p:cNvSpPr/>
          <p:nvPr/>
        </p:nvSpPr>
        <p:spPr>
          <a:xfrm>
            <a:off x="1554480" y="2368296"/>
            <a:ext cx="4114800" cy="274320"/>
          </a:xfrm>
          <a:prstGeom prst="rect">
            <a:avLst/>
          </a:prstGeom>
          <a:noFill/>
          <a:ln/>
        </p:spPr>
        <p:txBody>
          <a:bodyPr wrap="square" lIns="0" tIns="0" rIns="0" bIns="0" rtlCol="0" anchor="ctr"/>
          <a:lstStyle/>
          <a:p>
            <a:pPr indent="0" marL="0">
              <a:buNone/>
            </a:pPr>
            <a:r>
              <a:rPr lang="en-US" sz="1100" dirty="0">
                <a:solidFill>
                  <a:srgbClr val="FFFFFF"/>
                </a:solidFill>
              </a:rPr>
              <a:t>Dashboard avanzado: mapas de calor, timeline completo</a:t>
            </a:r>
            <a:endParaRPr lang="en-US" sz="1100" dirty="0"/>
          </a:p>
        </p:txBody>
      </p:sp>
      <p:sp>
        <p:nvSpPr>
          <p:cNvPr id="16" name="Shape 14"/>
          <p:cNvSpPr/>
          <p:nvPr/>
        </p:nvSpPr>
        <p:spPr>
          <a:xfrm>
            <a:off x="5760720" y="2249424"/>
            <a:ext cx="3200400" cy="201168"/>
          </a:xfrm>
          <a:prstGeom prst="rect">
            <a:avLst/>
          </a:prstGeom>
          <a:solidFill>
            <a:srgbClr val="2D3240"/>
          </a:solidFill>
          <a:ln w="12700">
            <a:solidFill>
              <a:srgbClr val="3A4055"/>
            </a:solidFill>
            <a:prstDash val="solid"/>
          </a:ln>
        </p:spPr>
      </p:sp>
      <p:sp>
        <p:nvSpPr>
          <p:cNvPr id="17" name="Shape 15"/>
          <p:cNvSpPr/>
          <p:nvPr/>
        </p:nvSpPr>
        <p:spPr>
          <a:xfrm>
            <a:off x="5760720" y="2249424"/>
            <a:ext cx="1152144" cy="201168"/>
          </a:xfrm>
          <a:prstGeom prst="rect">
            <a:avLst/>
          </a:prstGeom>
          <a:solidFill>
            <a:srgbClr val="3498DB"/>
          </a:solidFill>
          <a:ln w="12700">
            <a:solidFill>
              <a:srgbClr val="3498DB"/>
            </a:solidFill>
            <a:prstDash val="solid"/>
          </a:ln>
        </p:spPr>
      </p:sp>
      <p:sp>
        <p:nvSpPr>
          <p:cNvPr id="18" name="Text 16"/>
          <p:cNvSpPr/>
          <p:nvPr/>
        </p:nvSpPr>
        <p:spPr>
          <a:xfrm>
            <a:off x="6958584" y="2231136"/>
            <a:ext cx="457200" cy="237744"/>
          </a:xfrm>
          <a:prstGeom prst="rect">
            <a:avLst/>
          </a:prstGeom>
          <a:noFill/>
          <a:ln/>
        </p:spPr>
        <p:txBody>
          <a:bodyPr wrap="square" lIns="0" tIns="0" rIns="0" bIns="0" rtlCol="0" anchor="ctr"/>
          <a:lstStyle/>
          <a:p>
            <a:pPr indent="0" marL="0">
              <a:buNone/>
            </a:pPr>
            <a:r>
              <a:rPr lang="en-US" sz="900" dirty="0">
                <a:solidFill>
                  <a:srgbClr val="3498DB"/>
                </a:solidFill>
              </a:rPr>
              <a:t>36%</a:t>
            </a:r>
            <a:endParaRPr lang="en-US" sz="900" dirty="0"/>
          </a:p>
        </p:txBody>
      </p:sp>
      <p:sp>
        <p:nvSpPr>
          <p:cNvPr id="19" name="Shape 17"/>
          <p:cNvSpPr/>
          <p:nvPr/>
        </p:nvSpPr>
        <p:spPr>
          <a:xfrm>
            <a:off x="365760" y="2898648"/>
            <a:ext cx="1097280" cy="320040"/>
          </a:xfrm>
          <a:prstGeom prst="rect">
            <a:avLst>
              <a:gd name="adj" fmla="val 11429"/>
            </a:avLst>
          </a:prstGeom>
          <a:solidFill>
            <a:srgbClr val="E67E22"/>
          </a:solidFill>
          <a:ln w="12700">
            <a:solidFill>
              <a:srgbClr val="E67E22"/>
            </a:solidFill>
            <a:prstDash val="solid"/>
          </a:ln>
        </p:spPr>
      </p:sp>
      <p:sp>
        <p:nvSpPr>
          <p:cNvPr id="20" name="Text 18"/>
          <p:cNvSpPr/>
          <p:nvPr/>
        </p:nvSpPr>
        <p:spPr>
          <a:xfrm>
            <a:off x="365760" y="2898648"/>
            <a:ext cx="1097280" cy="320040"/>
          </a:xfrm>
          <a:prstGeom prst="rect">
            <a:avLst/>
          </a:prstGeom>
          <a:noFill/>
          <a:ln/>
        </p:spPr>
        <p:txBody>
          <a:bodyPr wrap="square" lIns="0" tIns="0" rIns="0" bIns="0" rtlCol="0" anchor="ctr"/>
          <a:lstStyle/>
          <a:p>
            <a:pPr algn="ctr" indent="0" marL="0">
              <a:buNone/>
            </a:pPr>
            <a:r>
              <a:rPr lang="en-US" sz="850" b="1" dirty="0">
                <a:solidFill>
                  <a:srgbClr val="FFFFFF"/>
                </a:solidFill>
              </a:rPr>
              <a:t>FASE 3</a:t>
            </a:r>
            <a:endParaRPr lang="en-US" sz="850" dirty="0"/>
          </a:p>
        </p:txBody>
      </p:sp>
      <p:sp>
        <p:nvSpPr>
          <p:cNvPr id="21" name="Text 19"/>
          <p:cNvSpPr/>
          <p:nvPr/>
        </p:nvSpPr>
        <p:spPr>
          <a:xfrm>
            <a:off x="1554480" y="2880360"/>
            <a:ext cx="1371600" cy="201168"/>
          </a:xfrm>
          <a:prstGeom prst="rect">
            <a:avLst/>
          </a:prstGeom>
          <a:noFill/>
          <a:ln/>
        </p:spPr>
        <p:txBody>
          <a:bodyPr wrap="square" lIns="0" tIns="0" rIns="0" bIns="0" rtlCol="0" anchor="ctr"/>
          <a:lstStyle/>
          <a:p>
            <a:pPr indent="0" marL="0">
              <a:buNone/>
            </a:pPr>
            <a:r>
              <a:rPr lang="en-US" sz="900" dirty="0">
                <a:solidFill>
                  <a:srgbClr val="8A9BB0"/>
                </a:solidFill>
              </a:rPr>
              <a:t>Semanas 7–9</a:t>
            </a:r>
            <a:endParaRPr lang="en-US" sz="900" dirty="0"/>
          </a:p>
        </p:txBody>
      </p:sp>
      <p:sp>
        <p:nvSpPr>
          <p:cNvPr id="22" name="Text 20"/>
          <p:cNvSpPr/>
          <p:nvPr/>
        </p:nvSpPr>
        <p:spPr>
          <a:xfrm>
            <a:off x="1554480" y="3063240"/>
            <a:ext cx="4114800" cy="274320"/>
          </a:xfrm>
          <a:prstGeom prst="rect">
            <a:avLst/>
          </a:prstGeom>
          <a:noFill/>
          <a:ln/>
        </p:spPr>
        <p:txBody>
          <a:bodyPr wrap="square" lIns="0" tIns="0" rIns="0" bIns="0" rtlCol="0" anchor="ctr"/>
          <a:lstStyle/>
          <a:p>
            <a:pPr indent="0" marL="0">
              <a:buNone/>
            </a:pPr>
            <a:r>
              <a:rPr lang="en-US" sz="1100" dirty="0">
                <a:solidFill>
                  <a:srgbClr val="FFFFFF"/>
                </a:solidFill>
              </a:rPr>
              <a:t>Perfiles de jugadores y comparador por posición</a:t>
            </a:r>
            <a:endParaRPr lang="en-US" sz="1100" dirty="0"/>
          </a:p>
        </p:txBody>
      </p:sp>
      <p:sp>
        <p:nvSpPr>
          <p:cNvPr id="23" name="Shape 21"/>
          <p:cNvSpPr/>
          <p:nvPr/>
        </p:nvSpPr>
        <p:spPr>
          <a:xfrm>
            <a:off x="5760720" y="2944368"/>
            <a:ext cx="3200400" cy="201168"/>
          </a:xfrm>
          <a:prstGeom prst="rect">
            <a:avLst/>
          </a:prstGeom>
          <a:solidFill>
            <a:srgbClr val="2D3240"/>
          </a:solidFill>
          <a:ln w="12700">
            <a:solidFill>
              <a:srgbClr val="3A4055"/>
            </a:solidFill>
            <a:prstDash val="solid"/>
          </a:ln>
        </p:spPr>
      </p:sp>
      <p:sp>
        <p:nvSpPr>
          <p:cNvPr id="24" name="Shape 22"/>
          <p:cNvSpPr/>
          <p:nvPr/>
        </p:nvSpPr>
        <p:spPr>
          <a:xfrm>
            <a:off x="5760720" y="2944368"/>
            <a:ext cx="1728216" cy="201168"/>
          </a:xfrm>
          <a:prstGeom prst="rect">
            <a:avLst/>
          </a:prstGeom>
          <a:solidFill>
            <a:srgbClr val="E67E22"/>
          </a:solidFill>
          <a:ln w="12700">
            <a:solidFill>
              <a:srgbClr val="E67E22"/>
            </a:solidFill>
            <a:prstDash val="solid"/>
          </a:ln>
        </p:spPr>
      </p:sp>
      <p:sp>
        <p:nvSpPr>
          <p:cNvPr id="25" name="Text 23"/>
          <p:cNvSpPr/>
          <p:nvPr/>
        </p:nvSpPr>
        <p:spPr>
          <a:xfrm>
            <a:off x="7534656" y="2926080"/>
            <a:ext cx="457200" cy="237744"/>
          </a:xfrm>
          <a:prstGeom prst="rect">
            <a:avLst/>
          </a:prstGeom>
          <a:noFill/>
          <a:ln/>
        </p:spPr>
        <p:txBody>
          <a:bodyPr wrap="square" lIns="0" tIns="0" rIns="0" bIns="0" rtlCol="0" anchor="ctr"/>
          <a:lstStyle/>
          <a:p>
            <a:pPr indent="0" marL="0">
              <a:buNone/>
            </a:pPr>
            <a:r>
              <a:rPr lang="en-US" sz="900" dirty="0">
                <a:solidFill>
                  <a:srgbClr val="E67E22"/>
                </a:solidFill>
              </a:rPr>
              <a:t>54%</a:t>
            </a:r>
            <a:endParaRPr lang="en-US" sz="900" dirty="0"/>
          </a:p>
        </p:txBody>
      </p:sp>
      <p:sp>
        <p:nvSpPr>
          <p:cNvPr id="26" name="Shape 24"/>
          <p:cNvSpPr/>
          <p:nvPr/>
        </p:nvSpPr>
        <p:spPr>
          <a:xfrm>
            <a:off x="365760" y="3593592"/>
            <a:ext cx="1097280" cy="320040"/>
          </a:xfrm>
          <a:prstGeom prst="rect">
            <a:avLst>
              <a:gd name="adj" fmla="val 11429"/>
            </a:avLst>
          </a:prstGeom>
          <a:solidFill>
            <a:srgbClr val="9B59B6"/>
          </a:solidFill>
          <a:ln w="12700">
            <a:solidFill>
              <a:srgbClr val="9B59B6"/>
            </a:solidFill>
            <a:prstDash val="solid"/>
          </a:ln>
        </p:spPr>
      </p:sp>
      <p:sp>
        <p:nvSpPr>
          <p:cNvPr id="27" name="Text 25"/>
          <p:cNvSpPr/>
          <p:nvPr/>
        </p:nvSpPr>
        <p:spPr>
          <a:xfrm>
            <a:off x="365760" y="3593592"/>
            <a:ext cx="1097280" cy="320040"/>
          </a:xfrm>
          <a:prstGeom prst="rect">
            <a:avLst/>
          </a:prstGeom>
          <a:noFill/>
          <a:ln/>
        </p:spPr>
        <p:txBody>
          <a:bodyPr wrap="square" lIns="0" tIns="0" rIns="0" bIns="0" rtlCol="0" anchor="ctr"/>
          <a:lstStyle/>
          <a:p>
            <a:pPr algn="ctr" indent="0" marL="0">
              <a:buNone/>
            </a:pPr>
            <a:r>
              <a:rPr lang="en-US" sz="850" b="1" dirty="0">
                <a:solidFill>
                  <a:srgbClr val="FFFFFF"/>
                </a:solidFill>
              </a:rPr>
              <a:t>FASE 4</a:t>
            </a:r>
            <a:endParaRPr lang="en-US" sz="850" dirty="0"/>
          </a:p>
        </p:txBody>
      </p:sp>
      <p:sp>
        <p:nvSpPr>
          <p:cNvPr id="28" name="Text 26"/>
          <p:cNvSpPr/>
          <p:nvPr/>
        </p:nvSpPr>
        <p:spPr>
          <a:xfrm>
            <a:off x="1554480" y="3575304"/>
            <a:ext cx="1371600" cy="201168"/>
          </a:xfrm>
          <a:prstGeom prst="rect">
            <a:avLst/>
          </a:prstGeom>
          <a:noFill/>
          <a:ln/>
        </p:spPr>
        <p:txBody>
          <a:bodyPr wrap="square" lIns="0" tIns="0" rIns="0" bIns="0" rtlCol="0" anchor="ctr"/>
          <a:lstStyle/>
          <a:p>
            <a:pPr indent="0" marL="0">
              <a:buNone/>
            </a:pPr>
            <a:r>
              <a:rPr lang="en-US" sz="900" dirty="0">
                <a:solidFill>
                  <a:srgbClr val="8A9BB0"/>
                </a:solidFill>
              </a:rPr>
              <a:t>Semanas 10–14</a:t>
            </a:r>
            <a:endParaRPr lang="en-US" sz="900" dirty="0"/>
          </a:p>
        </p:txBody>
      </p:sp>
      <p:sp>
        <p:nvSpPr>
          <p:cNvPr id="29" name="Text 27"/>
          <p:cNvSpPr/>
          <p:nvPr/>
        </p:nvSpPr>
        <p:spPr>
          <a:xfrm>
            <a:off x="1554480" y="3758184"/>
            <a:ext cx="4114800" cy="274320"/>
          </a:xfrm>
          <a:prstGeom prst="rect">
            <a:avLst/>
          </a:prstGeom>
          <a:noFill/>
          <a:ln/>
        </p:spPr>
        <p:txBody>
          <a:bodyPr wrap="square" lIns="0" tIns="0" rIns="0" bIns="0" rtlCol="0" anchor="ctr"/>
          <a:lstStyle/>
          <a:p>
            <a:pPr indent="0" marL="0">
              <a:buNone/>
            </a:pPr>
            <a:r>
              <a:rPr lang="en-US" sz="1100" dirty="0">
                <a:solidFill>
                  <a:srgbClr val="FFFFFF"/>
                </a:solidFill>
              </a:rPr>
              <a:t>App móvil Android para jugadores</a:t>
            </a:r>
            <a:endParaRPr lang="en-US" sz="1100" dirty="0"/>
          </a:p>
        </p:txBody>
      </p:sp>
      <p:sp>
        <p:nvSpPr>
          <p:cNvPr id="30" name="Shape 28"/>
          <p:cNvSpPr/>
          <p:nvPr/>
        </p:nvSpPr>
        <p:spPr>
          <a:xfrm>
            <a:off x="5760720" y="3639312"/>
            <a:ext cx="3200400" cy="201168"/>
          </a:xfrm>
          <a:prstGeom prst="rect">
            <a:avLst/>
          </a:prstGeom>
          <a:solidFill>
            <a:srgbClr val="2D3240"/>
          </a:solidFill>
          <a:ln w="12700">
            <a:solidFill>
              <a:srgbClr val="3A4055"/>
            </a:solidFill>
            <a:prstDash val="solid"/>
          </a:ln>
        </p:spPr>
      </p:sp>
      <p:sp>
        <p:nvSpPr>
          <p:cNvPr id="31" name="Shape 29"/>
          <p:cNvSpPr/>
          <p:nvPr/>
        </p:nvSpPr>
        <p:spPr>
          <a:xfrm>
            <a:off x="5760720" y="3639312"/>
            <a:ext cx="2336292" cy="201168"/>
          </a:xfrm>
          <a:prstGeom prst="rect">
            <a:avLst/>
          </a:prstGeom>
          <a:solidFill>
            <a:srgbClr val="9B59B6"/>
          </a:solidFill>
          <a:ln w="12700">
            <a:solidFill>
              <a:srgbClr val="9B59B6"/>
            </a:solidFill>
            <a:prstDash val="solid"/>
          </a:ln>
        </p:spPr>
      </p:sp>
      <p:sp>
        <p:nvSpPr>
          <p:cNvPr id="32" name="Text 30"/>
          <p:cNvSpPr/>
          <p:nvPr/>
        </p:nvSpPr>
        <p:spPr>
          <a:xfrm>
            <a:off x="8142732" y="3621024"/>
            <a:ext cx="457200" cy="237744"/>
          </a:xfrm>
          <a:prstGeom prst="rect">
            <a:avLst/>
          </a:prstGeom>
          <a:noFill/>
          <a:ln/>
        </p:spPr>
        <p:txBody>
          <a:bodyPr wrap="square" lIns="0" tIns="0" rIns="0" bIns="0" rtlCol="0" anchor="ctr"/>
          <a:lstStyle/>
          <a:p>
            <a:pPr indent="0" marL="0">
              <a:buNone/>
            </a:pPr>
            <a:r>
              <a:rPr lang="en-US" sz="900" dirty="0">
                <a:solidFill>
                  <a:srgbClr val="9B59B6"/>
                </a:solidFill>
              </a:rPr>
              <a:t>73%</a:t>
            </a:r>
            <a:endParaRPr lang="en-US" sz="900" dirty="0"/>
          </a:p>
        </p:txBody>
      </p:sp>
      <p:sp>
        <p:nvSpPr>
          <p:cNvPr id="33" name="Shape 31"/>
          <p:cNvSpPr/>
          <p:nvPr/>
        </p:nvSpPr>
        <p:spPr>
          <a:xfrm>
            <a:off x="365760" y="4288536"/>
            <a:ext cx="1097280" cy="320040"/>
          </a:xfrm>
          <a:prstGeom prst="rect">
            <a:avLst>
              <a:gd name="adj" fmla="val 11429"/>
            </a:avLst>
          </a:prstGeom>
          <a:solidFill>
            <a:srgbClr val="E53935"/>
          </a:solidFill>
          <a:ln w="12700">
            <a:solidFill>
              <a:srgbClr val="E53935"/>
            </a:solidFill>
            <a:prstDash val="solid"/>
          </a:ln>
        </p:spPr>
      </p:sp>
      <p:sp>
        <p:nvSpPr>
          <p:cNvPr id="34" name="Text 32"/>
          <p:cNvSpPr/>
          <p:nvPr/>
        </p:nvSpPr>
        <p:spPr>
          <a:xfrm>
            <a:off x="365760" y="4288536"/>
            <a:ext cx="1097280" cy="320040"/>
          </a:xfrm>
          <a:prstGeom prst="rect">
            <a:avLst/>
          </a:prstGeom>
          <a:noFill/>
          <a:ln/>
        </p:spPr>
        <p:txBody>
          <a:bodyPr wrap="square" lIns="0" tIns="0" rIns="0" bIns="0" rtlCol="0" anchor="ctr"/>
          <a:lstStyle/>
          <a:p>
            <a:pPr algn="ctr" indent="0" marL="0">
              <a:buNone/>
            </a:pPr>
            <a:r>
              <a:rPr lang="en-US" sz="850" b="1" dirty="0">
                <a:solidFill>
                  <a:srgbClr val="FFFFFF"/>
                </a:solidFill>
              </a:rPr>
              <a:t>FASE 5</a:t>
            </a:r>
            <a:endParaRPr lang="en-US" sz="850" dirty="0"/>
          </a:p>
        </p:txBody>
      </p:sp>
      <p:sp>
        <p:nvSpPr>
          <p:cNvPr id="35" name="Text 33"/>
          <p:cNvSpPr/>
          <p:nvPr/>
        </p:nvSpPr>
        <p:spPr>
          <a:xfrm>
            <a:off x="1554480" y="4270248"/>
            <a:ext cx="1371600" cy="201168"/>
          </a:xfrm>
          <a:prstGeom prst="rect">
            <a:avLst/>
          </a:prstGeom>
          <a:noFill/>
          <a:ln/>
        </p:spPr>
        <p:txBody>
          <a:bodyPr wrap="square" lIns="0" tIns="0" rIns="0" bIns="0" rtlCol="0" anchor="ctr"/>
          <a:lstStyle/>
          <a:p>
            <a:pPr indent="0" marL="0">
              <a:buNone/>
            </a:pPr>
            <a:r>
              <a:rPr lang="en-US" sz="900" dirty="0">
                <a:solidFill>
                  <a:srgbClr val="8A9BB0"/>
                </a:solidFill>
              </a:rPr>
              <a:t>Semanas 15–16</a:t>
            </a:r>
            <a:endParaRPr lang="en-US" sz="900" dirty="0"/>
          </a:p>
        </p:txBody>
      </p:sp>
      <p:sp>
        <p:nvSpPr>
          <p:cNvPr id="36" name="Text 34"/>
          <p:cNvSpPr/>
          <p:nvPr/>
        </p:nvSpPr>
        <p:spPr>
          <a:xfrm>
            <a:off x="1554480" y="4453128"/>
            <a:ext cx="4114800" cy="274320"/>
          </a:xfrm>
          <a:prstGeom prst="rect">
            <a:avLst/>
          </a:prstGeom>
          <a:noFill/>
          <a:ln/>
        </p:spPr>
        <p:txBody>
          <a:bodyPr wrap="square" lIns="0" tIns="0" rIns="0" bIns="0" rtlCol="0" anchor="ctr"/>
          <a:lstStyle/>
          <a:p>
            <a:pPr indent="0" marL="0">
              <a:buNone/>
            </a:pPr>
            <a:r>
              <a:rPr lang="en-US" sz="1100" dirty="0">
                <a:solidFill>
                  <a:srgbClr val="FFFFFF"/>
                </a:solidFill>
              </a:rPr>
              <a:t>Pruebas, manual de usuario y entrega final</a:t>
            </a:r>
            <a:endParaRPr lang="en-US" sz="1100" dirty="0"/>
          </a:p>
        </p:txBody>
      </p:sp>
      <p:sp>
        <p:nvSpPr>
          <p:cNvPr id="37" name="Shape 35"/>
          <p:cNvSpPr/>
          <p:nvPr/>
        </p:nvSpPr>
        <p:spPr>
          <a:xfrm>
            <a:off x="5760720" y="4334256"/>
            <a:ext cx="3200400" cy="201168"/>
          </a:xfrm>
          <a:prstGeom prst="rect">
            <a:avLst/>
          </a:prstGeom>
          <a:solidFill>
            <a:srgbClr val="2D3240"/>
          </a:solidFill>
          <a:ln w="12700">
            <a:solidFill>
              <a:srgbClr val="3A4055"/>
            </a:solidFill>
            <a:prstDash val="solid"/>
          </a:ln>
        </p:spPr>
      </p:sp>
      <p:sp>
        <p:nvSpPr>
          <p:cNvPr id="38" name="Shape 36"/>
          <p:cNvSpPr/>
          <p:nvPr/>
        </p:nvSpPr>
        <p:spPr>
          <a:xfrm>
            <a:off x="5760720" y="4334256"/>
            <a:ext cx="3200400" cy="201168"/>
          </a:xfrm>
          <a:prstGeom prst="rect">
            <a:avLst/>
          </a:prstGeom>
          <a:solidFill>
            <a:srgbClr val="E53935"/>
          </a:solidFill>
          <a:ln w="12700">
            <a:solidFill>
              <a:srgbClr val="E53935"/>
            </a:solidFill>
            <a:prstDash val="solid"/>
          </a:ln>
        </p:spPr>
      </p:sp>
      <p:sp>
        <p:nvSpPr>
          <p:cNvPr id="39" name="Text 37"/>
          <p:cNvSpPr/>
          <p:nvPr/>
        </p:nvSpPr>
        <p:spPr>
          <a:xfrm>
            <a:off x="9006840" y="4315968"/>
            <a:ext cx="457200" cy="237744"/>
          </a:xfrm>
          <a:prstGeom prst="rect">
            <a:avLst/>
          </a:prstGeom>
          <a:noFill/>
          <a:ln/>
        </p:spPr>
        <p:txBody>
          <a:bodyPr wrap="square" lIns="0" tIns="0" rIns="0" bIns="0" rtlCol="0" anchor="ctr"/>
          <a:lstStyle/>
          <a:p>
            <a:pPr indent="0" marL="0">
              <a:buNone/>
            </a:pPr>
            <a:r>
              <a:rPr lang="en-US" sz="900" dirty="0">
                <a:solidFill>
                  <a:srgbClr val="E53935"/>
                </a:solidFill>
              </a:rPr>
              <a:t>100%</a:t>
            </a:r>
            <a:endParaRPr lang="en-US" sz="900" dirty="0"/>
          </a:p>
        </p:txBody>
      </p:sp>
      <p:sp>
        <p:nvSpPr>
          <p:cNvPr id="40" name="Text 38"/>
          <p:cNvSpPr/>
          <p:nvPr/>
        </p:nvSpPr>
        <p:spPr>
          <a:xfrm>
            <a:off x="365760" y="4709160"/>
            <a:ext cx="8412480" cy="274320"/>
          </a:xfrm>
          <a:prstGeom prst="rect">
            <a:avLst/>
          </a:prstGeom>
          <a:noFill/>
          <a:ln/>
        </p:spPr>
        <p:txBody>
          <a:bodyPr wrap="square" lIns="0" tIns="0" rIns="0" bIns="0" rtlCol="0" anchor="ctr"/>
          <a:lstStyle/>
          <a:p>
            <a:pPr indent="0" marL="0">
              <a:buNone/>
            </a:pPr>
            <a:r>
              <a:rPr lang="en-US" sz="1100" i="1" dirty="0">
                <a:solidFill>
                  <a:srgbClr val="8A9BB0"/>
                </a:solidFill>
              </a:rPr>
              <a:t>Duración total estimada: 16 semanas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365760" y="228600"/>
            <a:ext cx="1280160" cy="256032"/>
          </a:xfrm>
          <a:prstGeom prst="rect">
            <a:avLst>
              <a:gd name="adj" fmla="val 14286"/>
            </a:avLst>
          </a:prstGeom>
          <a:solidFill>
            <a:srgbClr val="1A7A3C"/>
          </a:solidFill>
          <a:ln w="12700">
            <a:solidFill>
              <a:srgbClr val="1A7A3C"/>
            </a:solidFill>
            <a:prstDash val="solid"/>
          </a:ln>
        </p:spPr>
      </p:sp>
      <p:sp>
        <p:nvSpPr>
          <p:cNvPr id="3" name="Text 1"/>
          <p:cNvSpPr/>
          <p:nvPr/>
        </p:nvSpPr>
        <p:spPr>
          <a:xfrm>
            <a:off x="365760" y="228600"/>
            <a:ext cx="1280160" cy="256032"/>
          </a:xfrm>
          <a:prstGeom prst="rect">
            <a:avLst/>
          </a:prstGeom>
          <a:noFill/>
          <a:ln/>
        </p:spPr>
        <p:txBody>
          <a:bodyPr wrap="square" lIns="0" tIns="0" rIns="0" bIns="0" rtlCol="0" anchor="ctr"/>
          <a:lstStyle/>
          <a:p>
            <a:pPr algn="ctr" indent="0" marL="0">
              <a:buNone/>
            </a:pPr>
            <a:r>
              <a:rPr lang="en-US" sz="900" b="1" dirty="0">
                <a:solidFill>
                  <a:srgbClr val="FFFFFF"/>
                </a:solidFill>
              </a:rPr>
              <a:t>MERCADO</a:t>
            </a:r>
            <a:endParaRPr lang="en-US" sz="900" dirty="0"/>
          </a:p>
        </p:txBody>
      </p:sp>
      <p:sp>
        <p:nvSpPr>
          <p:cNvPr id="4" name="Text 2"/>
          <p:cNvSpPr/>
          <p:nvPr/>
        </p:nvSpPr>
        <p:spPr>
          <a:xfrm>
            <a:off x="365760" y="548640"/>
            <a:ext cx="8412480" cy="594360"/>
          </a:xfrm>
          <a:prstGeom prst="rect">
            <a:avLst/>
          </a:prstGeom>
          <a:noFill/>
          <a:ln/>
        </p:spPr>
        <p:txBody>
          <a:bodyPr wrap="square" lIns="0" tIns="0" rIns="0" bIns="0" rtlCol="0" anchor="ctr"/>
          <a:lstStyle/>
          <a:p>
            <a:pPr indent="0" marL="0">
              <a:buNone/>
            </a:pPr>
            <a:r>
              <a:rPr lang="en-US" sz="3600" b="1" dirty="0">
                <a:solidFill>
                  <a:srgbClr val="FFFFFF"/>
                </a:solidFill>
                <a:latin typeface="Arial Black" pitchFamily="34" charset="0"/>
                <a:ea typeface="Arial Black" pitchFamily="34" charset="-122"/>
                <a:cs typeface="Arial Black" pitchFamily="34" charset="-120"/>
              </a:rPr>
              <a:t>¿Por qué Apert Vision?</a:t>
            </a:r>
            <a:endParaRPr lang="en-US" sz="3600" dirty="0"/>
          </a:p>
        </p:txBody>
      </p:sp>
      <p:sp>
        <p:nvSpPr>
          <p:cNvPr id="5" name="Shape 3"/>
          <p:cNvSpPr/>
          <p:nvPr/>
        </p:nvSpPr>
        <p:spPr>
          <a:xfrm>
            <a:off x="365760" y="1371600"/>
            <a:ext cx="2743200" cy="384048"/>
          </a:xfrm>
          <a:prstGeom prst="rect">
            <a:avLst/>
          </a:prstGeom>
          <a:solidFill>
            <a:srgbClr val="2D3240"/>
          </a:solidFill>
          <a:ln w="6350">
            <a:solidFill>
              <a:srgbClr val="3A4055"/>
            </a:solidFill>
            <a:prstDash val="solid"/>
          </a:ln>
        </p:spPr>
      </p:sp>
      <p:sp>
        <p:nvSpPr>
          <p:cNvPr id="6" name="Text 4"/>
          <p:cNvSpPr/>
          <p:nvPr/>
        </p:nvSpPr>
        <p:spPr>
          <a:xfrm>
            <a:off x="457200" y="1371600"/>
            <a:ext cx="2560320" cy="384048"/>
          </a:xfrm>
          <a:prstGeom prst="rect">
            <a:avLst/>
          </a:prstGeom>
          <a:noFill/>
          <a:ln/>
        </p:spPr>
        <p:txBody>
          <a:bodyPr wrap="square" lIns="0" tIns="0" rIns="0" bIns="0" rtlCol="0" anchor="ctr"/>
          <a:lstStyle/>
          <a:p>
            <a:pPr indent="0" marL="0">
              <a:buNone/>
            </a:pPr>
            <a:r>
              <a:rPr lang="en-US" sz="1100" b="1" dirty="0">
                <a:solidFill>
                  <a:srgbClr val="FFFFFF"/>
                </a:solidFill>
              </a:rPr>
              <a:t>Característica</a:t>
            </a:r>
            <a:endParaRPr lang="en-US" sz="1100" dirty="0"/>
          </a:p>
        </p:txBody>
      </p:sp>
      <p:sp>
        <p:nvSpPr>
          <p:cNvPr id="7" name="Shape 5"/>
          <p:cNvSpPr/>
          <p:nvPr/>
        </p:nvSpPr>
        <p:spPr>
          <a:xfrm>
            <a:off x="3200400" y="1371600"/>
            <a:ext cx="1645920" cy="384048"/>
          </a:xfrm>
          <a:prstGeom prst="rect">
            <a:avLst/>
          </a:prstGeom>
          <a:solidFill>
            <a:srgbClr val="2D3240"/>
          </a:solidFill>
          <a:ln w="6350">
            <a:solidFill>
              <a:srgbClr val="3A4055"/>
            </a:solidFill>
            <a:prstDash val="solid"/>
          </a:ln>
        </p:spPr>
      </p:sp>
      <p:sp>
        <p:nvSpPr>
          <p:cNvPr id="8" name="Text 6"/>
          <p:cNvSpPr/>
          <p:nvPr/>
        </p:nvSpPr>
        <p:spPr>
          <a:xfrm>
            <a:off x="3291840" y="1371600"/>
            <a:ext cx="1463040" cy="384048"/>
          </a:xfrm>
          <a:prstGeom prst="rect">
            <a:avLst/>
          </a:prstGeom>
          <a:noFill/>
          <a:ln/>
        </p:spPr>
        <p:txBody>
          <a:bodyPr wrap="square" lIns="0" tIns="0" rIns="0" bIns="0" rtlCol="0" anchor="ctr"/>
          <a:lstStyle/>
          <a:p>
            <a:pPr indent="0" marL="0">
              <a:buNone/>
            </a:pPr>
            <a:r>
              <a:rPr lang="en-US" sz="1100" b="1" dirty="0">
                <a:solidFill>
                  <a:srgbClr val="FFFFFF"/>
                </a:solidFill>
              </a:rPr>
              <a:t>Rugby Analytics</a:t>
            </a:r>
            <a:endParaRPr lang="en-US" sz="1100" dirty="0"/>
          </a:p>
        </p:txBody>
      </p:sp>
      <p:sp>
        <p:nvSpPr>
          <p:cNvPr id="9" name="Shape 7"/>
          <p:cNvSpPr/>
          <p:nvPr/>
        </p:nvSpPr>
        <p:spPr>
          <a:xfrm>
            <a:off x="4937760" y="1371600"/>
            <a:ext cx="1737360" cy="384048"/>
          </a:xfrm>
          <a:prstGeom prst="rect">
            <a:avLst/>
          </a:prstGeom>
          <a:solidFill>
            <a:srgbClr val="2D3240"/>
          </a:solidFill>
          <a:ln w="6350">
            <a:solidFill>
              <a:srgbClr val="3A4055"/>
            </a:solidFill>
            <a:prstDash val="solid"/>
          </a:ln>
        </p:spPr>
      </p:sp>
      <p:sp>
        <p:nvSpPr>
          <p:cNvPr id="10" name="Text 8"/>
          <p:cNvSpPr/>
          <p:nvPr/>
        </p:nvSpPr>
        <p:spPr>
          <a:xfrm>
            <a:off x="5029200" y="1371600"/>
            <a:ext cx="1554480" cy="384048"/>
          </a:xfrm>
          <a:prstGeom prst="rect">
            <a:avLst/>
          </a:prstGeom>
          <a:noFill/>
          <a:ln/>
        </p:spPr>
        <p:txBody>
          <a:bodyPr wrap="square" lIns="0" tIns="0" rIns="0" bIns="0" rtlCol="0" anchor="ctr"/>
          <a:lstStyle/>
          <a:p>
            <a:pPr indent="0" marL="0">
              <a:buNone/>
            </a:pPr>
            <a:r>
              <a:rPr lang="en-US" sz="1100" b="1" dirty="0">
                <a:solidFill>
                  <a:srgbClr val="FFFFFF"/>
                </a:solidFill>
              </a:rPr>
              <a:t>Herramientas elite</a:t>
            </a:r>
            <a:endParaRPr lang="en-US" sz="1100" dirty="0"/>
          </a:p>
        </p:txBody>
      </p:sp>
      <p:sp>
        <p:nvSpPr>
          <p:cNvPr id="11" name="Shape 9"/>
          <p:cNvSpPr/>
          <p:nvPr/>
        </p:nvSpPr>
        <p:spPr>
          <a:xfrm>
            <a:off x="6720840" y="1371600"/>
            <a:ext cx="1737360" cy="384048"/>
          </a:xfrm>
          <a:prstGeom prst="rect">
            <a:avLst/>
          </a:prstGeom>
          <a:solidFill>
            <a:srgbClr val="1A7A3C"/>
          </a:solidFill>
          <a:ln w="6350">
            <a:solidFill>
              <a:srgbClr val="3A4055"/>
            </a:solidFill>
            <a:prstDash val="solid"/>
          </a:ln>
        </p:spPr>
      </p:sp>
      <p:sp>
        <p:nvSpPr>
          <p:cNvPr id="12" name="Text 10"/>
          <p:cNvSpPr/>
          <p:nvPr/>
        </p:nvSpPr>
        <p:spPr>
          <a:xfrm>
            <a:off x="6812280" y="1371600"/>
            <a:ext cx="1554480" cy="384048"/>
          </a:xfrm>
          <a:prstGeom prst="rect">
            <a:avLst/>
          </a:prstGeom>
          <a:noFill/>
          <a:ln/>
        </p:spPr>
        <p:txBody>
          <a:bodyPr wrap="square" lIns="0" tIns="0" rIns="0" bIns="0" rtlCol="0" anchor="ctr"/>
          <a:lstStyle/>
          <a:p>
            <a:pPr indent="0" marL="0">
              <a:buNone/>
            </a:pPr>
            <a:r>
              <a:rPr lang="en-US" sz="1100" b="1" dirty="0">
                <a:solidFill>
                  <a:srgbClr val="FFFFFF"/>
                </a:solidFill>
              </a:rPr>
              <a:t>Apert Vision</a:t>
            </a:r>
            <a:endParaRPr lang="en-US" sz="1100" dirty="0"/>
          </a:p>
        </p:txBody>
      </p:sp>
      <p:sp>
        <p:nvSpPr>
          <p:cNvPr id="13" name="Shape 11"/>
          <p:cNvSpPr/>
          <p:nvPr/>
        </p:nvSpPr>
        <p:spPr>
          <a:xfrm>
            <a:off x="365760" y="1755648"/>
            <a:ext cx="2743200" cy="411480"/>
          </a:xfrm>
          <a:prstGeom prst="rect">
            <a:avLst/>
          </a:prstGeom>
          <a:solidFill>
            <a:srgbClr val="2D3240"/>
          </a:solidFill>
          <a:ln w="3810">
            <a:solidFill>
              <a:srgbClr val="3A4055"/>
            </a:solidFill>
            <a:prstDash val="solid"/>
          </a:ln>
        </p:spPr>
      </p:sp>
      <p:sp>
        <p:nvSpPr>
          <p:cNvPr id="14" name="Text 12"/>
          <p:cNvSpPr/>
          <p:nvPr/>
        </p:nvSpPr>
        <p:spPr>
          <a:xfrm>
            <a:off x="457200" y="1755648"/>
            <a:ext cx="2560320" cy="411480"/>
          </a:xfrm>
          <a:prstGeom prst="rect">
            <a:avLst/>
          </a:prstGeom>
          <a:noFill/>
          <a:ln/>
        </p:spPr>
        <p:txBody>
          <a:bodyPr wrap="square" lIns="0" tIns="0" rIns="0" bIns="0" rtlCol="0" anchor="ctr"/>
          <a:lstStyle/>
          <a:p>
            <a:pPr algn="l" indent="0" marL="0">
              <a:buNone/>
            </a:pPr>
            <a:r>
              <a:rPr lang="en-US" sz="1100" dirty="0">
                <a:solidFill>
                  <a:srgbClr val="E8EAF0"/>
                </a:solidFill>
              </a:rPr>
              <a:t>Análisis automático con IA</a:t>
            </a:r>
            <a:endParaRPr lang="en-US" sz="1100" dirty="0"/>
          </a:p>
        </p:txBody>
      </p:sp>
      <p:sp>
        <p:nvSpPr>
          <p:cNvPr id="15" name="Shape 13"/>
          <p:cNvSpPr/>
          <p:nvPr/>
        </p:nvSpPr>
        <p:spPr>
          <a:xfrm>
            <a:off x="3200400" y="1755648"/>
            <a:ext cx="1645920" cy="411480"/>
          </a:xfrm>
          <a:prstGeom prst="rect">
            <a:avLst/>
          </a:prstGeom>
          <a:solidFill>
            <a:srgbClr val="2D3240"/>
          </a:solidFill>
          <a:ln w="3810">
            <a:solidFill>
              <a:srgbClr val="3A4055"/>
            </a:solidFill>
            <a:prstDash val="solid"/>
          </a:ln>
        </p:spPr>
      </p:sp>
      <p:sp>
        <p:nvSpPr>
          <p:cNvPr id="16" name="Text 14"/>
          <p:cNvSpPr/>
          <p:nvPr/>
        </p:nvSpPr>
        <p:spPr>
          <a:xfrm>
            <a:off x="3291840" y="1755648"/>
            <a:ext cx="1463040" cy="411480"/>
          </a:xfrm>
          <a:prstGeom prst="rect">
            <a:avLst/>
          </a:prstGeom>
          <a:noFill/>
          <a:ln/>
        </p:spPr>
        <p:txBody>
          <a:bodyPr wrap="square" lIns="0" tIns="0" rIns="0" bIns="0" rtlCol="0" anchor="ctr"/>
          <a:lstStyle/>
          <a:p>
            <a:pPr algn="ctr" indent="0" marL="0">
              <a:buNone/>
            </a:pPr>
            <a:r>
              <a:rPr lang="en-US" sz="1400" b="1" dirty="0">
                <a:solidFill>
                  <a:srgbClr val="E53935"/>
                </a:solidFill>
              </a:rPr>
              <a:t>✗</a:t>
            </a:r>
            <a:endParaRPr lang="en-US" sz="1400" dirty="0"/>
          </a:p>
        </p:txBody>
      </p:sp>
      <p:sp>
        <p:nvSpPr>
          <p:cNvPr id="17" name="Shape 15"/>
          <p:cNvSpPr/>
          <p:nvPr/>
        </p:nvSpPr>
        <p:spPr>
          <a:xfrm>
            <a:off x="4937760" y="1755648"/>
            <a:ext cx="1737360" cy="411480"/>
          </a:xfrm>
          <a:prstGeom prst="rect">
            <a:avLst/>
          </a:prstGeom>
          <a:solidFill>
            <a:srgbClr val="2D3240"/>
          </a:solidFill>
          <a:ln w="3810">
            <a:solidFill>
              <a:srgbClr val="3A4055"/>
            </a:solidFill>
            <a:prstDash val="solid"/>
          </a:ln>
        </p:spPr>
      </p:sp>
      <p:sp>
        <p:nvSpPr>
          <p:cNvPr id="18" name="Text 16"/>
          <p:cNvSpPr/>
          <p:nvPr/>
        </p:nvSpPr>
        <p:spPr>
          <a:xfrm>
            <a:off x="5029200" y="1755648"/>
            <a:ext cx="1554480" cy="411480"/>
          </a:xfrm>
          <a:prstGeom prst="rect">
            <a:avLst/>
          </a:prstGeom>
          <a:noFill/>
          <a:ln/>
        </p:spPr>
        <p:txBody>
          <a:bodyPr wrap="square" lIns="0" tIns="0" rIns="0" bIns="0" rtlCol="0" anchor="ctr"/>
          <a:lstStyle/>
          <a:p>
            <a:pPr algn="ctr" indent="0" marL="0">
              <a:buNone/>
            </a:pPr>
            <a:r>
              <a:rPr lang="en-US" sz="1400" b="1" dirty="0">
                <a:solidFill>
                  <a:srgbClr val="00E676"/>
                </a:solidFill>
              </a:rPr>
              <a:t>✓</a:t>
            </a:r>
            <a:endParaRPr lang="en-US" sz="1400" dirty="0"/>
          </a:p>
        </p:txBody>
      </p:sp>
      <p:sp>
        <p:nvSpPr>
          <p:cNvPr id="19" name="Shape 17"/>
          <p:cNvSpPr/>
          <p:nvPr/>
        </p:nvSpPr>
        <p:spPr>
          <a:xfrm>
            <a:off x="6720840" y="1755648"/>
            <a:ext cx="1737360" cy="411480"/>
          </a:xfrm>
          <a:prstGeom prst="rect">
            <a:avLst/>
          </a:prstGeom>
          <a:solidFill>
            <a:srgbClr val="0D3320"/>
          </a:solidFill>
          <a:ln w="3810">
            <a:solidFill>
              <a:srgbClr val="3A4055"/>
            </a:solidFill>
            <a:prstDash val="solid"/>
          </a:ln>
        </p:spPr>
      </p:sp>
      <p:sp>
        <p:nvSpPr>
          <p:cNvPr id="20" name="Text 18"/>
          <p:cNvSpPr/>
          <p:nvPr/>
        </p:nvSpPr>
        <p:spPr>
          <a:xfrm>
            <a:off x="6812280" y="1755648"/>
            <a:ext cx="1554480" cy="411480"/>
          </a:xfrm>
          <a:prstGeom prst="rect">
            <a:avLst/>
          </a:prstGeom>
          <a:noFill/>
          <a:ln/>
        </p:spPr>
        <p:txBody>
          <a:bodyPr wrap="square" lIns="0" tIns="0" rIns="0" bIns="0" rtlCol="0" anchor="ctr"/>
          <a:lstStyle/>
          <a:p>
            <a:pPr algn="ctr" indent="0" marL="0">
              <a:buNone/>
            </a:pPr>
            <a:r>
              <a:rPr lang="en-US" sz="1400" b="1" dirty="0">
                <a:solidFill>
                  <a:srgbClr val="00E676"/>
                </a:solidFill>
              </a:rPr>
              <a:t>✓</a:t>
            </a:r>
            <a:endParaRPr lang="en-US" sz="1400" dirty="0"/>
          </a:p>
        </p:txBody>
      </p:sp>
      <p:sp>
        <p:nvSpPr>
          <p:cNvPr id="21" name="Shape 19"/>
          <p:cNvSpPr/>
          <p:nvPr/>
        </p:nvSpPr>
        <p:spPr>
          <a:xfrm>
            <a:off x="365760" y="2167128"/>
            <a:ext cx="2743200" cy="411480"/>
          </a:xfrm>
          <a:prstGeom prst="rect">
            <a:avLst/>
          </a:prstGeom>
          <a:solidFill>
            <a:srgbClr val="252B34"/>
          </a:solidFill>
          <a:ln w="3810">
            <a:solidFill>
              <a:srgbClr val="3A4055"/>
            </a:solidFill>
            <a:prstDash val="solid"/>
          </a:ln>
        </p:spPr>
      </p:sp>
      <p:sp>
        <p:nvSpPr>
          <p:cNvPr id="22" name="Text 20"/>
          <p:cNvSpPr/>
          <p:nvPr/>
        </p:nvSpPr>
        <p:spPr>
          <a:xfrm>
            <a:off x="457200" y="2167128"/>
            <a:ext cx="2560320" cy="411480"/>
          </a:xfrm>
          <a:prstGeom prst="rect">
            <a:avLst/>
          </a:prstGeom>
          <a:noFill/>
          <a:ln/>
        </p:spPr>
        <p:txBody>
          <a:bodyPr wrap="square" lIns="0" tIns="0" rIns="0" bIns="0" rtlCol="0" anchor="ctr"/>
          <a:lstStyle/>
          <a:p>
            <a:pPr algn="l" indent="0" marL="0">
              <a:buNone/>
            </a:pPr>
            <a:r>
              <a:rPr lang="en-US" sz="1100" dirty="0">
                <a:solidFill>
                  <a:srgbClr val="E8EAF0"/>
                </a:solidFill>
              </a:rPr>
              <a:t>Precio accesible (amateur)</a:t>
            </a:r>
            <a:endParaRPr lang="en-US" sz="1100" dirty="0"/>
          </a:p>
        </p:txBody>
      </p:sp>
      <p:sp>
        <p:nvSpPr>
          <p:cNvPr id="23" name="Shape 21"/>
          <p:cNvSpPr/>
          <p:nvPr/>
        </p:nvSpPr>
        <p:spPr>
          <a:xfrm>
            <a:off x="3200400" y="2167128"/>
            <a:ext cx="1645920" cy="411480"/>
          </a:xfrm>
          <a:prstGeom prst="rect">
            <a:avLst/>
          </a:prstGeom>
          <a:solidFill>
            <a:srgbClr val="252B34"/>
          </a:solidFill>
          <a:ln w="3810">
            <a:solidFill>
              <a:srgbClr val="3A4055"/>
            </a:solidFill>
            <a:prstDash val="solid"/>
          </a:ln>
        </p:spPr>
      </p:sp>
      <p:sp>
        <p:nvSpPr>
          <p:cNvPr id="24" name="Text 22"/>
          <p:cNvSpPr/>
          <p:nvPr/>
        </p:nvSpPr>
        <p:spPr>
          <a:xfrm>
            <a:off x="3291840" y="2167128"/>
            <a:ext cx="1463040" cy="411480"/>
          </a:xfrm>
          <a:prstGeom prst="rect">
            <a:avLst/>
          </a:prstGeom>
          <a:noFill/>
          <a:ln/>
        </p:spPr>
        <p:txBody>
          <a:bodyPr wrap="square" lIns="0" tIns="0" rIns="0" bIns="0" rtlCol="0" anchor="ctr"/>
          <a:lstStyle/>
          <a:p>
            <a:pPr algn="ctr" indent="0" marL="0">
              <a:buNone/>
            </a:pPr>
            <a:r>
              <a:rPr lang="en-US" sz="1400" b="1" dirty="0">
                <a:solidFill>
                  <a:srgbClr val="00E676"/>
                </a:solidFill>
              </a:rPr>
              <a:t>✓</a:t>
            </a:r>
            <a:endParaRPr lang="en-US" sz="1400" dirty="0"/>
          </a:p>
        </p:txBody>
      </p:sp>
      <p:sp>
        <p:nvSpPr>
          <p:cNvPr id="25" name="Shape 23"/>
          <p:cNvSpPr/>
          <p:nvPr/>
        </p:nvSpPr>
        <p:spPr>
          <a:xfrm>
            <a:off x="4937760" y="2167128"/>
            <a:ext cx="1737360" cy="411480"/>
          </a:xfrm>
          <a:prstGeom prst="rect">
            <a:avLst/>
          </a:prstGeom>
          <a:solidFill>
            <a:srgbClr val="252B34"/>
          </a:solidFill>
          <a:ln w="3810">
            <a:solidFill>
              <a:srgbClr val="3A4055"/>
            </a:solidFill>
            <a:prstDash val="solid"/>
          </a:ln>
        </p:spPr>
      </p:sp>
      <p:sp>
        <p:nvSpPr>
          <p:cNvPr id="26" name="Text 24"/>
          <p:cNvSpPr/>
          <p:nvPr/>
        </p:nvSpPr>
        <p:spPr>
          <a:xfrm>
            <a:off x="5029200" y="2167128"/>
            <a:ext cx="1554480" cy="411480"/>
          </a:xfrm>
          <a:prstGeom prst="rect">
            <a:avLst/>
          </a:prstGeom>
          <a:noFill/>
          <a:ln/>
        </p:spPr>
        <p:txBody>
          <a:bodyPr wrap="square" lIns="0" tIns="0" rIns="0" bIns="0" rtlCol="0" anchor="ctr"/>
          <a:lstStyle/>
          <a:p>
            <a:pPr algn="ctr" indent="0" marL="0">
              <a:buNone/>
            </a:pPr>
            <a:r>
              <a:rPr lang="en-US" sz="1400" b="1" dirty="0">
                <a:solidFill>
                  <a:srgbClr val="E53935"/>
                </a:solidFill>
              </a:rPr>
              <a:t>✗</a:t>
            </a:r>
            <a:endParaRPr lang="en-US" sz="1400" dirty="0"/>
          </a:p>
        </p:txBody>
      </p:sp>
      <p:sp>
        <p:nvSpPr>
          <p:cNvPr id="27" name="Shape 25"/>
          <p:cNvSpPr/>
          <p:nvPr/>
        </p:nvSpPr>
        <p:spPr>
          <a:xfrm>
            <a:off x="6720840" y="2167128"/>
            <a:ext cx="1737360" cy="411480"/>
          </a:xfrm>
          <a:prstGeom prst="rect">
            <a:avLst/>
          </a:prstGeom>
          <a:solidFill>
            <a:srgbClr val="0A2B1A"/>
          </a:solidFill>
          <a:ln w="3810">
            <a:solidFill>
              <a:srgbClr val="3A4055"/>
            </a:solidFill>
            <a:prstDash val="solid"/>
          </a:ln>
        </p:spPr>
      </p:sp>
      <p:sp>
        <p:nvSpPr>
          <p:cNvPr id="28" name="Text 26"/>
          <p:cNvSpPr/>
          <p:nvPr/>
        </p:nvSpPr>
        <p:spPr>
          <a:xfrm>
            <a:off x="6812280" y="2167128"/>
            <a:ext cx="1554480" cy="411480"/>
          </a:xfrm>
          <a:prstGeom prst="rect">
            <a:avLst/>
          </a:prstGeom>
          <a:noFill/>
          <a:ln/>
        </p:spPr>
        <p:txBody>
          <a:bodyPr wrap="square" lIns="0" tIns="0" rIns="0" bIns="0" rtlCol="0" anchor="ctr"/>
          <a:lstStyle/>
          <a:p>
            <a:pPr algn="ctr" indent="0" marL="0">
              <a:buNone/>
            </a:pPr>
            <a:r>
              <a:rPr lang="en-US" sz="1400" b="1" dirty="0">
                <a:solidFill>
                  <a:srgbClr val="00E676"/>
                </a:solidFill>
              </a:rPr>
              <a:t>✓</a:t>
            </a:r>
            <a:endParaRPr lang="en-US" sz="1400" dirty="0"/>
          </a:p>
        </p:txBody>
      </p:sp>
      <p:sp>
        <p:nvSpPr>
          <p:cNvPr id="29" name="Shape 27"/>
          <p:cNvSpPr/>
          <p:nvPr/>
        </p:nvSpPr>
        <p:spPr>
          <a:xfrm>
            <a:off x="365760" y="2578608"/>
            <a:ext cx="2743200" cy="411480"/>
          </a:xfrm>
          <a:prstGeom prst="rect">
            <a:avLst/>
          </a:prstGeom>
          <a:solidFill>
            <a:srgbClr val="2D3240"/>
          </a:solidFill>
          <a:ln w="3810">
            <a:solidFill>
              <a:srgbClr val="3A4055"/>
            </a:solidFill>
            <a:prstDash val="solid"/>
          </a:ln>
        </p:spPr>
      </p:sp>
      <p:sp>
        <p:nvSpPr>
          <p:cNvPr id="30" name="Text 28"/>
          <p:cNvSpPr/>
          <p:nvPr/>
        </p:nvSpPr>
        <p:spPr>
          <a:xfrm>
            <a:off x="457200" y="2578608"/>
            <a:ext cx="2560320" cy="411480"/>
          </a:xfrm>
          <a:prstGeom prst="rect">
            <a:avLst/>
          </a:prstGeom>
          <a:noFill/>
          <a:ln/>
        </p:spPr>
        <p:txBody>
          <a:bodyPr wrap="square" lIns="0" tIns="0" rIns="0" bIns="0" rtlCol="0" anchor="ctr"/>
          <a:lstStyle/>
          <a:p>
            <a:pPr algn="l" indent="0" marL="0">
              <a:buNone/>
            </a:pPr>
            <a:r>
              <a:rPr lang="en-US" sz="1100" dirty="0">
                <a:solidFill>
                  <a:srgbClr val="E8EAF0"/>
                </a:solidFill>
              </a:rPr>
              <a:t>Análisis en tiempo real</a:t>
            </a:r>
            <a:endParaRPr lang="en-US" sz="1100" dirty="0"/>
          </a:p>
        </p:txBody>
      </p:sp>
      <p:sp>
        <p:nvSpPr>
          <p:cNvPr id="31" name="Shape 29"/>
          <p:cNvSpPr/>
          <p:nvPr/>
        </p:nvSpPr>
        <p:spPr>
          <a:xfrm>
            <a:off x="3200400" y="2578608"/>
            <a:ext cx="1645920" cy="411480"/>
          </a:xfrm>
          <a:prstGeom prst="rect">
            <a:avLst/>
          </a:prstGeom>
          <a:solidFill>
            <a:srgbClr val="2D3240"/>
          </a:solidFill>
          <a:ln w="3810">
            <a:solidFill>
              <a:srgbClr val="3A4055"/>
            </a:solidFill>
            <a:prstDash val="solid"/>
          </a:ln>
        </p:spPr>
      </p:sp>
      <p:sp>
        <p:nvSpPr>
          <p:cNvPr id="32" name="Text 30"/>
          <p:cNvSpPr/>
          <p:nvPr/>
        </p:nvSpPr>
        <p:spPr>
          <a:xfrm>
            <a:off x="3291840" y="2578608"/>
            <a:ext cx="1463040" cy="411480"/>
          </a:xfrm>
          <a:prstGeom prst="rect">
            <a:avLst/>
          </a:prstGeom>
          <a:noFill/>
          <a:ln/>
        </p:spPr>
        <p:txBody>
          <a:bodyPr wrap="square" lIns="0" tIns="0" rIns="0" bIns="0" rtlCol="0" anchor="ctr"/>
          <a:lstStyle/>
          <a:p>
            <a:pPr algn="ctr" indent="0" marL="0">
              <a:buNone/>
            </a:pPr>
            <a:r>
              <a:rPr lang="en-US" sz="1400" b="1" dirty="0">
                <a:solidFill>
                  <a:srgbClr val="E53935"/>
                </a:solidFill>
              </a:rPr>
              <a:t>✗</a:t>
            </a:r>
            <a:endParaRPr lang="en-US" sz="1400" dirty="0"/>
          </a:p>
        </p:txBody>
      </p:sp>
      <p:sp>
        <p:nvSpPr>
          <p:cNvPr id="33" name="Shape 31"/>
          <p:cNvSpPr/>
          <p:nvPr/>
        </p:nvSpPr>
        <p:spPr>
          <a:xfrm>
            <a:off x="4937760" y="2578608"/>
            <a:ext cx="1737360" cy="411480"/>
          </a:xfrm>
          <a:prstGeom prst="rect">
            <a:avLst/>
          </a:prstGeom>
          <a:solidFill>
            <a:srgbClr val="2D3240"/>
          </a:solidFill>
          <a:ln w="3810">
            <a:solidFill>
              <a:srgbClr val="3A4055"/>
            </a:solidFill>
            <a:prstDash val="solid"/>
          </a:ln>
        </p:spPr>
      </p:sp>
      <p:sp>
        <p:nvSpPr>
          <p:cNvPr id="34" name="Text 32"/>
          <p:cNvSpPr/>
          <p:nvPr/>
        </p:nvSpPr>
        <p:spPr>
          <a:xfrm>
            <a:off x="5029200" y="2578608"/>
            <a:ext cx="1554480" cy="411480"/>
          </a:xfrm>
          <a:prstGeom prst="rect">
            <a:avLst/>
          </a:prstGeom>
          <a:noFill/>
          <a:ln/>
        </p:spPr>
        <p:txBody>
          <a:bodyPr wrap="square" lIns="0" tIns="0" rIns="0" bIns="0" rtlCol="0" anchor="ctr"/>
          <a:lstStyle/>
          <a:p>
            <a:pPr algn="ctr" indent="0" marL="0">
              <a:buNone/>
            </a:pPr>
            <a:r>
              <a:rPr lang="en-US" sz="1400" b="1" dirty="0">
                <a:solidFill>
                  <a:srgbClr val="00E676"/>
                </a:solidFill>
              </a:rPr>
              <a:t>✓</a:t>
            </a:r>
            <a:endParaRPr lang="en-US" sz="1400" dirty="0"/>
          </a:p>
        </p:txBody>
      </p:sp>
      <p:sp>
        <p:nvSpPr>
          <p:cNvPr id="35" name="Shape 33"/>
          <p:cNvSpPr/>
          <p:nvPr/>
        </p:nvSpPr>
        <p:spPr>
          <a:xfrm>
            <a:off x="6720840" y="2578608"/>
            <a:ext cx="1737360" cy="411480"/>
          </a:xfrm>
          <a:prstGeom prst="rect">
            <a:avLst/>
          </a:prstGeom>
          <a:solidFill>
            <a:srgbClr val="0D3320"/>
          </a:solidFill>
          <a:ln w="3810">
            <a:solidFill>
              <a:srgbClr val="3A4055"/>
            </a:solidFill>
            <a:prstDash val="solid"/>
          </a:ln>
        </p:spPr>
      </p:sp>
      <p:sp>
        <p:nvSpPr>
          <p:cNvPr id="36" name="Text 34"/>
          <p:cNvSpPr/>
          <p:nvPr/>
        </p:nvSpPr>
        <p:spPr>
          <a:xfrm>
            <a:off x="6812280" y="2578608"/>
            <a:ext cx="1554480" cy="411480"/>
          </a:xfrm>
          <a:prstGeom prst="rect">
            <a:avLst/>
          </a:prstGeom>
          <a:noFill/>
          <a:ln/>
        </p:spPr>
        <p:txBody>
          <a:bodyPr wrap="square" lIns="0" tIns="0" rIns="0" bIns="0" rtlCol="0" anchor="ctr"/>
          <a:lstStyle/>
          <a:p>
            <a:pPr algn="ctr" indent="0" marL="0">
              <a:buNone/>
            </a:pPr>
            <a:r>
              <a:rPr lang="en-US" sz="1400" b="1" dirty="0">
                <a:solidFill>
                  <a:srgbClr val="00E676"/>
                </a:solidFill>
              </a:rPr>
              <a:t>✓</a:t>
            </a:r>
            <a:endParaRPr lang="en-US" sz="1400" dirty="0"/>
          </a:p>
        </p:txBody>
      </p:sp>
      <p:sp>
        <p:nvSpPr>
          <p:cNvPr id="37" name="Shape 35"/>
          <p:cNvSpPr/>
          <p:nvPr/>
        </p:nvSpPr>
        <p:spPr>
          <a:xfrm>
            <a:off x="365760" y="2990088"/>
            <a:ext cx="2743200" cy="411480"/>
          </a:xfrm>
          <a:prstGeom prst="rect">
            <a:avLst/>
          </a:prstGeom>
          <a:solidFill>
            <a:srgbClr val="252B34"/>
          </a:solidFill>
          <a:ln w="3810">
            <a:solidFill>
              <a:srgbClr val="3A4055"/>
            </a:solidFill>
            <a:prstDash val="solid"/>
          </a:ln>
        </p:spPr>
      </p:sp>
      <p:sp>
        <p:nvSpPr>
          <p:cNvPr id="38" name="Text 36"/>
          <p:cNvSpPr/>
          <p:nvPr/>
        </p:nvSpPr>
        <p:spPr>
          <a:xfrm>
            <a:off x="457200" y="2990088"/>
            <a:ext cx="2560320" cy="411480"/>
          </a:xfrm>
          <a:prstGeom prst="rect">
            <a:avLst/>
          </a:prstGeom>
          <a:noFill/>
          <a:ln/>
        </p:spPr>
        <p:txBody>
          <a:bodyPr wrap="square" lIns="0" tIns="0" rIns="0" bIns="0" rtlCol="0" anchor="ctr"/>
          <a:lstStyle/>
          <a:p>
            <a:pPr algn="l" indent="0" marL="0">
              <a:buNone/>
            </a:pPr>
            <a:r>
              <a:rPr lang="en-US" sz="1100" dirty="0">
                <a:solidFill>
                  <a:srgbClr val="E8EAF0"/>
                </a:solidFill>
              </a:rPr>
              <a:t>Detección de formaciones</a:t>
            </a:r>
            <a:endParaRPr lang="en-US" sz="1100" dirty="0"/>
          </a:p>
        </p:txBody>
      </p:sp>
      <p:sp>
        <p:nvSpPr>
          <p:cNvPr id="39" name="Shape 37"/>
          <p:cNvSpPr/>
          <p:nvPr/>
        </p:nvSpPr>
        <p:spPr>
          <a:xfrm>
            <a:off x="3200400" y="2990088"/>
            <a:ext cx="1645920" cy="411480"/>
          </a:xfrm>
          <a:prstGeom prst="rect">
            <a:avLst/>
          </a:prstGeom>
          <a:solidFill>
            <a:srgbClr val="252B34"/>
          </a:solidFill>
          <a:ln w="3810">
            <a:solidFill>
              <a:srgbClr val="3A4055"/>
            </a:solidFill>
            <a:prstDash val="solid"/>
          </a:ln>
        </p:spPr>
      </p:sp>
      <p:sp>
        <p:nvSpPr>
          <p:cNvPr id="40" name="Text 38"/>
          <p:cNvSpPr/>
          <p:nvPr/>
        </p:nvSpPr>
        <p:spPr>
          <a:xfrm>
            <a:off x="3291840" y="2990088"/>
            <a:ext cx="1463040" cy="411480"/>
          </a:xfrm>
          <a:prstGeom prst="rect">
            <a:avLst/>
          </a:prstGeom>
          <a:noFill/>
          <a:ln/>
        </p:spPr>
        <p:txBody>
          <a:bodyPr wrap="square" lIns="0" tIns="0" rIns="0" bIns="0" rtlCol="0" anchor="ctr"/>
          <a:lstStyle/>
          <a:p>
            <a:pPr algn="ctr" indent="0" marL="0">
              <a:buNone/>
            </a:pPr>
            <a:r>
              <a:rPr lang="en-US" sz="1400" b="1" dirty="0">
                <a:solidFill>
                  <a:srgbClr val="E53935"/>
                </a:solidFill>
              </a:rPr>
              <a:t>✗</a:t>
            </a:r>
            <a:endParaRPr lang="en-US" sz="1400" dirty="0"/>
          </a:p>
        </p:txBody>
      </p:sp>
      <p:sp>
        <p:nvSpPr>
          <p:cNvPr id="41" name="Shape 39"/>
          <p:cNvSpPr/>
          <p:nvPr/>
        </p:nvSpPr>
        <p:spPr>
          <a:xfrm>
            <a:off x="4937760" y="2990088"/>
            <a:ext cx="1737360" cy="411480"/>
          </a:xfrm>
          <a:prstGeom prst="rect">
            <a:avLst/>
          </a:prstGeom>
          <a:solidFill>
            <a:srgbClr val="252B34"/>
          </a:solidFill>
          <a:ln w="3810">
            <a:solidFill>
              <a:srgbClr val="3A4055"/>
            </a:solidFill>
            <a:prstDash val="solid"/>
          </a:ln>
        </p:spPr>
      </p:sp>
      <p:sp>
        <p:nvSpPr>
          <p:cNvPr id="42" name="Text 40"/>
          <p:cNvSpPr/>
          <p:nvPr/>
        </p:nvSpPr>
        <p:spPr>
          <a:xfrm>
            <a:off x="5029200" y="2990088"/>
            <a:ext cx="1554480" cy="411480"/>
          </a:xfrm>
          <a:prstGeom prst="rect">
            <a:avLst/>
          </a:prstGeom>
          <a:noFill/>
          <a:ln/>
        </p:spPr>
        <p:txBody>
          <a:bodyPr wrap="square" lIns="0" tIns="0" rIns="0" bIns="0" rtlCol="0" anchor="ctr"/>
          <a:lstStyle/>
          <a:p>
            <a:pPr algn="ctr" indent="0" marL="0">
              <a:buNone/>
            </a:pPr>
            <a:r>
              <a:rPr lang="en-US" sz="1400" b="1" dirty="0">
                <a:solidFill>
                  <a:srgbClr val="00E676"/>
                </a:solidFill>
              </a:rPr>
              <a:t>✓</a:t>
            </a:r>
            <a:endParaRPr lang="en-US" sz="1400" dirty="0"/>
          </a:p>
        </p:txBody>
      </p:sp>
      <p:sp>
        <p:nvSpPr>
          <p:cNvPr id="43" name="Shape 41"/>
          <p:cNvSpPr/>
          <p:nvPr/>
        </p:nvSpPr>
        <p:spPr>
          <a:xfrm>
            <a:off x="6720840" y="2990088"/>
            <a:ext cx="1737360" cy="411480"/>
          </a:xfrm>
          <a:prstGeom prst="rect">
            <a:avLst/>
          </a:prstGeom>
          <a:solidFill>
            <a:srgbClr val="0A2B1A"/>
          </a:solidFill>
          <a:ln w="3810">
            <a:solidFill>
              <a:srgbClr val="3A4055"/>
            </a:solidFill>
            <a:prstDash val="solid"/>
          </a:ln>
        </p:spPr>
      </p:sp>
      <p:sp>
        <p:nvSpPr>
          <p:cNvPr id="44" name="Text 42"/>
          <p:cNvSpPr/>
          <p:nvPr/>
        </p:nvSpPr>
        <p:spPr>
          <a:xfrm>
            <a:off x="6812280" y="2990088"/>
            <a:ext cx="1554480" cy="411480"/>
          </a:xfrm>
          <a:prstGeom prst="rect">
            <a:avLst/>
          </a:prstGeom>
          <a:noFill/>
          <a:ln/>
        </p:spPr>
        <p:txBody>
          <a:bodyPr wrap="square" lIns="0" tIns="0" rIns="0" bIns="0" rtlCol="0" anchor="ctr"/>
          <a:lstStyle/>
          <a:p>
            <a:pPr algn="ctr" indent="0" marL="0">
              <a:buNone/>
            </a:pPr>
            <a:r>
              <a:rPr lang="en-US" sz="1400" b="1" dirty="0">
                <a:solidFill>
                  <a:srgbClr val="00E676"/>
                </a:solidFill>
              </a:rPr>
              <a:t>✓</a:t>
            </a:r>
            <a:endParaRPr lang="en-US" sz="1400" dirty="0"/>
          </a:p>
        </p:txBody>
      </p:sp>
      <p:sp>
        <p:nvSpPr>
          <p:cNvPr id="45" name="Shape 43"/>
          <p:cNvSpPr/>
          <p:nvPr/>
        </p:nvSpPr>
        <p:spPr>
          <a:xfrm>
            <a:off x="365760" y="3401568"/>
            <a:ext cx="2743200" cy="411480"/>
          </a:xfrm>
          <a:prstGeom prst="rect">
            <a:avLst/>
          </a:prstGeom>
          <a:solidFill>
            <a:srgbClr val="2D3240"/>
          </a:solidFill>
          <a:ln w="3810">
            <a:solidFill>
              <a:srgbClr val="3A4055"/>
            </a:solidFill>
            <a:prstDash val="solid"/>
          </a:ln>
        </p:spPr>
      </p:sp>
      <p:sp>
        <p:nvSpPr>
          <p:cNvPr id="46" name="Text 44"/>
          <p:cNvSpPr/>
          <p:nvPr/>
        </p:nvSpPr>
        <p:spPr>
          <a:xfrm>
            <a:off x="457200" y="3401568"/>
            <a:ext cx="2560320" cy="411480"/>
          </a:xfrm>
          <a:prstGeom prst="rect">
            <a:avLst/>
          </a:prstGeom>
          <a:noFill/>
          <a:ln/>
        </p:spPr>
        <p:txBody>
          <a:bodyPr wrap="square" lIns="0" tIns="0" rIns="0" bIns="0" rtlCol="0" anchor="ctr"/>
          <a:lstStyle/>
          <a:p>
            <a:pPr algn="l" indent="0" marL="0">
              <a:buNone/>
            </a:pPr>
            <a:r>
              <a:rPr lang="en-US" sz="1100" dirty="0">
                <a:solidFill>
                  <a:srgbClr val="E8EAF0"/>
                </a:solidFill>
              </a:rPr>
              <a:t>Análisis de posesión</a:t>
            </a:r>
            <a:endParaRPr lang="en-US" sz="1100" dirty="0"/>
          </a:p>
        </p:txBody>
      </p:sp>
      <p:sp>
        <p:nvSpPr>
          <p:cNvPr id="47" name="Shape 45"/>
          <p:cNvSpPr/>
          <p:nvPr/>
        </p:nvSpPr>
        <p:spPr>
          <a:xfrm>
            <a:off x="3200400" y="3401568"/>
            <a:ext cx="1645920" cy="411480"/>
          </a:xfrm>
          <a:prstGeom prst="rect">
            <a:avLst/>
          </a:prstGeom>
          <a:solidFill>
            <a:srgbClr val="2D3240"/>
          </a:solidFill>
          <a:ln w="3810">
            <a:solidFill>
              <a:srgbClr val="3A4055"/>
            </a:solidFill>
            <a:prstDash val="solid"/>
          </a:ln>
        </p:spPr>
      </p:sp>
      <p:sp>
        <p:nvSpPr>
          <p:cNvPr id="48" name="Text 46"/>
          <p:cNvSpPr/>
          <p:nvPr/>
        </p:nvSpPr>
        <p:spPr>
          <a:xfrm>
            <a:off x="3291840" y="3401568"/>
            <a:ext cx="1463040" cy="411480"/>
          </a:xfrm>
          <a:prstGeom prst="rect">
            <a:avLst/>
          </a:prstGeom>
          <a:noFill/>
          <a:ln/>
        </p:spPr>
        <p:txBody>
          <a:bodyPr wrap="square" lIns="0" tIns="0" rIns="0" bIns="0" rtlCol="0" anchor="ctr"/>
          <a:lstStyle/>
          <a:p>
            <a:pPr algn="ctr" indent="0" marL="0">
              <a:buNone/>
            </a:pPr>
            <a:r>
              <a:rPr lang="en-US" sz="1400" b="1" dirty="0">
                <a:solidFill>
                  <a:srgbClr val="E53935"/>
                </a:solidFill>
              </a:rPr>
              <a:t>✗</a:t>
            </a:r>
            <a:endParaRPr lang="en-US" sz="1400" dirty="0"/>
          </a:p>
        </p:txBody>
      </p:sp>
      <p:sp>
        <p:nvSpPr>
          <p:cNvPr id="49" name="Shape 47"/>
          <p:cNvSpPr/>
          <p:nvPr/>
        </p:nvSpPr>
        <p:spPr>
          <a:xfrm>
            <a:off x="4937760" y="3401568"/>
            <a:ext cx="1737360" cy="411480"/>
          </a:xfrm>
          <a:prstGeom prst="rect">
            <a:avLst/>
          </a:prstGeom>
          <a:solidFill>
            <a:srgbClr val="2D3240"/>
          </a:solidFill>
          <a:ln w="3810">
            <a:solidFill>
              <a:srgbClr val="3A4055"/>
            </a:solidFill>
            <a:prstDash val="solid"/>
          </a:ln>
        </p:spPr>
      </p:sp>
      <p:sp>
        <p:nvSpPr>
          <p:cNvPr id="50" name="Text 48"/>
          <p:cNvSpPr/>
          <p:nvPr/>
        </p:nvSpPr>
        <p:spPr>
          <a:xfrm>
            <a:off x="5029200" y="3401568"/>
            <a:ext cx="1554480" cy="411480"/>
          </a:xfrm>
          <a:prstGeom prst="rect">
            <a:avLst/>
          </a:prstGeom>
          <a:noFill/>
          <a:ln/>
        </p:spPr>
        <p:txBody>
          <a:bodyPr wrap="square" lIns="0" tIns="0" rIns="0" bIns="0" rtlCol="0" anchor="ctr"/>
          <a:lstStyle/>
          <a:p>
            <a:pPr algn="ctr" indent="0" marL="0">
              <a:buNone/>
            </a:pPr>
            <a:r>
              <a:rPr lang="en-US" sz="1400" b="1" dirty="0">
                <a:solidFill>
                  <a:srgbClr val="00E676"/>
                </a:solidFill>
              </a:rPr>
              <a:t>✓</a:t>
            </a:r>
            <a:endParaRPr lang="en-US" sz="1400" dirty="0"/>
          </a:p>
        </p:txBody>
      </p:sp>
      <p:sp>
        <p:nvSpPr>
          <p:cNvPr id="51" name="Shape 49"/>
          <p:cNvSpPr/>
          <p:nvPr/>
        </p:nvSpPr>
        <p:spPr>
          <a:xfrm>
            <a:off x="6720840" y="3401568"/>
            <a:ext cx="1737360" cy="411480"/>
          </a:xfrm>
          <a:prstGeom prst="rect">
            <a:avLst/>
          </a:prstGeom>
          <a:solidFill>
            <a:srgbClr val="0D3320"/>
          </a:solidFill>
          <a:ln w="3810">
            <a:solidFill>
              <a:srgbClr val="3A4055"/>
            </a:solidFill>
            <a:prstDash val="solid"/>
          </a:ln>
        </p:spPr>
      </p:sp>
      <p:sp>
        <p:nvSpPr>
          <p:cNvPr id="52" name="Text 50"/>
          <p:cNvSpPr/>
          <p:nvPr/>
        </p:nvSpPr>
        <p:spPr>
          <a:xfrm>
            <a:off x="6812280" y="3401568"/>
            <a:ext cx="1554480" cy="411480"/>
          </a:xfrm>
          <a:prstGeom prst="rect">
            <a:avLst/>
          </a:prstGeom>
          <a:noFill/>
          <a:ln/>
        </p:spPr>
        <p:txBody>
          <a:bodyPr wrap="square" lIns="0" tIns="0" rIns="0" bIns="0" rtlCol="0" anchor="ctr"/>
          <a:lstStyle/>
          <a:p>
            <a:pPr algn="ctr" indent="0" marL="0">
              <a:buNone/>
            </a:pPr>
            <a:r>
              <a:rPr lang="en-US" sz="1400" b="1" dirty="0">
                <a:solidFill>
                  <a:srgbClr val="00E676"/>
                </a:solidFill>
              </a:rPr>
              <a:t>✓</a:t>
            </a:r>
            <a:endParaRPr lang="en-US" sz="1400" dirty="0"/>
          </a:p>
        </p:txBody>
      </p:sp>
      <p:sp>
        <p:nvSpPr>
          <p:cNvPr id="53" name="Shape 51"/>
          <p:cNvSpPr/>
          <p:nvPr/>
        </p:nvSpPr>
        <p:spPr>
          <a:xfrm>
            <a:off x="365760" y="3813048"/>
            <a:ext cx="2743200" cy="411480"/>
          </a:xfrm>
          <a:prstGeom prst="rect">
            <a:avLst/>
          </a:prstGeom>
          <a:solidFill>
            <a:srgbClr val="252B34"/>
          </a:solidFill>
          <a:ln w="3810">
            <a:solidFill>
              <a:srgbClr val="3A4055"/>
            </a:solidFill>
            <a:prstDash val="solid"/>
          </a:ln>
        </p:spPr>
      </p:sp>
      <p:sp>
        <p:nvSpPr>
          <p:cNvPr id="54" name="Text 52"/>
          <p:cNvSpPr/>
          <p:nvPr/>
        </p:nvSpPr>
        <p:spPr>
          <a:xfrm>
            <a:off x="457200" y="3813048"/>
            <a:ext cx="2560320" cy="411480"/>
          </a:xfrm>
          <a:prstGeom prst="rect">
            <a:avLst/>
          </a:prstGeom>
          <a:noFill/>
          <a:ln/>
        </p:spPr>
        <p:txBody>
          <a:bodyPr wrap="square" lIns="0" tIns="0" rIns="0" bIns="0" rtlCol="0" anchor="ctr"/>
          <a:lstStyle/>
          <a:p>
            <a:pPr algn="l" indent="0" marL="0">
              <a:buNone/>
            </a:pPr>
            <a:r>
              <a:rPr lang="en-US" sz="1100" dirty="0">
                <a:solidFill>
                  <a:srgbClr val="E8EAF0"/>
                </a:solidFill>
              </a:rPr>
              <a:t>Highlights automáticos</a:t>
            </a:r>
            <a:endParaRPr lang="en-US" sz="1100" dirty="0"/>
          </a:p>
        </p:txBody>
      </p:sp>
      <p:sp>
        <p:nvSpPr>
          <p:cNvPr id="55" name="Shape 53"/>
          <p:cNvSpPr/>
          <p:nvPr/>
        </p:nvSpPr>
        <p:spPr>
          <a:xfrm>
            <a:off x="3200400" y="3813048"/>
            <a:ext cx="1645920" cy="411480"/>
          </a:xfrm>
          <a:prstGeom prst="rect">
            <a:avLst/>
          </a:prstGeom>
          <a:solidFill>
            <a:srgbClr val="252B34"/>
          </a:solidFill>
          <a:ln w="3810">
            <a:solidFill>
              <a:srgbClr val="3A4055"/>
            </a:solidFill>
            <a:prstDash val="solid"/>
          </a:ln>
        </p:spPr>
      </p:sp>
      <p:sp>
        <p:nvSpPr>
          <p:cNvPr id="56" name="Text 54"/>
          <p:cNvSpPr/>
          <p:nvPr/>
        </p:nvSpPr>
        <p:spPr>
          <a:xfrm>
            <a:off x="3291840" y="3813048"/>
            <a:ext cx="1463040" cy="411480"/>
          </a:xfrm>
          <a:prstGeom prst="rect">
            <a:avLst/>
          </a:prstGeom>
          <a:noFill/>
          <a:ln/>
        </p:spPr>
        <p:txBody>
          <a:bodyPr wrap="square" lIns="0" tIns="0" rIns="0" bIns="0" rtlCol="0" anchor="ctr"/>
          <a:lstStyle/>
          <a:p>
            <a:pPr algn="ctr" indent="0" marL="0">
              <a:buNone/>
            </a:pPr>
            <a:r>
              <a:rPr lang="en-US" sz="1400" b="1" dirty="0">
                <a:solidFill>
                  <a:srgbClr val="E53935"/>
                </a:solidFill>
              </a:rPr>
              <a:t>✗</a:t>
            </a:r>
            <a:endParaRPr lang="en-US" sz="1400" dirty="0"/>
          </a:p>
        </p:txBody>
      </p:sp>
      <p:sp>
        <p:nvSpPr>
          <p:cNvPr id="57" name="Shape 55"/>
          <p:cNvSpPr/>
          <p:nvPr/>
        </p:nvSpPr>
        <p:spPr>
          <a:xfrm>
            <a:off x="4937760" y="3813048"/>
            <a:ext cx="1737360" cy="411480"/>
          </a:xfrm>
          <a:prstGeom prst="rect">
            <a:avLst/>
          </a:prstGeom>
          <a:solidFill>
            <a:srgbClr val="252B34"/>
          </a:solidFill>
          <a:ln w="3810">
            <a:solidFill>
              <a:srgbClr val="3A4055"/>
            </a:solidFill>
            <a:prstDash val="solid"/>
          </a:ln>
        </p:spPr>
      </p:sp>
      <p:sp>
        <p:nvSpPr>
          <p:cNvPr id="58" name="Text 56"/>
          <p:cNvSpPr/>
          <p:nvPr/>
        </p:nvSpPr>
        <p:spPr>
          <a:xfrm>
            <a:off x="5029200" y="3813048"/>
            <a:ext cx="1554480" cy="411480"/>
          </a:xfrm>
          <a:prstGeom prst="rect">
            <a:avLst/>
          </a:prstGeom>
          <a:noFill/>
          <a:ln/>
        </p:spPr>
        <p:txBody>
          <a:bodyPr wrap="square" lIns="0" tIns="0" rIns="0" bIns="0" rtlCol="0" anchor="ctr"/>
          <a:lstStyle/>
          <a:p>
            <a:pPr algn="ctr" indent="0" marL="0">
              <a:buNone/>
            </a:pPr>
            <a:r>
              <a:rPr lang="en-US" sz="1400" b="1" dirty="0">
                <a:solidFill>
                  <a:srgbClr val="00E676"/>
                </a:solidFill>
              </a:rPr>
              <a:t>✓</a:t>
            </a:r>
            <a:endParaRPr lang="en-US" sz="1400" dirty="0"/>
          </a:p>
        </p:txBody>
      </p:sp>
      <p:sp>
        <p:nvSpPr>
          <p:cNvPr id="59" name="Shape 57"/>
          <p:cNvSpPr/>
          <p:nvPr/>
        </p:nvSpPr>
        <p:spPr>
          <a:xfrm>
            <a:off x="6720840" y="3813048"/>
            <a:ext cx="1737360" cy="411480"/>
          </a:xfrm>
          <a:prstGeom prst="rect">
            <a:avLst/>
          </a:prstGeom>
          <a:solidFill>
            <a:srgbClr val="0A2B1A"/>
          </a:solidFill>
          <a:ln w="3810">
            <a:solidFill>
              <a:srgbClr val="3A4055"/>
            </a:solidFill>
            <a:prstDash val="solid"/>
          </a:ln>
        </p:spPr>
      </p:sp>
      <p:sp>
        <p:nvSpPr>
          <p:cNvPr id="60" name="Text 58"/>
          <p:cNvSpPr/>
          <p:nvPr/>
        </p:nvSpPr>
        <p:spPr>
          <a:xfrm>
            <a:off x="6812280" y="3813048"/>
            <a:ext cx="1554480" cy="411480"/>
          </a:xfrm>
          <a:prstGeom prst="rect">
            <a:avLst/>
          </a:prstGeom>
          <a:noFill/>
          <a:ln/>
        </p:spPr>
        <p:txBody>
          <a:bodyPr wrap="square" lIns="0" tIns="0" rIns="0" bIns="0" rtlCol="0" anchor="ctr"/>
          <a:lstStyle/>
          <a:p>
            <a:pPr algn="ctr" indent="0" marL="0">
              <a:buNone/>
            </a:pPr>
            <a:r>
              <a:rPr lang="en-US" sz="1400" b="1" dirty="0">
                <a:solidFill>
                  <a:srgbClr val="00E676"/>
                </a:solidFill>
              </a:rPr>
              <a: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C0F"/>
        </a:solidFill>
      </p:bgPr>
    </p:bg>
    <p:spTree>
      <p:nvGrpSpPr>
        <p:cNvPr id="1" name=""/>
        <p:cNvGrpSpPr/>
        <p:nvPr/>
      </p:nvGrpSpPr>
      <p:grpSpPr>
        <a:xfrm>
          <a:off x="0" y="0"/>
          <a:ext cx="0" cy="0"/>
          <a:chOff x="0" y="0"/>
          <a:chExt cx="0" cy="0"/>
        </a:xfrm>
      </p:grpSpPr>
      <p:sp>
        <p:nvSpPr>
          <p:cNvPr id="2" name="Shape 0"/>
          <p:cNvSpPr/>
          <p:nvPr/>
        </p:nvSpPr>
        <p:spPr>
          <a:xfrm>
            <a:off x="365760" y="228600"/>
            <a:ext cx="1280160" cy="256032"/>
          </a:xfrm>
          <a:prstGeom prst="rect">
            <a:avLst>
              <a:gd name="adj" fmla="val 14286"/>
            </a:avLst>
          </a:prstGeom>
          <a:solidFill>
            <a:srgbClr val="1A7A3C"/>
          </a:solidFill>
          <a:ln w="12700">
            <a:solidFill>
              <a:srgbClr val="1A7A3C"/>
            </a:solidFill>
            <a:prstDash val="solid"/>
          </a:ln>
        </p:spPr>
      </p:sp>
      <p:sp>
        <p:nvSpPr>
          <p:cNvPr id="3" name="Text 1"/>
          <p:cNvSpPr/>
          <p:nvPr/>
        </p:nvSpPr>
        <p:spPr>
          <a:xfrm>
            <a:off x="365760" y="228600"/>
            <a:ext cx="1280160" cy="256032"/>
          </a:xfrm>
          <a:prstGeom prst="rect">
            <a:avLst/>
          </a:prstGeom>
          <a:noFill/>
          <a:ln/>
        </p:spPr>
        <p:txBody>
          <a:bodyPr wrap="square" lIns="0" tIns="0" rIns="0" bIns="0" rtlCol="0" anchor="ctr"/>
          <a:lstStyle/>
          <a:p>
            <a:pPr algn="ctr" indent="0" marL="0">
              <a:buNone/>
            </a:pPr>
            <a:r>
              <a:rPr lang="en-US" sz="900" b="1" dirty="0">
                <a:solidFill>
                  <a:srgbClr val="FFFFFF"/>
                </a:solidFill>
              </a:rPr>
              <a:t>DOCUMENTACIÓN</a:t>
            </a:r>
            <a:endParaRPr lang="en-US" sz="900" dirty="0"/>
          </a:p>
        </p:txBody>
      </p:sp>
      <p:sp>
        <p:nvSpPr>
          <p:cNvPr id="4" name="Text 2"/>
          <p:cNvSpPr/>
          <p:nvPr/>
        </p:nvSpPr>
        <p:spPr>
          <a:xfrm>
            <a:off x="365760" y="548640"/>
            <a:ext cx="8412480" cy="594360"/>
          </a:xfrm>
          <a:prstGeom prst="rect">
            <a:avLst/>
          </a:prstGeom>
          <a:noFill/>
          <a:ln/>
        </p:spPr>
        <p:txBody>
          <a:bodyPr wrap="square" lIns="0" tIns="0" rIns="0" bIns="0" rtlCol="0" anchor="ctr"/>
          <a:lstStyle/>
          <a:p>
            <a:pPr indent="0" marL="0">
              <a:buNone/>
            </a:pPr>
            <a:r>
              <a:rPr lang="en-US" sz="3600" b="1" dirty="0">
                <a:solidFill>
                  <a:srgbClr val="FFFFFF"/>
                </a:solidFill>
                <a:latin typeface="Arial Black" pitchFamily="34" charset="0"/>
                <a:ea typeface="Arial Black" pitchFamily="34" charset="-122"/>
                <a:cs typeface="Arial Black" pitchFamily="34" charset="-120"/>
              </a:rPr>
              <a:t>Documentación del proyecto</a:t>
            </a:r>
            <a:endParaRPr lang="en-US" sz="3600" dirty="0"/>
          </a:p>
        </p:txBody>
      </p:sp>
      <p:sp>
        <p:nvSpPr>
          <p:cNvPr id="5" name="Text 3"/>
          <p:cNvSpPr/>
          <p:nvPr/>
        </p:nvSpPr>
        <p:spPr>
          <a:xfrm>
            <a:off x="365760" y="1170432"/>
            <a:ext cx="8412480" cy="292608"/>
          </a:xfrm>
          <a:prstGeom prst="rect">
            <a:avLst/>
          </a:prstGeom>
          <a:noFill/>
          <a:ln/>
        </p:spPr>
        <p:txBody>
          <a:bodyPr wrap="square" lIns="0" tIns="0" rIns="0" bIns="0" rtlCol="0" anchor="ctr"/>
          <a:lstStyle/>
          <a:p>
            <a:pPr indent="0" marL="0">
              <a:buNone/>
            </a:pPr>
            <a:r>
              <a:rPr lang="en-US" sz="1200" dirty="0">
                <a:solidFill>
                  <a:srgbClr val="8A9BB0"/>
                </a:solidFill>
              </a:rPr>
              <a:t>Hacé clic en cada documento para abrirlo</a:t>
            </a:r>
            <a:endParaRPr lang="en-US" sz="1200" dirty="0"/>
          </a:p>
        </p:txBody>
      </p:sp>
      <p:sp>
        <p:nvSpPr>
          <p:cNvPr id="6" name="Shape 4"/>
          <p:cNvSpPr/>
          <p:nvPr/>
        </p:nvSpPr>
        <p:spPr>
          <a:xfrm>
            <a:off x="320040" y="1600200"/>
            <a:ext cx="4069080" cy="1508760"/>
          </a:xfrm>
          <a:prstGeom prst="rect">
            <a:avLst/>
          </a:prstGeom>
          <a:solidFill>
            <a:srgbClr val="2D3240"/>
          </a:solidFill>
          <a:ln w="12700">
            <a:solidFill>
              <a:srgbClr val="1A7A3C"/>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320040" y="1600200"/>
            <a:ext cx="4069080" cy="54864"/>
          </a:xfrm>
          <a:prstGeom prst="rect">
            <a:avLst/>
          </a:prstGeom>
          <a:solidFill>
            <a:srgbClr val="1A7A3C"/>
          </a:solidFill>
          <a:ln w="12700">
            <a:solidFill>
              <a:srgbClr val="1A7A3C"/>
            </a:solidFill>
            <a:prstDash val="solid"/>
          </a:ln>
        </p:spPr>
      </p:sp>
      <p:sp>
        <p:nvSpPr>
          <p:cNvPr id="8" name="Text 6"/>
          <p:cNvSpPr/>
          <p:nvPr/>
        </p:nvSpPr>
        <p:spPr>
          <a:xfrm>
            <a:off x="457200" y="1709928"/>
            <a:ext cx="594360" cy="502920"/>
          </a:xfrm>
          <a:prstGeom prst="rect">
            <a:avLst/>
          </a:prstGeom>
          <a:noFill/>
          <a:ln/>
        </p:spPr>
        <p:txBody>
          <a:bodyPr wrap="square" lIns="0" tIns="0" rIns="0" bIns="0" rtlCol="0" anchor="ctr"/>
          <a:lstStyle/>
          <a:p>
            <a:pPr indent="0" marL="0">
              <a:buNone/>
            </a:pPr>
            <a:r>
              <a:rPr lang="en-US" sz="2800" b="1" dirty="0">
                <a:solidFill>
                  <a:srgbClr val="1A7A3C"/>
                </a:solidFill>
                <a:latin typeface="Arial Black" pitchFamily="34" charset="0"/>
                <a:ea typeface="Arial Black" pitchFamily="34" charset="-122"/>
                <a:cs typeface="Arial Black" pitchFamily="34" charset="-120"/>
              </a:rPr>
              <a:t>01</a:t>
            </a:r>
            <a:endParaRPr lang="en-US" sz="2800" dirty="0"/>
          </a:p>
        </p:txBody>
      </p:sp>
      <p:sp>
        <p:nvSpPr>
          <p:cNvPr id="9" name="Text 7"/>
          <p:cNvSpPr/>
          <p:nvPr/>
        </p:nvSpPr>
        <p:spPr>
          <a:xfrm>
            <a:off x="1124712" y="1709928"/>
            <a:ext cx="3108960" cy="347472"/>
          </a:xfrm>
          <a:prstGeom prst="rect">
            <a:avLst/>
          </a:prstGeom>
          <a:noFill/>
          <a:ln/>
        </p:spPr>
        <p:txBody>
          <a:bodyPr wrap="square" lIns="0" tIns="0" rIns="0" bIns="0" rtlCol="0" anchor="ctr"/>
          <a:lstStyle/>
          <a:p>
            <a:pPr indent="0" marL="0">
              <a:buNone/>
            </a:pPr>
            <a:r>
              <a:rPr lang="en-US" sz="1400" b="1" dirty="0">
                <a:solidFill>
                  <a:srgbClr val="FFFFFF"/>
                </a:solidFill>
              </a:rPr>
              <a:t>Casos de Uso</a:t>
            </a:r>
            <a:endParaRPr lang="en-US" sz="1400" dirty="0"/>
          </a:p>
        </p:txBody>
      </p:sp>
      <p:sp>
        <p:nvSpPr>
          <p:cNvPr id="10" name="Text 8"/>
          <p:cNvSpPr/>
          <p:nvPr/>
        </p:nvSpPr>
        <p:spPr>
          <a:xfrm>
            <a:off x="457200" y="2240280"/>
            <a:ext cx="3749040" cy="594360"/>
          </a:xfrm>
          <a:prstGeom prst="rect">
            <a:avLst/>
          </a:prstGeom>
          <a:noFill/>
          <a:ln/>
        </p:spPr>
        <p:txBody>
          <a:bodyPr wrap="square" lIns="0" tIns="0" rIns="0" bIns="0" rtlCol="0" anchor="ctr"/>
          <a:lstStyle/>
          <a:p>
            <a:pPr indent="0" marL="0">
              <a:buNone/>
            </a:pPr>
            <a:r>
              <a:rPr lang="en-US" sz="950" dirty="0">
                <a:solidFill>
                  <a:srgbClr val="8A9BB0"/>
                </a:solidFill>
              </a:rPr>
              <a:t>CU-01 al CU-06: subir video, ver resultados, login, configurar colores, posesión y estadísticas de jugadores.</a:t>
            </a:r>
            <a:endParaRPr lang="en-US" sz="950" dirty="0"/>
          </a:p>
        </p:txBody>
      </p:sp>
      <p:sp>
        <p:nvSpPr>
          <p:cNvPr id="11" name="Shape 9"/>
          <p:cNvSpPr/>
          <p:nvPr/>
        </p:nvSpPr>
        <p:spPr>
          <a:xfrm>
            <a:off x="457200" y="2761488"/>
            <a:ext cx="1371600" cy="256032"/>
          </a:xfrm>
          <a:prstGeom prst="rect">
            <a:avLst>
              <a:gd name="adj" fmla="val 14286"/>
            </a:avLst>
          </a:prstGeom>
          <a:solidFill>
            <a:srgbClr val="1A7A3C"/>
          </a:solidFill>
          <a:ln w="12700">
            <a:solidFill>
              <a:srgbClr val="1A7A3C"/>
            </a:solidFill>
            <a:prstDash val="solid"/>
          </a:ln>
        </p:spPr>
      </p:sp>
      <p:sp>
        <p:nvSpPr>
          <p:cNvPr id="12" name="Text 10">
            <a:hlinkClick r:id="rId1" tooltip=""/>
          </p:cNvPr>
          <p:cNvSpPr/>
          <p:nvPr/>
        </p:nvSpPr>
        <p:spPr>
          <a:xfrm>
            <a:off x="457200" y="2761488"/>
            <a:ext cx="1371600" cy="256032"/>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1" invalidUrl="" action="" tgtFrame="" tooltip="" history="1" highlightClick="0" endSnd="0">
                  <a:extLst>
                    <a:ext uri="{A12FA001-AC4F-418D-AE19-62706E023703}">
                      <ahyp:hlinkClr xmlns:ahyp="http://schemas.microsoft.com/office/drawing/2018/hyperlinkcolor" val="tx"/>
                    </a:ext>
                  </a:extLst>
                </a:hlinkClick>
              </a:rPr>
              <a:t>📄 Abrir documento</a:t>
            </a:r>
            <a:endParaRPr lang="en-US" sz="900" dirty="0"/>
          </a:p>
        </p:txBody>
      </p:sp>
      <p:sp>
        <p:nvSpPr>
          <p:cNvPr id="13" name="Shape 11"/>
          <p:cNvSpPr/>
          <p:nvPr/>
        </p:nvSpPr>
        <p:spPr>
          <a:xfrm>
            <a:off x="4663440" y="1600200"/>
            <a:ext cx="4069080" cy="1508760"/>
          </a:xfrm>
          <a:prstGeom prst="rect">
            <a:avLst/>
          </a:prstGeom>
          <a:solidFill>
            <a:srgbClr val="2D3240"/>
          </a:solidFill>
          <a:ln w="12700">
            <a:solidFill>
              <a:srgbClr val="3498DB"/>
            </a:solidFill>
            <a:prstDash val="solid"/>
          </a:ln>
          <a:effectLst>
            <a:outerShdw sx="100000" sy="100000" kx="0" ky="0" algn="bl" rotWithShape="0" blurRad="101600" dist="38100" dir="8100000">
              <a:srgbClr val="000000">
                <a:alpha val="18000"/>
              </a:srgbClr>
            </a:outerShdw>
          </a:effectLst>
        </p:spPr>
      </p:sp>
      <p:sp>
        <p:nvSpPr>
          <p:cNvPr id="14" name="Shape 12"/>
          <p:cNvSpPr/>
          <p:nvPr/>
        </p:nvSpPr>
        <p:spPr>
          <a:xfrm>
            <a:off x="4663440" y="1600200"/>
            <a:ext cx="4069080" cy="54864"/>
          </a:xfrm>
          <a:prstGeom prst="rect">
            <a:avLst/>
          </a:prstGeom>
          <a:solidFill>
            <a:srgbClr val="3498DB"/>
          </a:solidFill>
          <a:ln w="12700">
            <a:solidFill>
              <a:srgbClr val="3498DB"/>
            </a:solidFill>
            <a:prstDash val="solid"/>
          </a:ln>
        </p:spPr>
      </p:sp>
      <p:sp>
        <p:nvSpPr>
          <p:cNvPr id="15" name="Text 13"/>
          <p:cNvSpPr/>
          <p:nvPr/>
        </p:nvSpPr>
        <p:spPr>
          <a:xfrm>
            <a:off x="4800600" y="1709928"/>
            <a:ext cx="594360" cy="502920"/>
          </a:xfrm>
          <a:prstGeom prst="rect">
            <a:avLst/>
          </a:prstGeom>
          <a:noFill/>
          <a:ln/>
        </p:spPr>
        <p:txBody>
          <a:bodyPr wrap="square" lIns="0" tIns="0" rIns="0" bIns="0" rtlCol="0" anchor="ctr"/>
          <a:lstStyle/>
          <a:p>
            <a:pPr indent="0" marL="0">
              <a:buNone/>
            </a:pPr>
            <a:r>
              <a:rPr lang="en-US" sz="2800" b="1" dirty="0">
                <a:solidFill>
                  <a:srgbClr val="3498DB"/>
                </a:solidFill>
                <a:latin typeface="Arial Black" pitchFamily="34" charset="0"/>
                <a:ea typeface="Arial Black" pitchFamily="34" charset="-122"/>
                <a:cs typeface="Arial Black" pitchFamily="34" charset="-120"/>
              </a:rPr>
              <a:t>02</a:t>
            </a:r>
            <a:endParaRPr lang="en-US" sz="2800" dirty="0"/>
          </a:p>
        </p:txBody>
      </p:sp>
      <p:sp>
        <p:nvSpPr>
          <p:cNvPr id="16" name="Text 14"/>
          <p:cNvSpPr/>
          <p:nvPr/>
        </p:nvSpPr>
        <p:spPr>
          <a:xfrm>
            <a:off x="5468112" y="1709928"/>
            <a:ext cx="3108960" cy="347472"/>
          </a:xfrm>
          <a:prstGeom prst="rect">
            <a:avLst/>
          </a:prstGeom>
          <a:noFill/>
          <a:ln/>
        </p:spPr>
        <p:txBody>
          <a:bodyPr wrap="square" lIns="0" tIns="0" rIns="0" bIns="0" rtlCol="0" anchor="ctr"/>
          <a:lstStyle/>
          <a:p>
            <a:pPr indent="0" marL="0">
              <a:buNone/>
            </a:pPr>
            <a:r>
              <a:rPr lang="en-US" sz="1400" b="1" dirty="0">
                <a:solidFill>
                  <a:srgbClr val="FFFFFF"/>
                </a:solidFill>
              </a:rPr>
              <a:t>Requisitos Funcionales Web</a:t>
            </a:r>
            <a:endParaRPr lang="en-US" sz="1400" dirty="0"/>
          </a:p>
        </p:txBody>
      </p:sp>
      <p:sp>
        <p:nvSpPr>
          <p:cNvPr id="17" name="Text 15"/>
          <p:cNvSpPr/>
          <p:nvPr/>
        </p:nvSpPr>
        <p:spPr>
          <a:xfrm>
            <a:off x="4800600" y="2240280"/>
            <a:ext cx="3749040" cy="594360"/>
          </a:xfrm>
          <a:prstGeom prst="rect">
            <a:avLst/>
          </a:prstGeom>
          <a:noFill/>
          <a:ln/>
        </p:spPr>
        <p:txBody>
          <a:bodyPr wrap="square" lIns="0" tIns="0" rIns="0" bIns="0" rtlCol="0" anchor="ctr"/>
          <a:lstStyle/>
          <a:p>
            <a:pPr indent="0" marL="0">
              <a:buNone/>
            </a:pPr>
            <a:r>
              <a:rPr lang="en-US" sz="950" dirty="0">
                <a:solidFill>
                  <a:srgbClr val="8A9BB0"/>
                </a:solidFill>
              </a:rPr>
              <a:t>18 requisitos funcionales con ID, descripción y prioridad. Cubre desde login hasta análisis de posesión.</a:t>
            </a:r>
            <a:endParaRPr lang="en-US" sz="950" dirty="0"/>
          </a:p>
        </p:txBody>
      </p:sp>
      <p:sp>
        <p:nvSpPr>
          <p:cNvPr id="18" name="Shape 16"/>
          <p:cNvSpPr/>
          <p:nvPr/>
        </p:nvSpPr>
        <p:spPr>
          <a:xfrm>
            <a:off x="4800600" y="2761488"/>
            <a:ext cx="1371600" cy="256032"/>
          </a:xfrm>
          <a:prstGeom prst="rect">
            <a:avLst>
              <a:gd name="adj" fmla="val 14286"/>
            </a:avLst>
          </a:prstGeom>
          <a:solidFill>
            <a:srgbClr val="3498DB"/>
          </a:solidFill>
          <a:ln w="12700">
            <a:solidFill>
              <a:srgbClr val="3498DB"/>
            </a:solidFill>
            <a:prstDash val="solid"/>
          </a:ln>
        </p:spPr>
      </p:sp>
      <p:sp>
        <p:nvSpPr>
          <p:cNvPr id="19" name="Text 17">
            <a:hlinkClick r:id="rId2" tooltip=""/>
          </p:cNvPr>
          <p:cNvSpPr/>
          <p:nvPr/>
        </p:nvSpPr>
        <p:spPr>
          <a:xfrm>
            <a:off x="4800600" y="2761488"/>
            <a:ext cx="1371600" cy="256032"/>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2" invalidUrl="" action="" tgtFrame="" tooltip="" history="1" highlightClick="0" endSnd="0">
                  <a:extLst>
                    <a:ext uri="{A12FA001-AC4F-418D-AE19-62706E023703}">
                      <ahyp:hlinkClr xmlns:ahyp="http://schemas.microsoft.com/office/drawing/2018/hyperlinkcolor" val="tx"/>
                    </a:ext>
                  </a:extLst>
                </a:hlinkClick>
              </a:rPr>
              <a:t>📄 Abrir documento</a:t>
            </a:r>
            <a:endParaRPr lang="en-US" sz="900" dirty="0"/>
          </a:p>
        </p:txBody>
      </p:sp>
      <p:sp>
        <p:nvSpPr>
          <p:cNvPr id="20" name="Shape 18"/>
          <p:cNvSpPr/>
          <p:nvPr/>
        </p:nvSpPr>
        <p:spPr>
          <a:xfrm>
            <a:off x="320040" y="3291840"/>
            <a:ext cx="4069080" cy="1508760"/>
          </a:xfrm>
          <a:prstGeom prst="rect">
            <a:avLst/>
          </a:prstGeom>
          <a:solidFill>
            <a:srgbClr val="2D3240"/>
          </a:solidFill>
          <a:ln w="12700">
            <a:solidFill>
              <a:srgbClr val="E67E22"/>
            </a:solidFill>
            <a:prstDash val="solid"/>
          </a:ln>
          <a:effectLst>
            <a:outerShdw sx="100000" sy="100000" kx="0" ky="0" algn="bl" rotWithShape="0" blurRad="101600" dist="38100" dir="8100000">
              <a:srgbClr val="000000">
                <a:alpha val="18000"/>
              </a:srgbClr>
            </a:outerShdw>
          </a:effectLst>
        </p:spPr>
      </p:sp>
      <p:sp>
        <p:nvSpPr>
          <p:cNvPr id="21" name="Shape 19"/>
          <p:cNvSpPr/>
          <p:nvPr/>
        </p:nvSpPr>
        <p:spPr>
          <a:xfrm>
            <a:off x="320040" y="3291840"/>
            <a:ext cx="4069080" cy="54864"/>
          </a:xfrm>
          <a:prstGeom prst="rect">
            <a:avLst/>
          </a:prstGeom>
          <a:solidFill>
            <a:srgbClr val="E67E22"/>
          </a:solidFill>
          <a:ln w="12700">
            <a:solidFill>
              <a:srgbClr val="E67E22"/>
            </a:solidFill>
            <a:prstDash val="solid"/>
          </a:ln>
        </p:spPr>
      </p:sp>
      <p:sp>
        <p:nvSpPr>
          <p:cNvPr id="22" name="Text 20"/>
          <p:cNvSpPr/>
          <p:nvPr/>
        </p:nvSpPr>
        <p:spPr>
          <a:xfrm>
            <a:off x="457200" y="3401568"/>
            <a:ext cx="594360" cy="502920"/>
          </a:xfrm>
          <a:prstGeom prst="rect">
            <a:avLst/>
          </a:prstGeom>
          <a:noFill/>
          <a:ln/>
        </p:spPr>
        <p:txBody>
          <a:bodyPr wrap="square" lIns="0" tIns="0" rIns="0" bIns="0" rtlCol="0" anchor="ctr"/>
          <a:lstStyle/>
          <a:p>
            <a:pPr indent="0" marL="0">
              <a:buNone/>
            </a:pPr>
            <a:r>
              <a:rPr lang="en-US" sz="2800" b="1" dirty="0">
                <a:solidFill>
                  <a:srgbClr val="E67E22"/>
                </a:solidFill>
                <a:latin typeface="Arial Black" pitchFamily="34" charset="0"/>
                <a:ea typeface="Arial Black" pitchFamily="34" charset="-122"/>
                <a:cs typeface="Arial Black" pitchFamily="34" charset="-120"/>
              </a:rPr>
              <a:t>03</a:t>
            </a:r>
            <a:endParaRPr lang="en-US" sz="2800" dirty="0"/>
          </a:p>
        </p:txBody>
      </p:sp>
      <p:sp>
        <p:nvSpPr>
          <p:cNvPr id="23" name="Text 21"/>
          <p:cNvSpPr/>
          <p:nvPr/>
        </p:nvSpPr>
        <p:spPr>
          <a:xfrm>
            <a:off x="1124712" y="3401568"/>
            <a:ext cx="3108960" cy="347472"/>
          </a:xfrm>
          <a:prstGeom prst="rect">
            <a:avLst/>
          </a:prstGeom>
          <a:noFill/>
          <a:ln/>
        </p:spPr>
        <p:txBody>
          <a:bodyPr wrap="square" lIns="0" tIns="0" rIns="0" bIns="0" rtlCol="0" anchor="ctr"/>
          <a:lstStyle/>
          <a:p>
            <a:pPr indent="0" marL="0">
              <a:buNone/>
            </a:pPr>
            <a:r>
              <a:rPr lang="en-US" sz="1400" b="1" dirty="0">
                <a:solidFill>
                  <a:srgbClr val="FFFFFF"/>
                </a:solidFill>
              </a:rPr>
              <a:t>Diseño de Arquitectura</a:t>
            </a:r>
            <a:endParaRPr lang="en-US" sz="1400" dirty="0"/>
          </a:p>
        </p:txBody>
      </p:sp>
      <p:sp>
        <p:nvSpPr>
          <p:cNvPr id="24" name="Text 22"/>
          <p:cNvSpPr/>
          <p:nvPr/>
        </p:nvSpPr>
        <p:spPr>
          <a:xfrm>
            <a:off x="457200" y="3931920"/>
            <a:ext cx="3749040" cy="594360"/>
          </a:xfrm>
          <a:prstGeom prst="rect">
            <a:avLst/>
          </a:prstGeom>
          <a:noFill/>
          <a:ln/>
        </p:spPr>
        <p:txBody>
          <a:bodyPr wrap="square" lIns="0" tIns="0" rIns="0" bIns="0" rtlCol="0" anchor="ctr"/>
          <a:lstStyle/>
          <a:p>
            <a:pPr indent="0" marL="0">
              <a:buNone/>
            </a:pPr>
            <a:r>
              <a:rPr lang="en-US" sz="950" dirty="0">
                <a:solidFill>
                  <a:srgbClr val="8A9BB0"/>
                </a:solidFill>
              </a:rPr>
              <a:t>Capas del sistema (Flask, YOLO, Firebase, Auth0), flujo de procesamiento de video y endpoints REST.</a:t>
            </a:r>
            <a:endParaRPr lang="en-US" sz="950" dirty="0"/>
          </a:p>
        </p:txBody>
      </p:sp>
      <p:sp>
        <p:nvSpPr>
          <p:cNvPr id="25" name="Shape 23"/>
          <p:cNvSpPr/>
          <p:nvPr/>
        </p:nvSpPr>
        <p:spPr>
          <a:xfrm>
            <a:off x="457200" y="4453128"/>
            <a:ext cx="1371600" cy="256032"/>
          </a:xfrm>
          <a:prstGeom prst="rect">
            <a:avLst>
              <a:gd name="adj" fmla="val 14286"/>
            </a:avLst>
          </a:prstGeom>
          <a:solidFill>
            <a:srgbClr val="E67E22"/>
          </a:solidFill>
          <a:ln w="12700">
            <a:solidFill>
              <a:srgbClr val="E67E22"/>
            </a:solidFill>
            <a:prstDash val="solid"/>
          </a:ln>
        </p:spPr>
      </p:sp>
      <p:sp>
        <p:nvSpPr>
          <p:cNvPr id="26" name="Text 24">
            <a:hlinkClick r:id="rId3" tooltip=""/>
          </p:cNvPr>
          <p:cNvSpPr/>
          <p:nvPr/>
        </p:nvSpPr>
        <p:spPr>
          <a:xfrm>
            <a:off x="457200" y="4453128"/>
            <a:ext cx="1371600" cy="256032"/>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3" invalidUrl="" action="" tgtFrame="" tooltip="" history="1" highlightClick="0" endSnd="0">
                  <a:extLst>
                    <a:ext uri="{A12FA001-AC4F-418D-AE19-62706E023703}">
                      <ahyp:hlinkClr xmlns:ahyp="http://schemas.microsoft.com/office/drawing/2018/hyperlinkcolor" val="tx"/>
                    </a:ext>
                  </a:extLst>
                </a:hlinkClick>
              </a:rPr>
              <a:t>📄 Abrir documento</a:t>
            </a:r>
            <a:endParaRPr lang="en-US" sz="900" dirty="0"/>
          </a:p>
        </p:txBody>
      </p:sp>
      <p:sp>
        <p:nvSpPr>
          <p:cNvPr id="27" name="Shape 25"/>
          <p:cNvSpPr/>
          <p:nvPr/>
        </p:nvSpPr>
        <p:spPr>
          <a:xfrm>
            <a:off x="4663440" y="3291840"/>
            <a:ext cx="4069080" cy="1508760"/>
          </a:xfrm>
          <a:prstGeom prst="rect">
            <a:avLst/>
          </a:prstGeom>
          <a:solidFill>
            <a:srgbClr val="2D3240"/>
          </a:solidFill>
          <a:ln w="12700">
            <a:solidFill>
              <a:srgbClr val="9B59B6"/>
            </a:solidFill>
            <a:prstDash val="solid"/>
          </a:ln>
          <a:effectLst>
            <a:outerShdw sx="100000" sy="100000" kx="0" ky="0" algn="bl" rotWithShape="0" blurRad="101600" dist="38100" dir="8100000">
              <a:srgbClr val="000000">
                <a:alpha val="18000"/>
              </a:srgbClr>
            </a:outerShdw>
          </a:effectLst>
        </p:spPr>
      </p:sp>
      <p:sp>
        <p:nvSpPr>
          <p:cNvPr id="28" name="Shape 26"/>
          <p:cNvSpPr/>
          <p:nvPr/>
        </p:nvSpPr>
        <p:spPr>
          <a:xfrm>
            <a:off x="4663440" y="3291840"/>
            <a:ext cx="4069080" cy="54864"/>
          </a:xfrm>
          <a:prstGeom prst="rect">
            <a:avLst/>
          </a:prstGeom>
          <a:solidFill>
            <a:srgbClr val="9B59B6"/>
          </a:solidFill>
          <a:ln w="12700">
            <a:solidFill>
              <a:srgbClr val="9B59B6"/>
            </a:solidFill>
            <a:prstDash val="solid"/>
          </a:ln>
        </p:spPr>
      </p:sp>
      <p:sp>
        <p:nvSpPr>
          <p:cNvPr id="29" name="Text 27"/>
          <p:cNvSpPr/>
          <p:nvPr/>
        </p:nvSpPr>
        <p:spPr>
          <a:xfrm>
            <a:off x="4800600" y="3401568"/>
            <a:ext cx="594360" cy="502920"/>
          </a:xfrm>
          <a:prstGeom prst="rect">
            <a:avLst/>
          </a:prstGeom>
          <a:noFill/>
          <a:ln/>
        </p:spPr>
        <p:txBody>
          <a:bodyPr wrap="square" lIns="0" tIns="0" rIns="0" bIns="0" rtlCol="0" anchor="ctr"/>
          <a:lstStyle/>
          <a:p>
            <a:pPr indent="0" marL="0">
              <a:buNone/>
            </a:pPr>
            <a:r>
              <a:rPr lang="en-US" sz="2800" b="1" dirty="0">
                <a:solidFill>
                  <a:srgbClr val="9B59B6"/>
                </a:solidFill>
                <a:latin typeface="Arial Black" pitchFamily="34" charset="0"/>
                <a:ea typeface="Arial Black" pitchFamily="34" charset="-122"/>
                <a:cs typeface="Arial Black" pitchFamily="34" charset="-120"/>
              </a:rPr>
              <a:t>04</a:t>
            </a:r>
            <a:endParaRPr lang="en-US" sz="2800" dirty="0"/>
          </a:p>
        </p:txBody>
      </p:sp>
      <p:sp>
        <p:nvSpPr>
          <p:cNvPr id="30" name="Text 28"/>
          <p:cNvSpPr/>
          <p:nvPr/>
        </p:nvSpPr>
        <p:spPr>
          <a:xfrm>
            <a:off x="5468112" y="3401568"/>
            <a:ext cx="3108960" cy="347472"/>
          </a:xfrm>
          <a:prstGeom prst="rect">
            <a:avLst/>
          </a:prstGeom>
          <a:noFill/>
          <a:ln/>
        </p:spPr>
        <p:txBody>
          <a:bodyPr wrap="square" lIns="0" tIns="0" rIns="0" bIns="0" rtlCol="0" anchor="ctr"/>
          <a:lstStyle/>
          <a:p>
            <a:pPr indent="0" marL="0">
              <a:buNone/>
            </a:pPr>
            <a:r>
              <a:rPr lang="en-US" sz="1400" b="1" dirty="0">
                <a:solidFill>
                  <a:srgbClr val="FFFFFF"/>
                </a:solidFill>
              </a:rPr>
              <a:t>Diagrama de Gantt</a:t>
            </a:r>
            <a:endParaRPr lang="en-US" sz="1400" dirty="0"/>
          </a:p>
        </p:txBody>
      </p:sp>
      <p:sp>
        <p:nvSpPr>
          <p:cNvPr id="31" name="Text 29"/>
          <p:cNvSpPr/>
          <p:nvPr/>
        </p:nvSpPr>
        <p:spPr>
          <a:xfrm>
            <a:off x="4800600" y="3931920"/>
            <a:ext cx="3749040" cy="594360"/>
          </a:xfrm>
          <a:prstGeom prst="rect">
            <a:avLst/>
          </a:prstGeom>
          <a:noFill/>
          <a:ln/>
        </p:spPr>
        <p:txBody>
          <a:bodyPr wrap="square" lIns="0" tIns="0" rIns="0" bIns="0" rtlCol="0" anchor="ctr"/>
          <a:lstStyle/>
          <a:p>
            <a:pPr indent="0" marL="0">
              <a:buNone/>
            </a:pPr>
            <a:r>
              <a:rPr lang="en-US" sz="950" dirty="0">
                <a:solidFill>
                  <a:srgbClr val="8A9BB0"/>
                </a:solidFill>
              </a:rPr>
              <a:t>Plan de 21 días para la pre-entrega MVP y roadmap completo de 16 semanas dividido en 6 fases.</a:t>
            </a:r>
            <a:endParaRPr lang="en-US" sz="950" dirty="0"/>
          </a:p>
        </p:txBody>
      </p:sp>
      <p:sp>
        <p:nvSpPr>
          <p:cNvPr id="32" name="Shape 30"/>
          <p:cNvSpPr/>
          <p:nvPr/>
        </p:nvSpPr>
        <p:spPr>
          <a:xfrm>
            <a:off x="4800600" y="4453128"/>
            <a:ext cx="1371600" cy="256032"/>
          </a:xfrm>
          <a:prstGeom prst="rect">
            <a:avLst>
              <a:gd name="adj" fmla="val 14286"/>
            </a:avLst>
          </a:prstGeom>
          <a:solidFill>
            <a:srgbClr val="9B59B6"/>
          </a:solidFill>
          <a:ln w="12700">
            <a:solidFill>
              <a:srgbClr val="9B59B6"/>
            </a:solidFill>
            <a:prstDash val="solid"/>
          </a:ln>
        </p:spPr>
      </p:sp>
      <p:sp>
        <p:nvSpPr>
          <p:cNvPr id="33" name="Text 31">
            <a:hlinkClick r:id="rId4" tooltip=""/>
          </p:cNvPr>
          <p:cNvSpPr/>
          <p:nvPr/>
        </p:nvSpPr>
        <p:spPr>
          <a:xfrm>
            <a:off x="4800600" y="4453128"/>
            <a:ext cx="1371600" cy="256032"/>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4" invalidUrl="" action="" tgtFrame="" tooltip="" history="1" highlightClick="0" endSnd="0">
                  <a:extLst>
                    <a:ext uri="{A12FA001-AC4F-418D-AE19-62706E023703}">
                      <ahyp:hlinkClr xmlns:ahyp="http://schemas.microsoft.com/office/drawing/2018/hyperlinkcolor" val="tx"/>
                    </a:ext>
                  </a:extLst>
                </a:hlinkClick>
              </a:rPr>
              <a:t>📄 Abrir documento</a:t>
            </a:r>
            <a:endParaRPr lang="en-US" sz="900" dirty="0"/>
          </a:p>
        </p:txBody>
      </p:sp>
      <p:sp>
        <p:nvSpPr>
          <p:cNvPr id="34" name="Shape 32"/>
          <p:cNvSpPr/>
          <p:nvPr/>
        </p:nvSpPr>
        <p:spPr>
          <a:xfrm>
            <a:off x="320040" y="4736592"/>
            <a:ext cx="8503920" cy="237744"/>
          </a:xfrm>
          <a:prstGeom prst="rect">
            <a:avLst/>
          </a:prstGeom>
          <a:solidFill>
            <a:srgbClr val="2D3240"/>
          </a:solidFill>
          <a:ln w="6350">
            <a:solidFill>
              <a:srgbClr val="3A4055"/>
            </a:solidFill>
            <a:prstDash val="solid"/>
          </a:ln>
        </p:spPr>
      </p:sp>
      <p:sp>
        <p:nvSpPr>
          <p:cNvPr id="35" name="Text 33"/>
          <p:cNvSpPr/>
          <p:nvPr/>
        </p:nvSpPr>
        <p:spPr>
          <a:xfrm>
            <a:off x="411480" y="4736592"/>
            <a:ext cx="8321040" cy="237744"/>
          </a:xfrm>
          <a:prstGeom prst="rect">
            <a:avLst/>
          </a:prstGeom>
          <a:noFill/>
          <a:ln/>
        </p:spPr>
        <p:txBody>
          <a:bodyPr wrap="square" lIns="0" tIns="0" rIns="0" bIns="0" rtlCol="0" anchor="ctr"/>
          <a:lstStyle/>
          <a:p>
            <a:pPr indent="0" marL="0">
              <a:buNone/>
            </a:pPr>
            <a:r>
              <a:rPr lang="en-US" sz="850" dirty="0">
                <a:solidFill>
                  <a:srgbClr val="8A9BB0"/>
                </a:solidFill>
              </a:rPr>
              <a:t>💡 Para reemplazar los links: clic derecho sobre el botón verde → Editar hipervínculo → pegá la URL de tu archivo</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C0F"/>
        </a:solidFill>
      </p:bgPr>
    </p:bg>
    <p:spTree>
      <p:nvGrpSpPr>
        <p:cNvPr id="1" name=""/>
        <p:cNvGrpSpPr/>
        <p:nvPr/>
      </p:nvGrpSpPr>
      <p:grpSpPr>
        <a:xfrm>
          <a:off x="0" y="0"/>
          <a:ext cx="0" cy="0"/>
          <a:chOff x="0" y="0"/>
          <a:chExt cx="0" cy="0"/>
        </a:xfrm>
      </p:grpSpPr>
      <p:sp>
        <p:nvSpPr>
          <p:cNvPr id="2" name="Shape 0"/>
          <p:cNvSpPr/>
          <p:nvPr/>
        </p:nvSpPr>
        <p:spPr>
          <a:xfrm>
            <a:off x="5486400" y="1828800"/>
            <a:ext cx="5486400" cy="5486400"/>
          </a:xfrm>
          <a:prstGeom prst="ellipse">
            <a:avLst/>
          </a:prstGeom>
          <a:solidFill>
            <a:srgbClr val="1C1F26"/>
          </a:solidFill>
          <a:ln w="12700">
            <a:solidFill>
              <a:srgbClr val="2D3240"/>
            </a:solidFill>
            <a:prstDash val="solid"/>
          </a:ln>
        </p:spPr>
      </p:sp>
      <p:sp>
        <p:nvSpPr>
          <p:cNvPr id="3" name="Shape 1"/>
          <p:cNvSpPr/>
          <p:nvPr/>
        </p:nvSpPr>
        <p:spPr>
          <a:xfrm>
            <a:off x="6858000" y="2743200"/>
            <a:ext cx="3200400" cy="3200400"/>
          </a:xfrm>
          <a:prstGeom prst="ellipse">
            <a:avLst/>
          </a:prstGeom>
          <a:solidFill>
            <a:srgbClr val="2D3240"/>
          </a:solidFill>
          <a:ln w="12700">
            <a:solidFill>
              <a:srgbClr val="3A4055"/>
            </a:solidFill>
            <a:prstDash val="solid"/>
          </a:ln>
        </p:spPr>
      </p:sp>
      <p:sp>
        <p:nvSpPr>
          <p:cNvPr id="4" name="Shape 2"/>
          <p:cNvSpPr/>
          <p:nvPr/>
        </p:nvSpPr>
        <p:spPr>
          <a:xfrm>
            <a:off x="0" y="0"/>
            <a:ext cx="54864" cy="5143500"/>
          </a:xfrm>
          <a:prstGeom prst="rect">
            <a:avLst/>
          </a:prstGeom>
          <a:solidFill>
            <a:srgbClr val="1A7A3C"/>
          </a:solidFill>
          <a:ln w="12700">
            <a:solidFill>
              <a:srgbClr val="1A7A3C"/>
            </a:solidFill>
            <a:prstDash val="solid"/>
          </a:ln>
        </p:spPr>
      </p:sp>
      <p:sp>
        <p:nvSpPr>
          <p:cNvPr id="5" name="Shape 3"/>
          <p:cNvSpPr/>
          <p:nvPr/>
        </p:nvSpPr>
        <p:spPr>
          <a:xfrm>
            <a:off x="640080" y="731520"/>
            <a:ext cx="1188720" cy="1188720"/>
          </a:xfrm>
          <a:prstGeom prst="ellipse">
            <a:avLst/>
          </a:prstGeom>
          <a:solidFill>
            <a:srgbClr val="1A7A3C"/>
          </a:solidFill>
          <a:ln w="12700">
            <a:solidFill>
              <a:srgbClr val="1A7A3C"/>
            </a:solidFill>
            <a:prstDash val="solid"/>
          </a:ln>
        </p:spPr>
      </p:sp>
      <p:pic>
        <p:nvPicPr>
          <p:cNvPr id="6" name="Image 0" descr="preencoded.png">    </p:cNvPr>
          <p:cNvPicPr>
            <a:picLocks noChangeAspect="1"/>
          </p:cNvPicPr>
          <p:nvPr/>
        </p:nvPicPr>
        <p:blipFill>
          <a:blip r:embed="rId1"/>
          <a:stretch>
            <a:fillRect/>
          </a:stretch>
        </p:blipFill>
        <p:spPr>
          <a:xfrm>
            <a:off x="822960" y="914400"/>
            <a:ext cx="822960" cy="822960"/>
          </a:xfrm>
          <a:prstGeom prst="rect">
            <a:avLst/>
          </a:prstGeom>
        </p:spPr>
      </p:pic>
      <p:sp>
        <p:nvSpPr>
          <p:cNvPr id="7" name="Text 4"/>
          <p:cNvSpPr/>
          <p:nvPr/>
        </p:nvSpPr>
        <p:spPr>
          <a:xfrm>
            <a:off x="2103120" y="822960"/>
            <a:ext cx="6400800" cy="685800"/>
          </a:xfrm>
          <a:prstGeom prst="rect">
            <a:avLst/>
          </a:prstGeom>
          <a:noFill/>
          <a:ln/>
        </p:spPr>
        <p:txBody>
          <a:bodyPr wrap="square" lIns="0" tIns="0" rIns="0" bIns="0" rtlCol="0" anchor="ctr"/>
          <a:lstStyle/>
          <a:p>
            <a:pPr indent="0" marL="0">
              <a:buNone/>
            </a:pPr>
            <a:r>
              <a:rPr lang="en-US" sz="4600" b="1" spc="400" kern="0" dirty="0">
                <a:solidFill>
                  <a:srgbClr val="FFFFFF"/>
                </a:solidFill>
                <a:latin typeface="Arial Black" pitchFamily="34" charset="0"/>
                <a:ea typeface="Arial Black" pitchFamily="34" charset="-122"/>
                <a:cs typeface="Arial Black" pitchFamily="34" charset="-120"/>
              </a:rPr>
              <a:t>APERT VISION</a:t>
            </a:r>
            <a:endParaRPr lang="en-US" sz="4600" dirty="0"/>
          </a:p>
        </p:txBody>
      </p:sp>
      <p:sp>
        <p:nvSpPr>
          <p:cNvPr id="8" name="Text 5"/>
          <p:cNvSpPr/>
          <p:nvPr/>
        </p:nvSpPr>
        <p:spPr>
          <a:xfrm>
            <a:off x="2103120" y="1554480"/>
            <a:ext cx="5486400" cy="457200"/>
          </a:xfrm>
          <a:prstGeom prst="rect">
            <a:avLst/>
          </a:prstGeom>
          <a:noFill/>
          <a:ln/>
        </p:spPr>
        <p:txBody>
          <a:bodyPr wrap="square" lIns="0" tIns="0" rIns="0" bIns="0" rtlCol="0" anchor="ctr"/>
          <a:lstStyle/>
          <a:p>
            <a:pPr indent="0" marL="0">
              <a:buNone/>
            </a:pPr>
            <a:r>
              <a:rPr lang="en-US" sz="1500" dirty="0">
                <a:solidFill>
                  <a:srgbClr val="00E676"/>
                </a:solidFill>
              </a:rPr>
              <a:t>Análisis profesional para todos los clubes</a:t>
            </a:r>
            <a:endParaRPr lang="en-US" sz="1500" dirty="0"/>
          </a:p>
        </p:txBody>
      </p:sp>
      <p:pic>
        <p:nvPicPr>
          <p:cNvPr id="9" name="Image 1" descr="preencoded.png">    </p:cNvPr>
          <p:cNvPicPr>
            <a:picLocks noChangeAspect="1"/>
          </p:cNvPicPr>
          <p:nvPr/>
        </p:nvPicPr>
        <p:blipFill>
          <a:blip r:embed="rId2"/>
          <a:stretch>
            <a:fillRect/>
          </a:stretch>
        </p:blipFill>
        <p:spPr>
          <a:xfrm>
            <a:off x="2103120" y="2331720"/>
            <a:ext cx="274320" cy="274320"/>
          </a:xfrm>
          <a:prstGeom prst="rect">
            <a:avLst/>
          </a:prstGeom>
        </p:spPr>
      </p:pic>
      <p:sp>
        <p:nvSpPr>
          <p:cNvPr id="10" name="Text 6"/>
          <p:cNvSpPr/>
          <p:nvPr/>
        </p:nvSpPr>
        <p:spPr>
          <a:xfrm>
            <a:off x="2514600" y="2286000"/>
            <a:ext cx="5943600" cy="411480"/>
          </a:xfrm>
          <a:prstGeom prst="rect">
            <a:avLst/>
          </a:prstGeom>
          <a:noFill/>
          <a:ln/>
        </p:spPr>
        <p:txBody>
          <a:bodyPr wrap="square" lIns="0" tIns="0" rIns="0" bIns="0" rtlCol="0" anchor="ctr"/>
          <a:lstStyle/>
          <a:p>
            <a:pPr indent="0" marL="0">
              <a:buNone/>
            </a:pPr>
            <a:r>
              <a:rPr lang="en-US" sz="1300" dirty="0">
                <a:solidFill>
                  <a:srgbClr val="E8EAF0"/>
                </a:solidFill>
              </a:rPr>
              <a:t>Detección automática de line-out, scrum y salida con YOLO</a:t>
            </a:r>
            <a:endParaRPr lang="en-US" sz="1300" dirty="0"/>
          </a:p>
        </p:txBody>
      </p:sp>
      <p:pic>
        <p:nvPicPr>
          <p:cNvPr id="11" name="Image 2" descr="preencoded.png">    </p:cNvPr>
          <p:cNvPicPr>
            <a:picLocks noChangeAspect="1"/>
          </p:cNvPicPr>
          <p:nvPr/>
        </p:nvPicPr>
        <p:blipFill>
          <a:blip r:embed="rId3"/>
          <a:stretch>
            <a:fillRect/>
          </a:stretch>
        </p:blipFill>
        <p:spPr>
          <a:xfrm>
            <a:off x="2103120" y="2834640"/>
            <a:ext cx="274320" cy="274320"/>
          </a:xfrm>
          <a:prstGeom prst="rect">
            <a:avLst/>
          </a:prstGeom>
        </p:spPr>
      </p:pic>
      <p:sp>
        <p:nvSpPr>
          <p:cNvPr id="12" name="Text 7"/>
          <p:cNvSpPr/>
          <p:nvPr/>
        </p:nvSpPr>
        <p:spPr>
          <a:xfrm>
            <a:off x="2514600" y="2788920"/>
            <a:ext cx="5943600" cy="411480"/>
          </a:xfrm>
          <a:prstGeom prst="rect">
            <a:avLst/>
          </a:prstGeom>
          <a:noFill/>
          <a:ln/>
        </p:spPr>
        <p:txBody>
          <a:bodyPr wrap="square" lIns="0" tIns="0" rIns="0" bIns="0" rtlCol="0" anchor="ctr"/>
          <a:lstStyle/>
          <a:p>
            <a:pPr indent="0" marL="0">
              <a:buNone/>
            </a:pPr>
            <a:r>
              <a:rPr lang="en-US" sz="1300" dirty="0">
                <a:solidFill>
                  <a:srgbClr val="E8EAF0"/>
                </a:solidFill>
              </a:rPr>
              <a:t>Análisis de posesión por color de camiseta</a:t>
            </a:r>
            <a:endParaRPr lang="en-US" sz="1300" dirty="0"/>
          </a:p>
        </p:txBody>
      </p:sp>
      <p:pic>
        <p:nvPicPr>
          <p:cNvPr id="13" name="Image 3" descr="preencoded.png">    </p:cNvPr>
          <p:cNvPicPr>
            <a:picLocks noChangeAspect="1"/>
          </p:cNvPicPr>
          <p:nvPr/>
        </p:nvPicPr>
        <p:blipFill>
          <a:blip r:embed="rId4"/>
          <a:stretch>
            <a:fillRect/>
          </a:stretch>
        </p:blipFill>
        <p:spPr>
          <a:xfrm>
            <a:off x="2103120" y="3337560"/>
            <a:ext cx="274320" cy="274320"/>
          </a:xfrm>
          <a:prstGeom prst="rect">
            <a:avLst/>
          </a:prstGeom>
        </p:spPr>
      </p:pic>
      <p:sp>
        <p:nvSpPr>
          <p:cNvPr id="14" name="Text 8"/>
          <p:cNvSpPr/>
          <p:nvPr/>
        </p:nvSpPr>
        <p:spPr>
          <a:xfrm>
            <a:off x="2514600" y="3291840"/>
            <a:ext cx="5943600" cy="411480"/>
          </a:xfrm>
          <a:prstGeom prst="rect">
            <a:avLst/>
          </a:prstGeom>
          <a:noFill/>
          <a:ln/>
        </p:spPr>
        <p:txBody>
          <a:bodyPr wrap="square" lIns="0" tIns="0" rIns="0" bIns="0" rtlCol="0" anchor="ctr"/>
          <a:lstStyle/>
          <a:p>
            <a:pPr indent="0" marL="0">
              <a:buNone/>
            </a:pPr>
            <a:r>
              <a:rPr lang="en-US" sz="1300" dirty="0">
                <a:solidFill>
                  <a:srgbClr val="E8EAF0"/>
                </a:solidFill>
              </a:rPr>
              <a:t>Web app + App Android para entrenadores y jugadores</a:t>
            </a:r>
            <a:endParaRPr lang="en-US" sz="1300" dirty="0"/>
          </a:p>
        </p:txBody>
      </p:sp>
      <p:pic>
        <p:nvPicPr>
          <p:cNvPr id="15" name="Image 4" descr="preencoded.png">    </p:cNvPr>
          <p:cNvPicPr>
            <a:picLocks noChangeAspect="1"/>
          </p:cNvPicPr>
          <p:nvPr/>
        </p:nvPicPr>
        <p:blipFill>
          <a:blip r:embed="rId5"/>
          <a:stretch>
            <a:fillRect/>
          </a:stretch>
        </p:blipFill>
        <p:spPr>
          <a:xfrm>
            <a:off x="2103120" y="3840480"/>
            <a:ext cx="274320" cy="274320"/>
          </a:xfrm>
          <a:prstGeom prst="rect">
            <a:avLst/>
          </a:prstGeom>
        </p:spPr>
      </p:pic>
      <p:sp>
        <p:nvSpPr>
          <p:cNvPr id="16" name="Text 9"/>
          <p:cNvSpPr/>
          <p:nvPr/>
        </p:nvSpPr>
        <p:spPr>
          <a:xfrm>
            <a:off x="2514600" y="3794760"/>
            <a:ext cx="5943600" cy="411480"/>
          </a:xfrm>
          <a:prstGeom prst="rect">
            <a:avLst/>
          </a:prstGeom>
          <a:noFill/>
          <a:ln/>
        </p:spPr>
        <p:txBody>
          <a:bodyPr wrap="square" lIns="0" tIns="0" rIns="0" bIns="0" rtlCol="0" anchor="ctr"/>
          <a:lstStyle/>
          <a:p>
            <a:pPr indent="0" marL="0">
              <a:buNone/>
            </a:pPr>
            <a:r>
              <a:rPr lang="en-US" sz="1300" dirty="0">
                <a:solidFill>
                  <a:srgbClr val="E8EAF0"/>
                </a:solidFill>
              </a:rPr>
              <a:t>Dataset propio con videos del club + Roboflow</a:t>
            </a:r>
            <a:endParaRPr lang="en-US" sz="1300" dirty="0"/>
          </a:p>
        </p:txBody>
      </p:sp>
      <p:sp>
        <p:nvSpPr>
          <p:cNvPr id="17" name="Text 10"/>
          <p:cNvSpPr/>
          <p:nvPr/>
        </p:nvSpPr>
        <p:spPr>
          <a:xfrm>
            <a:off x="365760" y="4709160"/>
            <a:ext cx="8412480" cy="274320"/>
          </a:xfrm>
          <a:prstGeom prst="rect">
            <a:avLst/>
          </a:prstGeom>
          <a:noFill/>
          <a:ln/>
        </p:spPr>
        <p:txBody>
          <a:bodyPr wrap="square" lIns="0" tIns="0" rIns="0" bIns="0" rtlCol="0" anchor="ctr"/>
          <a:lstStyle/>
          <a:p>
            <a:pPr indent="0" marL="0">
              <a:buNone/>
            </a:pPr>
            <a:r>
              <a:rPr lang="en-US" sz="1000" dirty="0">
                <a:solidFill>
                  <a:srgbClr val="8A9BB0"/>
                </a:solidFill>
              </a:rPr>
              <a:t>Gonzalo Saguati  ·  Analista de Sistemas  ·  Escuela Da Vinci  ·  2025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Apert Vision</dc:title>
  <dc:subject>PptxGenJS Presentation</dc:subject>
  <dc:creator>Gonzalo Saguati</dc:creator>
  <cp:lastModifiedBy>Gonzalo Saguati</cp:lastModifiedBy>
  <cp:revision>1</cp:revision>
  <dcterms:created xsi:type="dcterms:W3CDTF">2026-04-29T03:03:56Z</dcterms:created>
  <dcterms:modified xsi:type="dcterms:W3CDTF">2026-04-29T03:03:56Z</dcterms:modified>
</cp:coreProperties>
</file>